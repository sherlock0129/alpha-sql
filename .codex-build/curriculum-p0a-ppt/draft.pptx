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16f71c5f21f4060" /><Relationship Type="http://schemas.openxmlformats.org/officeDocument/2006/relationships/extended-properties" Target="/docProps/app.xml" Id="R0987cebd43194701" /><Relationship Type="http://schemas.openxmlformats.org/officeDocument/2006/relationships/officeDocument" Target="/ppt/presentation.xml" Id="Rd38ec6e45dc44d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a25042974b84f93"/>
  </p:sldMasterIdLst>
  <p:notesMasterIdLst>
    <p:notesMasterId xmlns:r="http://schemas.openxmlformats.org/officeDocument/2006/relationships" r:id="Rde27a471038645f0"/>
  </p:notesMasterIdLst>
  <p:sldIdLst>
    <p:sldId xmlns:r="http://schemas.openxmlformats.org/officeDocument/2006/relationships" id="256" r:id="Radb17bb58a8e4381"/>
    <p:sldId xmlns:r="http://schemas.openxmlformats.org/officeDocument/2006/relationships" id="257" r:id="Rc8cb7dc3c01e4249"/>
    <p:sldId xmlns:r="http://schemas.openxmlformats.org/officeDocument/2006/relationships" id="258" r:id="R7cfd961d17014ddc"/>
    <p:sldId xmlns:r="http://schemas.openxmlformats.org/officeDocument/2006/relationships" id="259" r:id="Rbfb02c0ce0e24439"/>
    <p:sldId xmlns:r="http://schemas.openxmlformats.org/officeDocument/2006/relationships" id="260" r:id="Rc908dfa17be84590"/>
    <p:sldId xmlns:r="http://schemas.openxmlformats.org/officeDocument/2006/relationships" id="261" r:id="R5920c9e654754074"/>
    <p:sldId xmlns:r="http://schemas.openxmlformats.org/officeDocument/2006/relationships" id="262" r:id="Rc031dd2b3d724132"/>
    <p:sldId xmlns:r="http://schemas.openxmlformats.org/officeDocument/2006/relationships" id="263" r:id="R8f0e1b2122924b76"/>
    <p:sldId xmlns:r="http://schemas.openxmlformats.org/officeDocument/2006/relationships" id="264" r:id="R2ceb9b4cc8cb4c60"/>
    <p:sldId xmlns:r="http://schemas.openxmlformats.org/officeDocument/2006/relationships" id="265" r:id="Rc7aa604a55644aef"/>
    <p:sldId xmlns:r="http://schemas.openxmlformats.org/officeDocument/2006/relationships" id="266" r:id="R3c3c98ce2ede41f6"/>
    <p:sldId xmlns:r="http://schemas.openxmlformats.org/officeDocument/2006/relationships" id="267" r:id="Ra1ed639d2c2b453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d900742bf57404b" /><Relationship Type="http://schemas.openxmlformats.org/officeDocument/2006/relationships/slideMaster" Target="/ppt/slideMasters/slideMaster1.xml" Id="R5a25042974b84f93" /><Relationship Type="http://schemas.openxmlformats.org/officeDocument/2006/relationships/notesMaster" Target="/ppt/notesMasters/notesMaster1.xml" Id="Rde27a471038645f0" /><Relationship Type="http://schemas.openxmlformats.org/officeDocument/2006/relationships/presProps" Target="/ppt/presProps.xml" Id="Rbbad8843269c47f1" /><Relationship Type="http://schemas.openxmlformats.org/officeDocument/2006/relationships/tableStyles" Target="/ppt/tableStyles.xml" Id="R40a1ed54cfe6494b" /><Relationship Type="http://schemas.openxmlformats.org/officeDocument/2006/relationships/slide" Target="/ppt/slides/slide1.xml" Id="Radb17bb58a8e4381" /><Relationship Type="http://schemas.openxmlformats.org/officeDocument/2006/relationships/slide" Target="/ppt/slides/slide2.xml" Id="Rc8cb7dc3c01e4249" /><Relationship Type="http://schemas.openxmlformats.org/officeDocument/2006/relationships/slide" Target="/ppt/slides/slide3.xml" Id="R7cfd961d17014ddc" /><Relationship Type="http://schemas.openxmlformats.org/officeDocument/2006/relationships/slide" Target="/ppt/slides/slide4.xml" Id="Rbfb02c0ce0e24439" /><Relationship Type="http://schemas.openxmlformats.org/officeDocument/2006/relationships/slide" Target="/ppt/slides/slide5.xml" Id="Rc908dfa17be84590" /><Relationship Type="http://schemas.openxmlformats.org/officeDocument/2006/relationships/slide" Target="/ppt/slides/slide6.xml" Id="R5920c9e654754074" /><Relationship Type="http://schemas.openxmlformats.org/officeDocument/2006/relationships/slide" Target="/ppt/slides/slide7.xml" Id="Rc031dd2b3d724132" /><Relationship Type="http://schemas.openxmlformats.org/officeDocument/2006/relationships/slide" Target="/ppt/slides/slide8.xml" Id="R8f0e1b2122924b76" /><Relationship Type="http://schemas.openxmlformats.org/officeDocument/2006/relationships/slide" Target="/ppt/slides/slide9.xml" Id="R2ceb9b4cc8cb4c60" /><Relationship Type="http://schemas.openxmlformats.org/officeDocument/2006/relationships/slide" Target="/ppt/slides/slide10.xml" Id="Rc7aa604a55644aef" /><Relationship Type="http://schemas.openxmlformats.org/officeDocument/2006/relationships/slide" Target="/ppt/slides/slide11.xml" Id="R3c3c98ce2ede41f6" /><Relationship Type="http://schemas.openxmlformats.org/officeDocument/2006/relationships/slide" Target="/ppt/slides/slide12.xml" Id="Ra1ed639d2c2b453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2fb421230d46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ca4d755ceb4ecd" /><Relationship Type="http://schemas.openxmlformats.org/officeDocument/2006/relationships/notesMaster" Target="/ppt/notesMasters/notesMaster1.xml" Id="R6982bd2a51eb4ec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77a726e6a74d54" /><Relationship Type="http://schemas.openxmlformats.org/officeDocument/2006/relationships/notesMaster" Target="/ppt/notesMasters/notesMaster1.xml" Id="R6cc7fc7dd7d243a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525b8d825f480c" /><Relationship Type="http://schemas.openxmlformats.org/officeDocument/2006/relationships/notesMaster" Target="/ppt/notesMasters/notesMaster1.xml" Id="R19adacc826624cc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78ad03240e4bc8" /><Relationship Type="http://schemas.openxmlformats.org/officeDocument/2006/relationships/notesMaster" Target="/ppt/notesMasters/notesMaster1.xml" Id="Rb3e701244d264b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e307b0258a048c8" /><Relationship Type="http://schemas.openxmlformats.org/officeDocument/2006/relationships/notesMaster" Target="/ppt/notesMasters/notesMaster1.xml" Id="R6d95cf5dda8b4e1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7f935bc7434430" /><Relationship Type="http://schemas.openxmlformats.org/officeDocument/2006/relationships/notesMaster" Target="/ppt/notesMasters/notesMaster1.xml" Id="Rc93879d35b09449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05867fad91946f9" /><Relationship Type="http://schemas.openxmlformats.org/officeDocument/2006/relationships/notesMaster" Target="/ppt/notesMasters/notesMaster1.xml" Id="Re12c825d75b54a6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f6c91356135420f" /><Relationship Type="http://schemas.openxmlformats.org/officeDocument/2006/relationships/notesMaster" Target="/ppt/notesMasters/notesMaster1.xml" Id="R6eb7311efd844c9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2a4b4a29a2143c0" /><Relationship Type="http://schemas.openxmlformats.org/officeDocument/2006/relationships/notesMaster" Target="/ppt/notesMasters/notesMaster1.xml" Id="R8d7ca86f06c5426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c1282e33587479d" /><Relationship Type="http://schemas.openxmlformats.org/officeDocument/2006/relationships/notesMaster" Target="/ppt/notesMasters/notesMaster1.xml" Id="Rc21077f154cc4fe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4eb3028e214527" /><Relationship Type="http://schemas.openxmlformats.org/officeDocument/2006/relationships/notesMaster" Target="/ppt/notesMasters/notesMaster1.xml" Id="R948cf767c6554ae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96d222c15b40a3" /><Relationship Type="http://schemas.openxmlformats.org/officeDocument/2006/relationships/notesMaster" Target="/ppt/notesMasters/notesMaster1.xml" Id="R933ad679c49f42a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这次汇报聚焦选择器的训练调度。目标是控制数据、模型和候选池，只研究错误类型是否能在训练动态和保持性回放之外提供额外信息。当前仅完成第一轮机制 pilot，尚没有性能提升结论。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D:/University/Alpha-SQL/reports/SQL_SELECTOR_CURRICULUM_P0A_RESULTS_ZH.md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研究目标不是简单提高训练集正确率，而是在固定问题集合下，缩短达到共同质量和回归约束的训练时间。这里的原选择器是冻结的执行自一致性。当前没有冻结质量和回归门槛，因此这一轮不能计算正式 time-to-target。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D:/University/Alpha-SQL/reports/SQL_SELECTOR_CURRICULUM_EXPERIMENT_PROTOCOL_ZH.md</a:t>
            </a:r>
          </a:p>
          <a:p xmlns:a="http://schemas.openxmlformats.org/drawingml/2006/main">
            <a:r>
              <a:t>D:/University/Alpha-SQL/reports/SQL_SELECTOR_CURRICULUM_P0A_RESULTS_ZH.md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LP 关注 pair 的当前困难程度和近期损失下降。EA 在同一套 LP 控制器上增加错误组的误排率与进度反馈。四组的回放只来自 SC 正确且可组成正负 pair 的训练问题。η=0 的 EA 需要完整退化为 LP，避免实现差异污染研究归因。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D:/University/Alpha-SQL/config/sql_selector_curriculum_protocol.yaml</a:t>
            </a:r>
          </a:p>
          <a:p xmlns:a="http://schemas.openxmlformats.org/drawingml/2006/main">
            <a:r>
              <a:t>D:/University/Alpha-SQL/alphasql/algorithm/selection/curriculum.py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实际冻结的 train 为 129 题、454 个候选。正负 pair 只来自 20 个问题，总共 82 个。其余问题仍通过共同 pointwise anchor 参与训练。模型隐藏层64/32，dropout0.1，RankNet加0.2倍BCE，AdamW lr0.001。每10步共同probe，没有验证早停。分割按问题，不是跨数据库泛化评估。原始数据JSON容器会整体载入，但只对train/validation访问gold构造标签。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D:/University/Alpha-SQL/results/sql_selector_curriculum_p0a_seed101/frozen_manifest.json</a:t>
            </a:r>
          </a:p>
          <a:p xmlns:a="http://schemas.openxmlformats.org/drawingml/2006/main">
            <a:r>
              <a:t>D:/University/Alpha-SQL/results/sql_selector_curriculum_p0a_seed101/run_config.json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这一页说明对照实现成立。LP 与 NoGroupEA1 在有限250步轨迹中完全相同，包括最终tensor的bit-exact结果。单元测试还覆盖30轮随机probe的η=0概率等价性。这是有限轨迹检查，不是任意输入的数学证明。23项测试通过，实际用unittest运行，不是pytest。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D:/University/Alpha-SQL/results/sql_selector_curriculum_p0a_seed101/equivalence_report.json</a:t>
            </a:r>
          </a:p>
          <a:p xmlns:a="http://schemas.openxmlformats.org/drawingml/2006/main">
            <a:r>
              <a:t>D:/University/Alpha-SQL/reports/SQL_SELECTOR_CURRICULUM_P0A_RESULTS_ZH.md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组预算末结果均为27/40，SC为28/40。新增回归的条件比例是1/28=3.57%。候选覆盖31/40，所以有9题不可能由固定候选池的选择器修复。执行签名按行无序多重集比较，保留重复行和列顺序，浮点保留8位小数。没有使用官方BIRD evaluator，不能把它标为正式BIRD EX。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D:/University/Alpha-SQL/results/sql_selector_curriculum_p0a_seed101/paired_summary.json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使用全部26个checkpoint。三个模型曲线重叠较多，表示选择差异只涉及一两道问题，不能用线条看起来不同暗示明显增益。所有组验证最高只有28题，没有超过SC。训练集最后均达到100/129的候选oracle，U1首次在第80步probe达到，LP和EA在70步达到。训练拟合提早不代表验证达标或实际净加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D:/University/Alpha-SQL/results/sql_selector_curriculum_p0a_seed101/U1/probe_trace.jsonl</a:t>
            </a:r>
          </a:p>
          <a:p xmlns:a="http://schemas.openxmlformats.org/drawingml/2006/main">
            <a:r>
              <a:t>D:/University/Alpha-SQL/results/sql_selector_curriculum_p0a_seed101/LP1/probe_trace.jsonl</a:t>
            </a:r>
          </a:p>
          <a:p xmlns:a="http://schemas.openxmlformats.org/drawingml/2006/main">
            <a:r>
              <a:t>D:/University/Alpha-SQL/results/sql_selector_curriculum_p0a_seed101/EA1/probe_trace.jsonl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的语义项确实参与了权重计算，但总体调度变化很小。最大单pair概率差是0.000349629，最大总变差0.001765242。所有组只覆盖同一批20个训练问题，弱结构组高度重叠，归一化question-equivalent约3.99到7.00，κ=10的收缩使反馈接近全局均值。共有常数项在指数归一化后抵消，这可能解释语义项作用较弱，但不是已经验证的因果结论。当前标签对alias和等价表达式敏感，未经过人工审计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D:/University/Alpha-SQL/results/sql_selector_curriculum_p0a_seed101/diagnostics.json</a:t>
            </a:r>
          </a:p>
          <a:p xmlns:a="http://schemas.openxmlformats.org/drawingml/2006/main">
            <a:r>
              <a:t>D:/University/Alpha-SQL/results/sql_selector_curriculum_p0a_seed101/weak_pair_labels.json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是根据冻结候选SQL核查的差异。1616两个候选都返回同一个客户的姓名，当前签名对列序敏感，不能直接把这一题当成业务语义完全错误。8005要求两个计数，8896是数据库literal单复数，8902要求recipe标识和总时长。这些例子提示仅使用结构统计和schema覆盖可能不够，但本轮没有特征因果消融。逐题明细见error_analysis.csv，共四组160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D:/University/Alpha-SQL/results/sql_selector_curriculum_p0a_seed101/error_analysis.csv</a:t>
            </a:r>
          </a:p>
          <a:p xmlns:a="http://schemas.openxmlformats.org/drawingml/2006/main">
            <a:r>
              <a:t>D:/University/Alpha-SQL/results/sql_selector_curriculum_p0a_seed101/frozen_records.json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下一步优先做训练标签审计和训练信号诊断，不用验证结果反向调大语义系数。等语义项能产生合理异质性以后，再运行多seed主比较。质量和回归门槛需要来自独立基线pilot，正式比较应加上去掉不必要probe的production-cost对照。若另外增加question-aware表示，必须给所有调度组同样的模型，不能将模型升级收益记到课程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D:/University/Alpha-SQL/reports/SQL_SELECTOR_CURRICULUM_P0A_RESULTS_ZH.md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想请老师或师兄讨论两点。第一，适合调度的错误分组应细到什么程度，哪些差异只是SQL写法而不是错误。第二，当前数值MLP是否已经足以检验这个想法，还是需要先独立验证question-aware表示。现阶段证据支持实现检查通过，不支持性能、加速或不增加回归的结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D:/University/Alpha-SQL/reports/SQL_SELECTOR_CURRICULUM_P0A_RESULTS_ZH.md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这些耗时只用于审计预算。U1是首组，首次优化器和训练栈启动可能影响耗时，约1秒的微型运行不适合比较现实速度。当前没有quality_tau和regression_r_max，所以不报告正式time-to-target。完整实验无外部模型API调用。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本页依据：</a:t>
            </a:r>
          </a:p>
          <a:p xmlns:a="http://schemas.openxmlformats.org/drawingml/2006/main">
            <a:r>
              <a:t>D:/University/Alpha-SQL/results/sql_selector_curriculum_p0a_seed101/frozen_manifest.json</a:t>
            </a:r>
          </a:p>
          <a:p xmlns:a="http://schemas.openxmlformats.org/drawingml/2006/main">
            <a:r>
              <a:t>D:/University/Alpha-SQL/results/sql_selector_curriculum_p0a_seed101/run_config.json</a:t>
            </a:r>
          </a:p>
          <a:p xmlns:a="http://schemas.openxmlformats.org/drawingml/2006/main">
            <a:r>
              <a:t>D:/University/Alpha-SQL/results/sql_selector_curriculum_p0a_seed101/paired_summary.json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1de196e7b84a6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5294d5f78c40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eaec55da47400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00bc5ffd014c8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1468d4d7a74ca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388a601d94c4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0DA5382-134A-4C48-BF42-F273ED3685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5B0A38C-FAEB-4189-BDD5-145814F375D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FC567DF8-EB06-49EB-ADB1-42CC91E9D7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838ACC2-1413-4CFD-B781-7A3232718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2CAA5EC-BC7F-4A14-B1D2-B1DCCD4887B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84E4A6A-3BD7-4936-B6CF-B480130B11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2DAB569-33F4-4C9D-A5B0-5C9BBCC310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18CE86D2-82AA-4657-816B-7192D972602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90535C8-0FC8-4D11-B206-9715646C98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FED2E1C-C761-415A-AA35-0707264D926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2e11f1014640ca" /><Relationship Type="http://schemas.openxmlformats.org/officeDocument/2006/relationships/slideLayout" Target="/ppt/slideLayouts/slideLayout1.xml" Id="Rabaddb9c61014d52" /><Relationship Type="http://schemas.openxmlformats.org/officeDocument/2006/relationships/slideLayout" Target="/ppt/slideLayouts/slideLayout2.xml" Id="R4311e698fbf14129" /><Relationship Type="http://schemas.openxmlformats.org/officeDocument/2006/relationships/slideLayout" Target="/ppt/slideLayouts/slideLayout3.xml" Id="Rdeae5e9d9fb94df5" /><Relationship Type="http://schemas.openxmlformats.org/officeDocument/2006/relationships/slideLayout" Target="/ppt/slideLayouts/slideLayout4.xml" Id="Ra33968d21f3f4fb6" /><Relationship Type="http://schemas.openxmlformats.org/officeDocument/2006/relationships/slideLayout" Target="/ppt/slideLayouts/slideLayout5.xml" Id="Ra45077ea8a28420f" /><Relationship Type="http://schemas.openxmlformats.org/officeDocument/2006/relationships/slideLayout" Target="/ppt/slideLayouts/slideLayout6.xml" Id="R5375dce37364424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addb9c61014d52"/>
    <p:sldLayoutId xmlns:r="http://schemas.openxmlformats.org/officeDocument/2006/relationships" id="2147483650" r:id="R4311e698fbf14129"/>
    <p:sldLayoutId xmlns:r="http://schemas.openxmlformats.org/officeDocument/2006/relationships" id="2147483651" r:id="Rdeae5e9d9fb94df5"/>
    <p:sldLayoutId xmlns:r="http://schemas.openxmlformats.org/officeDocument/2006/relationships" id="2147483652" r:id="Ra33968d21f3f4fb6"/>
    <p:sldLayoutId xmlns:r="http://schemas.openxmlformats.org/officeDocument/2006/relationships" id="2147483653" r:id="Ra45077ea8a28420f"/>
    <p:sldLayoutId xmlns:r="http://schemas.openxmlformats.org/officeDocument/2006/relationships" id="2147483654" r:id="R5375dce37364424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e69424a857b405b" /><Relationship Type="http://schemas.openxmlformats.org/officeDocument/2006/relationships/notesSlide" Target="/ppt/notesSlides/notesSlide1.xml" Id="R4521f22164c54b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db64bfe311643a2" /><Relationship Type="http://schemas.openxmlformats.org/officeDocument/2006/relationships/notesSlide" Target="/ppt/notesSlides/notesSlide2.xml" Id="R0a86c5e963ce43c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c615cede65a48b7" /><Relationship Type="http://schemas.openxmlformats.org/officeDocument/2006/relationships/notesSlide" Target="/ppt/notesSlides/notesSlide3.xml" Id="Re41f4ee9d86a41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bce9496bf04d67" /><Relationship Type="http://schemas.openxmlformats.org/officeDocument/2006/relationships/notesSlide" Target="/ppt/notesSlides/notesSlide4.xml" Id="R4df7f27bf6f74d4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81d1983d2c4fee" /><Relationship Type="http://schemas.openxmlformats.org/officeDocument/2006/relationships/notesSlide" Target="/ppt/notesSlides/notesSlide5.xml" Id="Rc797c069e111464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a18fd0754848cd" /><Relationship Type="http://schemas.openxmlformats.org/officeDocument/2006/relationships/notesSlide" Target="/ppt/notesSlides/notesSlide6.xml" Id="Rcd8040f1bbf148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bd63eb6b32400a" /><Relationship Type="http://schemas.openxmlformats.org/officeDocument/2006/relationships/chart" Target="/ppt/slides/charts/chart1.xml" Id="R3f6145226b4b4d9c" /><Relationship Type="http://schemas.openxmlformats.org/officeDocument/2006/relationships/notesSlide" Target="/ppt/notesSlides/notesSlide7.xml" Id="R2a9876f926d644c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0a99e59ae24022" /><Relationship Type="http://schemas.openxmlformats.org/officeDocument/2006/relationships/notesSlide" Target="/ppt/notesSlides/notesSlide8.xml" Id="R1a6d2a7ce0134e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0f803d843ec4510" /><Relationship Type="http://schemas.openxmlformats.org/officeDocument/2006/relationships/notesSlide" Target="/ppt/notesSlides/notesSlide9.xml" Id="R7fcedfd5573c41a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56ec47e7a7140f1" /><Relationship Type="http://schemas.openxmlformats.org/officeDocument/2006/relationships/notesSlide" Target="/ppt/notesSlides/notesSlide10.xml" Id="Re77ba9973c1749e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bb90dbc882d4ec1" /><Relationship Type="http://schemas.openxmlformats.org/officeDocument/2006/relationships/notesSlide" Target="/ppt/notesSlides/notesSlide11.xml" Id="R4b996bc9a7f443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f8a850ae841a3" /><Relationship Type="http://schemas.openxmlformats.org/officeDocument/2006/relationships/notesSlide" Target="/ppt/notesSlides/notesSlide12.xml" Id="R5b5431fd538b4a6e" /></Relationships>
</file>

<file path=ppt/slides/charts/chart1.xml><?xml version="1.0" encoding="utf-8"?>
<c:chartSpace xmlns:c="http://schemas.openxmlformats.org/drawingml/2006/chart">
  <c:lang val="en-US"/>
  <c:chart>
    <c:plotArea>
      <c:lineChart>
        <c:grouping val="standard"/>
        <c:varyColors val="0"/>
        <c:ser>
          <c:idx val="0"/>
          <c:order val="0"/>
          <c:tx>
            <c:v>U1</c:v>
          </c:tx>
          <c:spPr>
            <a:ln xmlns:a="http://schemas.openxmlformats.org/drawingml/2006/main" w="28575">
              <a:solidFill>
                <a:srgbClr val="245F94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6"/>
              <c:pt idx="0">
                <c:v>0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  <c:pt idx="6">
                <c:v>60</c:v>
              </c:pt>
              <c:pt idx="7">
                <c:v>70</c:v>
              </c:pt>
              <c:pt idx="8">
                <c:v>80</c:v>
              </c:pt>
              <c:pt idx="9">
                <c:v>90</c:v>
              </c:pt>
              <c:pt idx="10">
                <c:v>100</c:v>
              </c:pt>
              <c:pt idx="11">
                <c:v>110</c:v>
              </c:pt>
              <c:pt idx="12">
                <c:v>120</c:v>
              </c:pt>
              <c:pt idx="13">
                <c:v>130</c:v>
              </c:pt>
              <c:pt idx="14">
                <c:v>140</c:v>
              </c:pt>
              <c:pt idx="15">
                <c:v>150</c:v>
              </c:pt>
              <c:pt idx="16">
                <c:v>160</c:v>
              </c:pt>
              <c:pt idx="17">
                <c:v>170</c:v>
              </c:pt>
              <c:pt idx="18">
                <c:v>180</c:v>
              </c:pt>
              <c:pt idx="19">
                <c:v>190</c:v>
              </c:pt>
              <c:pt idx="20">
                <c:v>200</c:v>
              </c:pt>
              <c:pt idx="21">
                <c:v>210</c:v>
              </c:pt>
              <c:pt idx="22">
                <c:v>220</c:v>
              </c:pt>
              <c:pt idx="23">
                <c:v>230</c:v>
              </c:pt>
              <c:pt idx="24">
                <c:v>240</c:v>
              </c:pt>
              <c:pt idx="25">
                <c:v>250</c:v>
              </c:pt>
            </c:numLit>
          </c:cat>
          <c:val>
            <c:numLit>
              <c:formatCode>0</c:formatCode>
              <c:ptCount val="26"/>
              <c:pt idx="0">
                <c:v>27</c:v>
              </c:pt>
              <c:pt idx="1">
                <c:v>28</c:v>
              </c:pt>
              <c:pt idx="2">
                <c:v>28</c:v>
              </c:pt>
              <c:pt idx="3">
                <c:v>28</c:v>
              </c:pt>
              <c:pt idx="4">
                <c:v>27</c:v>
              </c:pt>
              <c:pt idx="5">
                <c:v>27</c:v>
              </c:pt>
              <c:pt idx="6">
                <c:v>28</c:v>
              </c:pt>
              <c:pt idx="7">
                <c:v>27</c:v>
              </c:pt>
              <c:pt idx="8">
                <c:v>28</c:v>
              </c:pt>
              <c:pt idx="9">
                <c:v>28</c:v>
              </c:pt>
              <c:pt idx="10">
                <c:v>28</c:v>
              </c:pt>
              <c:pt idx="11">
                <c:v>27</c:v>
              </c:pt>
              <c:pt idx="12">
                <c:v>27</c:v>
              </c:pt>
              <c:pt idx="13">
                <c:v>27</c:v>
              </c:pt>
              <c:pt idx="14">
                <c:v>27</c:v>
              </c:pt>
              <c:pt idx="15">
                <c:v>28</c:v>
              </c:pt>
              <c:pt idx="16">
                <c:v>28</c:v>
              </c:pt>
              <c:pt idx="17">
                <c:v>27</c:v>
              </c:pt>
              <c:pt idx="18">
                <c:v>27</c:v>
              </c:pt>
              <c:pt idx="19">
                <c:v>27</c:v>
              </c:pt>
              <c:pt idx="20">
                <c:v>27</c:v>
              </c:pt>
              <c:pt idx="21">
                <c:v>27</c:v>
              </c:pt>
              <c:pt idx="22">
                <c:v>27</c:v>
              </c:pt>
              <c:pt idx="23">
                <c:v>27</c:v>
              </c:pt>
              <c:pt idx="24">
                <c:v>27</c:v>
              </c:pt>
              <c:pt idx="25">
                <c:v>27</c:v>
              </c:pt>
            </c:numLit>
          </c:val>
          <c:smooth val="0"/>
        </c:ser>
        <c:ser>
          <c:idx val="1"/>
          <c:order val="1"/>
          <c:tx>
            <c:v>LP1</c:v>
          </c:tx>
          <c:spPr>
            <a:ln xmlns:a="http://schemas.openxmlformats.org/drawingml/2006/main" w="28575">
              <a:solidFill>
                <a:srgbClr val="287F78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6"/>
              <c:pt idx="0">
                <c:v>0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  <c:pt idx="6">
                <c:v>60</c:v>
              </c:pt>
              <c:pt idx="7">
                <c:v>70</c:v>
              </c:pt>
              <c:pt idx="8">
                <c:v>80</c:v>
              </c:pt>
              <c:pt idx="9">
                <c:v>90</c:v>
              </c:pt>
              <c:pt idx="10">
                <c:v>100</c:v>
              </c:pt>
              <c:pt idx="11">
                <c:v>110</c:v>
              </c:pt>
              <c:pt idx="12">
                <c:v>120</c:v>
              </c:pt>
              <c:pt idx="13">
                <c:v>130</c:v>
              </c:pt>
              <c:pt idx="14">
                <c:v>140</c:v>
              </c:pt>
              <c:pt idx="15">
                <c:v>150</c:v>
              </c:pt>
              <c:pt idx="16">
                <c:v>160</c:v>
              </c:pt>
              <c:pt idx="17">
                <c:v>170</c:v>
              </c:pt>
              <c:pt idx="18">
                <c:v>180</c:v>
              </c:pt>
              <c:pt idx="19">
                <c:v>190</c:v>
              </c:pt>
              <c:pt idx="20">
                <c:v>200</c:v>
              </c:pt>
              <c:pt idx="21">
                <c:v>210</c:v>
              </c:pt>
              <c:pt idx="22">
                <c:v>220</c:v>
              </c:pt>
              <c:pt idx="23">
                <c:v>230</c:v>
              </c:pt>
              <c:pt idx="24">
                <c:v>240</c:v>
              </c:pt>
              <c:pt idx="25">
                <c:v>250</c:v>
              </c:pt>
            </c:numLit>
          </c:cat>
          <c:val>
            <c:numLit>
              <c:formatCode>0</c:formatCode>
              <c:ptCount val="26"/>
              <c:pt idx="0">
                <c:v>27</c:v>
              </c:pt>
              <c:pt idx="1">
                <c:v>28</c:v>
              </c:pt>
              <c:pt idx="2">
                <c:v>28</c:v>
              </c:pt>
              <c:pt idx="3">
                <c:v>28</c:v>
              </c:pt>
              <c:pt idx="4">
                <c:v>27</c:v>
              </c:pt>
              <c:pt idx="5">
                <c:v>27</c:v>
              </c:pt>
              <c:pt idx="6">
                <c:v>27</c:v>
              </c:pt>
              <c:pt idx="7">
                <c:v>28</c:v>
              </c:pt>
              <c:pt idx="8">
                <c:v>28</c:v>
              </c:pt>
              <c:pt idx="9">
                <c:v>28</c:v>
              </c:pt>
              <c:pt idx="10">
                <c:v>28</c:v>
              </c:pt>
              <c:pt idx="11">
                <c:v>27</c:v>
              </c:pt>
              <c:pt idx="12">
                <c:v>27</c:v>
              </c:pt>
              <c:pt idx="13">
                <c:v>27</c:v>
              </c:pt>
              <c:pt idx="14">
                <c:v>27</c:v>
              </c:pt>
              <c:pt idx="15">
                <c:v>28</c:v>
              </c:pt>
              <c:pt idx="16">
                <c:v>28</c:v>
              </c:pt>
              <c:pt idx="17">
                <c:v>28</c:v>
              </c:pt>
              <c:pt idx="18">
                <c:v>27</c:v>
              </c:pt>
              <c:pt idx="19">
                <c:v>27</c:v>
              </c:pt>
              <c:pt idx="20">
                <c:v>27</c:v>
              </c:pt>
              <c:pt idx="21">
                <c:v>27</c:v>
              </c:pt>
              <c:pt idx="22">
                <c:v>27</c:v>
              </c:pt>
              <c:pt idx="23">
                <c:v>27</c:v>
              </c:pt>
              <c:pt idx="24">
                <c:v>27</c:v>
              </c:pt>
              <c:pt idx="25">
                <c:v>27</c:v>
              </c:pt>
            </c:numLit>
          </c:val>
          <c:smooth val="0"/>
        </c:ser>
        <c:ser>
          <c:idx val="2"/>
          <c:order val="2"/>
          <c:tx>
            <c:v>EA1</c:v>
          </c:tx>
          <c:spPr>
            <a:ln xmlns:a="http://schemas.openxmlformats.org/drawingml/2006/main" w="28575">
              <a:solidFill>
                <a:srgbClr val="AE4D3C"/>
              </a:solidFill>
              <a:prstDash val="solid"/>
            </a:ln>
          </c:spPr>
          <c:marker>
            <c:symbol val="none"/>
          </c:marker>
          <c:cat>
            <c:numLit>
              <c:formatCode>General</c:formatCode>
              <c:ptCount val="26"/>
              <c:pt idx="0">
                <c:v>0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  <c:pt idx="6">
                <c:v>60</c:v>
              </c:pt>
              <c:pt idx="7">
                <c:v>70</c:v>
              </c:pt>
              <c:pt idx="8">
                <c:v>80</c:v>
              </c:pt>
              <c:pt idx="9">
                <c:v>90</c:v>
              </c:pt>
              <c:pt idx="10">
                <c:v>100</c:v>
              </c:pt>
              <c:pt idx="11">
                <c:v>110</c:v>
              </c:pt>
              <c:pt idx="12">
                <c:v>120</c:v>
              </c:pt>
              <c:pt idx="13">
                <c:v>130</c:v>
              </c:pt>
              <c:pt idx="14">
                <c:v>140</c:v>
              </c:pt>
              <c:pt idx="15">
                <c:v>150</c:v>
              </c:pt>
              <c:pt idx="16">
                <c:v>160</c:v>
              </c:pt>
              <c:pt idx="17">
                <c:v>170</c:v>
              </c:pt>
              <c:pt idx="18">
                <c:v>180</c:v>
              </c:pt>
              <c:pt idx="19">
                <c:v>190</c:v>
              </c:pt>
              <c:pt idx="20">
                <c:v>200</c:v>
              </c:pt>
              <c:pt idx="21">
                <c:v>210</c:v>
              </c:pt>
              <c:pt idx="22">
                <c:v>220</c:v>
              </c:pt>
              <c:pt idx="23">
                <c:v>230</c:v>
              </c:pt>
              <c:pt idx="24">
                <c:v>240</c:v>
              </c:pt>
              <c:pt idx="25">
                <c:v>250</c:v>
              </c:pt>
            </c:numLit>
          </c:cat>
          <c:val>
            <c:numLit>
              <c:formatCode>0</c:formatCode>
              <c:ptCount val="26"/>
              <c:pt idx="0">
                <c:v>27</c:v>
              </c:pt>
              <c:pt idx="1">
                <c:v>28</c:v>
              </c:pt>
              <c:pt idx="2">
                <c:v>28</c:v>
              </c:pt>
              <c:pt idx="3">
                <c:v>28</c:v>
              </c:pt>
              <c:pt idx="4">
                <c:v>27</c:v>
              </c:pt>
              <c:pt idx="5">
                <c:v>27</c:v>
              </c:pt>
              <c:pt idx="6">
                <c:v>27</c:v>
              </c:pt>
              <c:pt idx="7">
                <c:v>28</c:v>
              </c:pt>
              <c:pt idx="8">
                <c:v>28</c:v>
              </c:pt>
              <c:pt idx="9">
                <c:v>28</c:v>
              </c:pt>
              <c:pt idx="10">
                <c:v>28</c:v>
              </c:pt>
              <c:pt idx="11">
                <c:v>27</c:v>
              </c:pt>
              <c:pt idx="12">
                <c:v>27</c:v>
              </c:pt>
              <c:pt idx="13">
                <c:v>27</c:v>
              </c:pt>
              <c:pt idx="14">
                <c:v>27</c:v>
              </c:pt>
              <c:pt idx="15">
                <c:v>28</c:v>
              </c:pt>
              <c:pt idx="16">
                <c:v>28</c:v>
              </c:pt>
              <c:pt idx="17">
                <c:v>27</c:v>
              </c:pt>
              <c:pt idx="18">
                <c:v>27</c:v>
              </c:pt>
              <c:pt idx="19">
                <c:v>27</c:v>
              </c:pt>
              <c:pt idx="20">
                <c:v>27</c:v>
              </c:pt>
              <c:pt idx="21">
                <c:v>27</c:v>
              </c:pt>
              <c:pt idx="22">
                <c:v>27</c:v>
              </c:pt>
              <c:pt idx="23">
                <c:v>27</c:v>
              </c:pt>
              <c:pt idx="24">
                <c:v>27</c:v>
              </c:pt>
              <c:pt idx="25">
                <c:v>27</c:v>
              </c:pt>
            </c:numLit>
          </c:val>
          <c:smooth val="0"/>
        </c:ser>
        <c:ser>
          <c:idx val="3"/>
          <c:order val="3"/>
          <c:tx>
            <c:v>原自一致性</c:v>
          </c:tx>
          <c:spPr>
            <a:ln xmlns:a="http://schemas.openxmlformats.org/drawingml/2006/main" w="19050">
              <a:solidFill>
                <a:srgbClr val="929EAA"/>
              </a:solidFill>
              <a:prstDash val="dash"/>
            </a:ln>
          </c:spPr>
          <c:marker>
            <c:symbol val="none"/>
          </c:marker>
          <c:cat>
            <c:numLit>
              <c:formatCode>General</c:formatCode>
              <c:ptCount val="26"/>
              <c:pt idx="0">
                <c:v>0</c:v>
              </c:pt>
              <c:pt idx="1">
                <c:v>10</c:v>
              </c:pt>
              <c:pt idx="2">
                <c:v>20</c:v>
              </c:pt>
              <c:pt idx="3">
                <c:v>30</c:v>
              </c:pt>
              <c:pt idx="4">
                <c:v>40</c:v>
              </c:pt>
              <c:pt idx="5">
                <c:v>50</c:v>
              </c:pt>
              <c:pt idx="6">
                <c:v>60</c:v>
              </c:pt>
              <c:pt idx="7">
                <c:v>70</c:v>
              </c:pt>
              <c:pt idx="8">
                <c:v>80</c:v>
              </c:pt>
              <c:pt idx="9">
                <c:v>90</c:v>
              </c:pt>
              <c:pt idx="10">
                <c:v>100</c:v>
              </c:pt>
              <c:pt idx="11">
                <c:v>110</c:v>
              </c:pt>
              <c:pt idx="12">
                <c:v>120</c:v>
              </c:pt>
              <c:pt idx="13">
                <c:v>130</c:v>
              </c:pt>
              <c:pt idx="14">
                <c:v>140</c:v>
              </c:pt>
              <c:pt idx="15">
                <c:v>150</c:v>
              </c:pt>
              <c:pt idx="16">
                <c:v>160</c:v>
              </c:pt>
              <c:pt idx="17">
                <c:v>170</c:v>
              </c:pt>
              <c:pt idx="18">
                <c:v>180</c:v>
              </c:pt>
              <c:pt idx="19">
                <c:v>190</c:v>
              </c:pt>
              <c:pt idx="20">
                <c:v>200</c:v>
              </c:pt>
              <c:pt idx="21">
                <c:v>210</c:v>
              </c:pt>
              <c:pt idx="22">
                <c:v>220</c:v>
              </c:pt>
              <c:pt idx="23">
                <c:v>230</c:v>
              </c:pt>
              <c:pt idx="24">
                <c:v>240</c:v>
              </c:pt>
              <c:pt idx="25">
                <c:v>250</c:v>
              </c:pt>
            </c:numLit>
          </c:cat>
          <c:val>
            <c:numLit>
              <c:formatCode>0</c:formatCode>
              <c:ptCount val="26"/>
              <c:pt idx="0">
                <c:v>28</c:v>
              </c:pt>
              <c:pt idx="1">
                <c:v>28</c:v>
              </c:pt>
              <c:pt idx="2">
                <c:v>28</c:v>
              </c:pt>
              <c:pt idx="3">
                <c:v>28</c:v>
              </c:pt>
              <c:pt idx="4">
                <c:v>28</c:v>
              </c:pt>
              <c:pt idx="5">
                <c:v>28</c:v>
              </c:pt>
              <c:pt idx="6">
                <c:v>28</c:v>
              </c:pt>
              <c:pt idx="7">
                <c:v>28</c:v>
              </c:pt>
              <c:pt idx="8">
                <c:v>28</c:v>
              </c:pt>
              <c:pt idx="9">
                <c:v>28</c:v>
              </c:pt>
              <c:pt idx="10">
                <c:v>28</c:v>
              </c:pt>
              <c:pt idx="11">
                <c:v>28</c:v>
              </c:pt>
              <c:pt idx="12">
                <c:v>28</c:v>
              </c:pt>
              <c:pt idx="13">
                <c:v>28</c:v>
              </c:pt>
              <c:pt idx="14">
                <c:v>28</c:v>
              </c:pt>
              <c:pt idx="15">
                <c:v>28</c:v>
              </c:pt>
              <c:pt idx="16">
                <c:v>28</c:v>
              </c:pt>
              <c:pt idx="17">
                <c:v>28</c:v>
              </c:pt>
              <c:pt idx="18">
                <c:v>28</c:v>
              </c:pt>
              <c:pt idx="19">
                <c:v>28</c:v>
              </c:pt>
              <c:pt idx="20">
                <c:v>28</c:v>
              </c:pt>
              <c:pt idx="21">
                <c:v>28</c:v>
              </c:pt>
              <c:pt idx="22">
                <c:v>28</c:v>
              </c:pt>
              <c:pt idx="23">
                <c:v>28</c:v>
              </c:pt>
              <c:pt idx="24">
                <c:v>28</c:v>
              </c:pt>
              <c:pt idx="25">
                <c:v>28</c:v>
              </c:pt>
            </c:numLit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训练步数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32"/>
          <c:min val="2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1E7EC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500">
                    <a:latin typeface="Microsoft YaHei"/>
                    <a:ea typeface="Microsoft YaHei"/>
                    <a:cs typeface="Microsoft YaHei"/>
                  </a:rPr>
                  <a:t>验证正确题数 / 40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04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505A612-3CE0-4AEC-9863-4364B449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668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固定训练集下的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SQL 选择器错误感知课程学习</a:t>
            </a:r>
          </a:p>
        </p:txBody>
      </p:sp>
      <p:sp>
        <p:nvSpPr>
          <p:cNvPr id="3" name="第一轮离线实验与等价性检查">
            <a:extLst xmlns:a="http://schemas.openxmlformats.org/drawingml/2006/main">
              <a:ext uri="{FF2B5EF4-FFF2-40B4-BE49-F238E27FC236}">
                <a16:creationId xmlns:a16="http://schemas.microsoft.com/office/drawing/2014/main" id="{8B78582F-547B-404B-BCBF-85B24633F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C5D6E2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C5D6E2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C5D6E2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C5D6E2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C5D6E2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C5D6E2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C5D6E2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C5D6E2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C5D6E2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C5D6E2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C5D6E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C5D6E2"/>
                </a:solidFill>
                <a:latin typeface="Microsoft YaHei"/>
                <a:ea typeface="Microsoft YaHei"/>
                <a:cs typeface="Microsoft YaHei"/>
              </a:rPr>
              <a:t>第一轮离线实验与等价性检查</a:t>
            </a:r>
          </a:p>
        </p:txBody>
      </p:sp>
      <p:sp>
        <p:nvSpPr>
          <p:cNvPr id="4" name="Dongx Xia&#10;2026年10月20日">
            <a:extLst xmlns:a="http://schemas.openxmlformats.org/drawingml/2006/main">
              <a:ext uri="{FF2B5EF4-FFF2-40B4-BE49-F238E27FC236}">
                <a16:creationId xmlns:a16="http://schemas.microsoft.com/office/drawing/2014/main" id="{CA9FD916-A437-49C3-BF6E-991B09CFB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762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Dongx Xia</a:t>
            </a:r>
          </a:p>
          <a:p xmlns:a="http://schemas.openxmlformats.org/drawingml/2006/main">
            <a:pPr algn="l">
              <a:def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2026年10月20日</a:t>
            </a:r>
          </a:p>
        </p:txBody>
      </p:sp>
    </p:spTree>
    <p:extLst>
      <p:ext uri="{BB962C8B-B14F-4D97-AF65-F5344CB8AC3E}">
        <p14:creationId xmlns:p14="http://schemas.microsoft.com/office/powerpoint/2010/main" val="17138448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8C52D2-273A-4829-9AAE-4C412DD5F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rPr>
              <a:t>研究问题与固定条件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5DDFB1B-5BEC-4462-9280-A999C9D6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4" name="相同训练集下，错误语义能否帮助选择器更快达标？">
            <a:extLst xmlns:a="http://schemas.openxmlformats.org/drawingml/2006/main">
              <a:ext uri="{FF2B5EF4-FFF2-40B4-BE49-F238E27FC236}">
                <a16:creationId xmlns:a16="http://schemas.microsoft.com/office/drawing/2014/main" id="{9A1160EF-4CA9-42F4-B816-E274BC8D9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8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rPr>
              <a:t>相同训练集下，错误语义能否帮助选择器更快达标？</a:t>
            </a:r>
          </a:p>
        </p:txBody>
      </p:sp>
      <p:sp>
        <p:nvSpPr>
          <p:cNvPr id="5" name="固定训练问题、候选 SQL、模型和总训练预算&#10;只">
            <a:extLst xmlns:a="http://schemas.openxmlformats.org/drawingml/2006/main">
              <a:ext uri="{FF2B5EF4-FFF2-40B4-BE49-F238E27FC236}">
                <a16:creationId xmlns:a16="http://schemas.microsoft.com/office/drawing/2014/main" id="{084F30EE-61E7-4EBC-87A9-AB9FF3EF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10668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固定训练问题、候选 SQL、模型和总训练预算</a:t>
            </a:r>
          </a:p>
          <a:p xmlns:a="http://schemas.openxmlformats.org/drawingml/2006/main">
            <a: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只改变训练样本的调度方式</a:t>
            </a:r>
          </a:p>
        </p:txBody>
      </p:sp>
      <p:sp>
        <p:nvSpPr>
          <p:cNvPr id="6" name="比较条件：质量达到共同目标，同时控制新增回归&#10;新">
            <a:extLst xmlns:a="http://schemas.openxmlformats.org/drawingml/2006/main">
              <a:ext uri="{FF2B5EF4-FFF2-40B4-BE49-F238E27FC236}">
                <a16:creationId xmlns:a16="http://schemas.microsoft.com/office/drawing/2014/main" id="{A96B17BF-CAC4-4593-87F4-AA849BCF3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66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比较条件：质量达到共同目标，同时控制新增回归</a:t>
            </a:r>
          </a:p>
          <a:p xmlns:a="http://schemas.openxmlformats.org/drawingml/2006/main">
            <a: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新增回归：原自一致性选对，训练后的选择器反而选错</a:t>
            </a:r>
          </a:p>
        </p:txBody>
      </p:sp>
      <p:sp>
        <p:nvSpPr>
          <p:cNvPr id="7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1D3819C9-5317-4E69-8DD9-A10AF97EC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正式达标门槛尚未冻结。本轮只检查实现、数据和调度机制。</a:t>
            </a:r>
          </a:p>
        </p:txBody>
      </p:sp>
    </p:spTree>
    <p:extLst>
      <p:ext uri="{BB962C8B-B14F-4D97-AF65-F5344CB8AC3E}">
        <p14:creationId xmlns:p14="http://schemas.microsoft.com/office/powerpoint/2010/main" val="1208684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60D4F34-476E-49F5-97FB-79EBF253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rPr>
              <a:t>四组训练对照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3C6AFCF-D8A7-4EC7-B383-9855C34A2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DB329D-59B8-4067-B534-DC6D45D1E405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24125"/>
                <a:gridCol w="6191250"/>
                <a:gridCol w="2105025"/>
              </a:tblGrid>
              <a:tr h="6762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基础采样依据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保持性回放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按问题均匀随机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LP1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当前损失与学习进度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LP 信号加错误组反馈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 去掉语义项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 的 η=0，应与 LP1 等价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相同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5" name="每步 8 个 pair：6 个基础槽位 + 2 ">
            <a:extLst xmlns:a="http://schemas.openxmlformats.org/drawingml/2006/main">
              <a:ext uri="{FF2B5EF4-FFF2-40B4-BE49-F238E27FC236}">
                <a16:creationId xmlns:a16="http://schemas.microsoft.com/office/drawing/2014/main" id="{08EB325B-ABF6-44F1-9E32-7E02DFCA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00650"/>
            <a:ext cx="10820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每步 8 个 pair：6 个基础槽位 + 2 个回放槽位</a:t>
            </a:r>
          </a:p>
          <a:p xmlns:a="http://schemas.openxmlformats.org/drawingml/2006/main">
            <a:pPr algn="l">
              <a:defRPr sz="19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各组使用相同初始参数、回放序列和 anchor 序列</a:t>
            </a:r>
          </a:p>
        </p:txBody>
      </p:sp>
      <p:sp>
        <p:nvSpPr>
          <p:cNvPr id="6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C272D5CE-FDF2-4C31-B517-EC634288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“1”表示使用保持性回放。回放替换基础槽位，不额外增加 batch。</a:t>
            </a:r>
          </a:p>
        </p:txBody>
      </p:sp>
    </p:spTree>
    <p:extLst>
      <p:ext uri="{BB962C8B-B14F-4D97-AF65-F5344CB8AC3E}">
        <p14:creationId xmlns:p14="http://schemas.microsoft.com/office/powerpoint/2010/main" val="1255016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E934276-3DF8-48D9-A200-44FE6D3B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rPr>
              <a:t>数据与训练设置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276BC9B-B5C2-4D22-9769-853D58BF0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4ACA07-75EB-4D93-9EFC-ECE0071C8EB6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1619250"/>
                <a:gridCol w="3295650"/>
              </a:tblGrid>
              <a:tr h="571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数据范围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 / pair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129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454 个候选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验证集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115 个候选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可形成正负 pair 的训练子集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82 个 pair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保持性回放子集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SC 正确的 pairwise 问题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5" name="小型 MLP，48 个数值特征，保留自一致性信号">
            <a:extLst xmlns:a="http://schemas.openxmlformats.org/drawingml/2006/main">
              <a:ext uri="{FF2B5EF4-FFF2-40B4-BE49-F238E27FC236}">
                <a16:creationId xmlns:a16="http://schemas.microsoft.com/office/drawing/2014/main" id="{2907334C-7446-4B5A-B827-749DD7B8D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小型 MLP，48 个数值特征，保留自一致性信号</a:t>
            </a:r>
          </a:p>
          <a:p xmlns:a="http://schemas.openxmlformats.org/drawingml/2006/main">
            <a: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seed 101，各组 250 步，前 25 步统一随机采样</a:t>
            </a:r>
          </a:p>
        </p:txBody>
      </p:sp>
      <p:sp>
        <p:nvSpPr>
          <p:cNvPr id="6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70C324BB-1CBE-4AD5-A6C5-E519DE7B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使用历史 direct 候选池。未生成新候选、未注入 gold，未处理 test 候选。</a:t>
            </a:r>
          </a:p>
        </p:txBody>
      </p:sp>
    </p:spTree>
    <p:extLst>
      <p:ext uri="{BB962C8B-B14F-4D97-AF65-F5344CB8AC3E}">
        <p14:creationId xmlns:p14="http://schemas.microsoft.com/office/powerpoint/2010/main" val="130794511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B68A52-8E03-4DCA-85F6-DE035AB7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rPr>
              <a:t>η=0 与 LP1 的等价性检查通过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5C55253-74C7-4640-8C3A-199AAA4D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4" name="zero-parameter-difference">
            <a:extLst xmlns:a="http://schemas.openxmlformats.org/drawingml/2006/main">
              <a:ext uri="{FF2B5EF4-FFF2-40B4-BE49-F238E27FC236}">
                <a16:creationId xmlns:a16="http://schemas.microsoft.com/office/drawing/2014/main" id="{C920DAB3-7F89-44D7-8376-C9CC7344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2476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1100" b="1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100" b="1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100" b="1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100" b="1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100" b="1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100" b="1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100" b="1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100" b="1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100" b="1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100" b="1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100" b="1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100" b="1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5" name="最终参数最大绝对差值">
            <a:extLst xmlns:a="http://schemas.openxmlformats.org/drawingml/2006/main">
              <a:ext uri="{FF2B5EF4-FFF2-40B4-BE49-F238E27FC236}">
                <a16:creationId xmlns:a16="http://schemas.microsoft.com/office/drawing/2014/main" id="{39A5569D-259B-4FA3-A7D2-D22A97473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29000"/>
            <a:ext cx="400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87F78"/>
                </a:solidFill>
                <a:latin typeface="Microsoft YaHei"/>
                <a:ea typeface="Microsoft YaHei"/>
                <a:cs typeface="Microsoft YaHei"/>
              </a:rPr>
              <a:t>最终参数最大绝对差值</a:t>
            </a:r>
          </a:p>
        </p:txBody>
      </p:sp>
      <p:sp>
        <p:nvSpPr>
          <p:cNvPr id="6" name="采样概率与完整抽样序列一致&#10;训练损失与梯度范数一">
            <a:extLst xmlns:a="http://schemas.openxmlformats.org/drawingml/2006/main">
              <a:ext uri="{FF2B5EF4-FFF2-40B4-BE49-F238E27FC236}">
                <a16:creationId xmlns:a16="http://schemas.microsoft.com/office/drawing/2014/main" id="{FD49CDDF-A290-4052-9855-05E2C264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809750"/>
            <a:ext cx="6096000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采样概率与完整抽样序列一致</a:t>
            </a:r>
          </a:p>
          <a:p xmlns:a="http://schemas.openxmlformats.org/drawingml/2006/main">
            <a: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训练损失与梯度范数一致</a:t>
            </a:r>
          </a:p>
          <a:p xmlns:a="http://schemas.openxmlformats.org/drawingml/2006/main">
            <a: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所有验证预测与 logits 一致</a:t>
            </a:r>
          </a:p>
          <a:p xmlns:a="http://schemas.openxmlformats.org/drawingml/2006/main">
            <a:pPr algn="l">
              <a:def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最终模型参数逐位一致</a:t>
            </a:r>
          </a:p>
        </p:txBody>
      </p:sp>
      <p:sp>
        <p:nvSpPr>
          <p:cNvPr id="7" name="四组 warmup、保持性回放和 anchor ">
            <a:extLst xmlns:a="http://schemas.openxmlformats.org/drawingml/2006/main">
              <a:ext uri="{FF2B5EF4-FFF2-40B4-BE49-F238E27FC236}">
                <a16:creationId xmlns:a16="http://schemas.microsoft.com/office/drawing/2014/main" id="{6D7F4940-7DB3-48D8-ADF2-987A00BF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57775"/>
            <a:ext cx="10820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四组 warmup、保持性回放和 anchor 序列也一致</a:t>
            </a:r>
          </a:p>
        </p:txBody>
      </p:sp>
      <p:sp>
        <p:nvSpPr>
          <p:cNvPr id="8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35FEB4CF-5124-4C83-9BC8-7724EDFB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9 项运行检查通过，23 项单元及回归测试通过。等价性成立不代表方法有效。</a:t>
            </a:r>
          </a:p>
        </p:txBody>
      </p:sp>
    </p:spTree>
    <p:extLst>
      <p:ext uri="{BB962C8B-B14F-4D97-AF65-F5344CB8AC3E}">
        <p14:creationId xmlns:p14="http://schemas.microsoft.com/office/powerpoint/2010/main" val="3682761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36B1D9-8628-4D4E-86CA-7A6CBBB53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rPr>
              <a:t>验证结果尚未改善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D92E471-7A8A-4029-9CF9-8BE2EDE5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643584-127D-4A08-BBB9-5FD2CFADCED8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095500"/>
                <a:gridCol w="2095500"/>
                <a:gridCol w="3200400"/>
              </a:tblGrid>
              <a:tr h="579438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正确题数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正确率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修复 / 新增回归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原自一致性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28 / 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70.0%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参考基线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 / 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LP1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 / 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 / 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 去掉语义项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 / 40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67.5%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候选池中有正确 SQL 的问题共 31/40&#10;预">
            <a:extLst xmlns:a="http://schemas.openxmlformats.org/drawingml/2006/main">
              <a:ext uri="{FF2B5EF4-FFF2-40B4-BE49-F238E27FC236}">
                <a16:creationId xmlns:a16="http://schemas.microsoft.com/office/drawing/2014/main" id="{172C05CE-157C-411C-B1D2-FB87E519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4827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rPr>
              <a:t>候选池中有正确 SQL 的问题共 31/40</a:t>
            </a:r>
          </a:p>
          <a:p xmlns:a="http://schemas.openxmlformats.org/drawingml/2006/main">
            <a:pPr algn="l">
              <a:defRPr sz="2025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rPr>
              <a:t>预算末四组均未修复 3 个 hard case，均新增 1 题回归</a:t>
            </a:r>
          </a:p>
        </p:txBody>
      </p:sp>
      <p:sp>
        <p:nvSpPr>
          <p:cNvPr id="6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BFEBDD84-E017-4EBD-BC78-1A08911A8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采用现有执行签名匹配，非官方 BIRD EX。单 seed，未做显著性或非劣推断。</a:t>
            </a:r>
          </a:p>
        </p:txBody>
      </p:sp>
    </p:spTree>
    <p:extLst>
      <p:ext uri="{BB962C8B-B14F-4D97-AF65-F5344CB8AC3E}">
        <p14:creationId xmlns:p14="http://schemas.microsoft.com/office/powerpoint/2010/main" val="154485786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71B61CF-FE9C-4129-BB65-A8E09737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rPr>
              <a:t>验证曲线始终没有超过自一致性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5D317DC-8CE0-446A-BAF5-27650AC6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BA1D5933-D97F-4661-9A0A-DF5784D5BF20}"/>
              </a:ext>
            </a:extLst>
          </p:cNvPr>
          <p:cNvGraphicFramePr/>
          <p:nvPr/>
        </p:nvGraphicFramePr>
        <p:xfrm>
          <a:off xmlns:a="http://schemas.openxmlformats.org/drawingml/2006/main" x="685800" y="1552575"/>
          <a:ext xmlns:a="http://schemas.openxmlformats.org/drawingml/2006/main" cx="8191500" cy="39528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6145226b4b4d9c"/>
          </a:graphicData>
        </a:graphic>
      </p:graphicFrame>
      <p:sp>
        <p:nvSpPr>
          <p:cNvPr id="5" name="最高&#10;28/40">
            <a:extLst xmlns:a="http://schemas.openxmlformats.org/drawingml/2006/main">
              <a:ext uri="{FF2B5EF4-FFF2-40B4-BE49-F238E27FC236}">
                <a16:creationId xmlns:a16="http://schemas.microsoft.com/office/drawing/2014/main" id="{50630955-5E59-4F4D-91AA-1745F1554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047875"/>
            <a:ext cx="21907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rPr>
              <a:t>最高</a:t>
            </a:r>
          </a:p>
          <a:p xmlns:a="http://schemas.openxmlformats.org/drawingml/2006/main">
            <a: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rPr>
              <a:t>28/40</a:t>
            </a:r>
          </a:p>
        </p:txBody>
      </p:sp>
      <p:sp>
        <p:nvSpPr>
          <p:cNvPr id="6" name="训练集预算末&#10;100/129&#10;达到候选 orac">
            <a:extLst xmlns:a="http://schemas.openxmlformats.org/drawingml/2006/main">
              <a:ext uri="{FF2B5EF4-FFF2-40B4-BE49-F238E27FC236}">
                <a16:creationId xmlns:a16="http://schemas.microsoft.com/office/drawing/2014/main" id="{48A63EFB-59EF-4A09-888E-69450A26D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733800"/>
            <a:ext cx="228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训练集预算末</a:t>
            </a:r>
          </a:p>
          <a:p xmlns:a="http://schemas.openxmlformats.org/drawingml/2006/main">
            <a: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100/129</a:t>
            </a:r>
          </a:p>
          <a:p xmlns:a="http://schemas.openxmlformats.org/drawingml/2006/main">
            <a:pPr algn="l">
              <a:def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达到候选 oracle</a:t>
            </a:r>
          </a:p>
        </p:txBody>
      </p:sp>
      <p:sp>
        <p:nvSpPr>
          <p:cNvPr id="7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53DDF00A-2981-47C3-A116-037C87116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纵轴截取 24–32 题。η=0 曲线与 LP1 重合，图中省略。最高值未用于挑选模型。</a:t>
            </a:r>
          </a:p>
        </p:txBody>
      </p:sp>
    </p:spTree>
    <p:extLst>
      <p:ext uri="{BB962C8B-B14F-4D97-AF65-F5344CB8AC3E}">
        <p14:creationId xmlns:p14="http://schemas.microsoft.com/office/powerpoint/2010/main" val="21419208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5E68C1-81E4-466E-B84F-96010962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rPr>
              <a:t>错误语义对采样的实际影响很小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EAA08A-1311-4189-B35F-73A6DCEA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4" name="4 / 1500">
            <a:extLst xmlns:a="http://schemas.openxmlformats.org/drawingml/2006/main">
              <a:ext uri="{FF2B5EF4-FFF2-40B4-BE49-F238E27FC236}">
                <a16:creationId xmlns:a16="http://schemas.microsoft.com/office/drawing/2014/main" id="{0FB77B46-070D-43FF-921A-36AC6D21C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600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52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52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52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52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52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52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52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52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52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52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52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250" b="1">
                <a:solidFill>
                  <a:srgbClr val="245F94"/>
                </a:solidFill>
                <a:latin typeface="Microsoft YaHei"/>
                <a:ea typeface="Microsoft YaHei"/>
                <a:cs typeface="Microsoft YaHei"/>
              </a:rPr>
              <a:t>4 / 1500</a:t>
            </a:r>
          </a:p>
        </p:txBody>
      </p:sp>
      <p:sp>
        <p:nvSpPr>
          <p:cNvPr id="5" name="EA 与 LP 不同的基础采样槽位，约 0.27">
            <a:extLst xmlns:a="http://schemas.openxmlformats.org/drawingml/2006/main">
              <a:ext uri="{FF2B5EF4-FFF2-40B4-BE49-F238E27FC236}">
                <a16:creationId xmlns:a16="http://schemas.microsoft.com/office/drawing/2014/main" id="{DEA00184-286B-49C4-90CF-657433748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66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EA 与 LP 不同的基础采样槽位，约 0.27%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94C2F7-873C-48F6-BAEA-CEEEC9B29C48}"/>
              </a:ext>
            </a:extLst>
          </p:cNvPr>
          <p:cNvGraphicFramePr/>
          <p:nvPr/>
        </p:nvGraphicFramePr>
        <p:xfrm>
          <a:off xmlns:a="http://schemas.openxmlformats.org/drawingml/2006/main" x="685800" y="3295650"/>
          <a:ext xmlns:a="http://schemas.openxmlformats.org/drawingml/2006/main" cx="10820400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905500"/>
                <a:gridCol w="2095500"/>
                <a:gridCol w="2819400"/>
              </a:tblGrid>
              <a:tr h="46672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弱结构组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pair 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不同训练问题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投影 / 去重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过滤 / literal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56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17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表与 Join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65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聚合 / 排序等计算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48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13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7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54063B52-0145-4D29-B672-AFCCC1A6D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分组允许重叠，不能相加。unknown 组为空。最大分布总变差为 0.001765。</a:t>
            </a:r>
          </a:p>
        </p:txBody>
      </p:sp>
    </p:spTree>
    <p:extLst>
      <p:ext uri="{BB962C8B-B14F-4D97-AF65-F5344CB8AC3E}">
        <p14:creationId xmlns:p14="http://schemas.microsoft.com/office/powerpoint/2010/main" val="22032034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FA97C5E-E4BA-4ADA-A2D8-C58126D2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rPr>
              <a:t>逐题分析：输出完整性与值对齐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75A2D48-F0CB-4E3D-920B-782A4132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2BE6F7-EAAD-407C-949A-6DD1C5B8B12A}"/>
              </a:ext>
            </a:extLst>
          </p:cNvPr>
          <p:cNvGraphicFramePr/>
          <p:nvPr/>
        </p:nvGraphicFramePr>
        <p:xfrm>
          <a:off xmlns:a="http://schemas.openxmlformats.org/drawingml/2006/main" x="685800" y="1504950"/>
          <a:ext xmlns:a="http://schemas.openxmlformats.org/drawingml/2006/main" cx="1082040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238250"/>
                <a:gridCol w="2143125"/>
                <a:gridCol w="7439025"/>
              </a:tblGrid>
              <a:tr h="8001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问题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当前结果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候选之间的关键差异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1616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新增回归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first name 与 last name 两列顺序交换</a:t>
                      </a:r>
                    </a:p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需先核查评价口径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8005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未修复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只输出美国大学数量</a:t>
                      </a:r>
                    </a:p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遗漏符合条件的大学总数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8896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未修复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literal 用了 'baking product'</a:t>
                      </a:r>
                    </a:p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正候选使用 'baking products'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8902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未修复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只输出总时长</a:t>
                      </a:r>
                    </a:p>
                    <a:p>
                      <a:r>
                        <a:rPr sz="195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遗漏问题要求的 recipe_id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5" name="另有 9 题候选池本身缺少正确 SQL，选择器无">
            <a:extLst xmlns:a="http://schemas.openxmlformats.org/drawingml/2006/main">
              <a:ext uri="{FF2B5EF4-FFF2-40B4-BE49-F238E27FC236}">
                <a16:creationId xmlns:a16="http://schemas.microsoft.com/office/drawing/2014/main" id="{09954F04-8107-4FCA-BC97-11B5FD2F2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025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025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025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025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025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025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025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025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025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025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另有 9 题候选池本身缺少正确 SQL，选择器无法修复</a:t>
            </a:r>
          </a:p>
        </p:txBody>
      </p:sp>
    </p:spTree>
    <p:extLst>
      <p:ext uri="{BB962C8B-B14F-4D97-AF65-F5344CB8AC3E}">
        <p14:creationId xmlns:p14="http://schemas.microsoft.com/office/powerpoint/2010/main" val="211263670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A26410-CAF3-4267-911D-046E24950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rPr>
              <a:t>下一步先核查标签，再扩大比较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896964-22D5-4821-A11C-99BB27D70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755B90-14D1-4295-9BBA-6EB3C7FAF091}"/>
              </a:ext>
            </a:extLst>
          </p:cNvPr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10820400" cy="4191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7200900"/>
              </a:tblGrid>
              <a:tr h="8382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下一步工作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需要得到的证据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审计训练 pair 的错误标签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排除 alias、引号和等价 SQL 的伪差异</a:t>
                      </a:r>
                    </a:p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确认组别对应可解释的 SQL 错误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 train-only 调度反馈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语义项是否提供不同于 loss / progress 的信息</a:t>
                      </a:r>
                    </a:p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是否产生合理、足够的采样差异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重新冻结实验设置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统一训练标签、模型、预算和推理规则</a:t>
                      </a:r>
                    </a:p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不按本次验证结果搜索 η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382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进入多 seed 比较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先冻结共同质量与回归门槛</a:t>
                      </a:r>
                    </a:p>
                    <a:p>
                      <a:r>
                        <a:rPr sz="1875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计入 probe 和调度成本，比较稳定达标时间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5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9D973AD0-D912-4D70-AA2C-21224952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当前不直接扩大成 36 runs。若更换模型表示，所有调度组同时更换并独立评估。</a:t>
            </a:r>
          </a:p>
        </p:txBody>
      </p:sp>
    </p:spTree>
    <p:extLst>
      <p:ext uri="{BB962C8B-B14F-4D97-AF65-F5344CB8AC3E}">
        <p14:creationId xmlns:p14="http://schemas.microsoft.com/office/powerpoint/2010/main" val="5367433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B79F7E6-16B9-4941-AA17-8DE65CA36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rPr>
              <a:t>目前的结论与讨论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F1DCDCA-74B1-458E-87B5-6D27B517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4" name="实验对照已经跑通&#10;错误语义的额外收益尚未观察到">
            <a:extLst xmlns:a="http://schemas.openxmlformats.org/drawingml/2006/main">
              <a:ext uri="{FF2B5EF4-FFF2-40B4-BE49-F238E27FC236}">
                <a16:creationId xmlns:a16="http://schemas.microsoft.com/office/drawing/2014/main" id="{0D30CE12-CD77-48DE-86A9-0DB025AD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28775"/>
            <a:ext cx="10668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15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15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15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15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15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15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15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15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15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15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rPr>
              <a:t>实验对照已经跑通</a:t>
            </a:r>
          </a:p>
          <a:p xmlns:a="http://schemas.openxmlformats.org/drawingml/2006/main">
            <a:pPr algn="l">
              <a:defRPr sz="315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rPr>
              <a:t>错误语义的额外收益尚未观察到</a:t>
            </a:r>
          </a:p>
        </p:txBody>
      </p:sp>
      <p:sp>
        <p:nvSpPr>
          <p:cNvPr id="5" name="标签粒度&#10;哪些差异足以定义训练调度中的“错误类型">
            <a:extLst xmlns:a="http://schemas.openxmlformats.org/drawingml/2006/main">
              <a:ext uri="{FF2B5EF4-FFF2-40B4-BE49-F238E27FC236}">
                <a16:creationId xmlns:a16="http://schemas.microsoft.com/office/drawing/2014/main" id="{F0CE0070-9993-49E1-A63D-18BA0137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标签粒度</a:t>
            </a:r>
          </a:p>
          <a:p xmlns:a="http://schemas.openxmlformats.org/drawingml/2006/main">
            <a: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哪些差异足以定义训练调度中的“错误类型”？</a:t>
            </a:r>
          </a:p>
        </p:txBody>
      </p:sp>
      <p:sp>
        <p:nvSpPr>
          <p:cNvPr id="6" name="模型与调度的边界&#10;当前数值表示是否足以支持语义课">
            <a:extLst xmlns:a="http://schemas.openxmlformats.org/drawingml/2006/main">
              <a:ext uri="{FF2B5EF4-FFF2-40B4-BE49-F238E27FC236}">
                <a16:creationId xmlns:a16="http://schemas.microsoft.com/office/drawing/2014/main" id="{5EBF2CFE-4255-4556-ACA3-E0F5B8B7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10668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模型与调度的边界</a:t>
            </a:r>
          </a:p>
          <a:p xmlns:a="http://schemas.openxmlformats.org/drawingml/2006/main">
            <a:pPr algn="l">
              <a:def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263746"/>
                </a:solidFill>
                <a:latin typeface="Microsoft YaHei"/>
                <a:ea typeface="Microsoft YaHei"/>
                <a:cs typeface="Microsoft YaHei"/>
              </a:rPr>
              <a:t>当前数值表示是否足以支持语义课程的检验？</a:t>
            </a:r>
          </a:p>
        </p:txBody>
      </p:sp>
      <p:sp>
        <p:nvSpPr>
          <p:cNvPr id="7" name="source-caveat">
            <a:extLst xmlns:a="http://schemas.openxmlformats.org/drawingml/2006/main">
              <a:ext uri="{FF2B5EF4-FFF2-40B4-BE49-F238E27FC236}">
                <a16:creationId xmlns:a16="http://schemas.microsoft.com/office/drawing/2014/main" id="{9C35CA67-67D9-47E3-85CB-AC0E03D12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287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最终要回答：在共同质量和回归约束下，错误语义是否能缩短训练时间。</a:t>
            </a:r>
          </a:p>
        </p:txBody>
      </p:sp>
    </p:spTree>
    <p:extLst>
      <p:ext uri="{BB962C8B-B14F-4D97-AF65-F5344CB8AC3E}">
        <p14:creationId xmlns:p14="http://schemas.microsoft.com/office/powerpoint/2010/main" val="140043760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6C2103-0270-4716-9CAA-96813754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047"/>
                </a:solidFill>
                <a:latin typeface="Microsoft YaHei"/>
                <a:ea typeface="Microsoft YaHei"/>
                <a:cs typeface="Microsoft YaHei"/>
              </a:rPr>
              <a:t>附录：运行成本与结果边界</a:t>
            </a:r>
          </a:p>
        </p:txBody>
      </p:sp>
      <p:sp>
        <p:nvSpPr>
          <p:cNvPr id="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0F68FA6-FAA7-4211-B02F-DF52B1873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1985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7E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E35FF5-E285-4716-8AE2-6F3FB354E838}"/>
              </a:ext>
            </a:extLst>
          </p:cNvPr>
          <p:cNvGraphicFramePr/>
          <p:nvPr/>
        </p:nvGraphicFramePr>
        <p:xfrm>
          <a:off xmlns:a="http://schemas.openxmlformats.org/drawingml/2006/main" x="685800" y="1466850"/>
          <a:ext xmlns:a="http://schemas.openxmlformats.org/drawingml/2006/main" cx="108204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2095500"/>
                <a:gridCol w="5295900"/>
              </a:tblGrid>
              <a:tr h="530679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阶段 / 方法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测得耗时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解释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T w="9525">
                      <a:solidFill>
                        <a:srgbClr val="DCE4EA"/>
                      </a:solidFill>
                      <a:prstDash val="solid"/>
                    </a:lnT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173047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共同数据准备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6.05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读取缓存、SQLite 执行与冻结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共同 CUDA 初始化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0.265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独立记录，不归入 U1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1.333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训练、probe、checkpoint 与日志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LP1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1.030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训练、probe、checkpoint 与日志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EA1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1.019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训练、probe、checkpoint 与日志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EA 去掉语义项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DCE4EA"/>
                      </a:solidFill>
                      <a:prstDash val="solid"/>
                    </a:lnL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1.067 秒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6374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训练、probe、checkpoint 与日志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DCE4EA"/>
                      </a:solidFill>
                      <a:prstDash val="solid"/>
                    </a:lnR>
                    <a:lnB w="9525">
                      <a:solidFill>
                        <a:srgbClr val="DCE4EA"/>
                      </a:solidFill>
                      <a:prstDash val="solid"/>
                    </a:lnB>
                    <a:solidFill>
                      <a:srgbClr val="F5F7F9"/>
                    </a:solidFill>
                  </a:tcPr>
                </a:tc>
              </a:tr>
            </a:tbl>
          </a:graphicData>
        </a:graphic>
      </p:graphicFrame>
      <p:sp>
        <p:nvSpPr>
          <p:cNvPr id="5" name="单次运行很短，顺序与首次训练栈开销会影响耗时&#10;尚">
            <a:extLst xmlns:a="http://schemas.openxmlformats.org/drawingml/2006/main">
              <a:ext uri="{FF2B5EF4-FFF2-40B4-BE49-F238E27FC236}">
                <a16:creationId xmlns:a16="http://schemas.microsoft.com/office/drawing/2014/main" id="{5BF178ED-D647-4B84-A7A3-08F8A662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673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>
            <a:defPPr algn="l">
              <a:defRPr sz="1950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rPr>
              <a:t>单次运行很短，顺序与首次训练栈开销会影响耗时</a:t>
            </a:r>
          </a:p>
          <a:p xmlns:a="http://schemas.openxmlformats.org/drawingml/2006/main">
            <a:pPr algn="l">
              <a:defRPr sz="1950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AE4D3C"/>
                </a:solidFill>
                <a:latin typeface="Microsoft YaHei"/>
                <a:ea typeface="Microsoft YaHei"/>
                <a:cs typeface="Microsoft YaHei"/>
              </a:rPr>
              <a:t>尚未冻结达标阈值，本轮不报告训练加速倍数</a:t>
            </a:r>
          </a:p>
        </p:txBody>
      </p:sp>
    </p:spTree>
    <p:extLst>
      <p:ext uri="{BB962C8B-B14F-4D97-AF65-F5344CB8AC3E}">
        <p14:creationId xmlns:p14="http://schemas.microsoft.com/office/powerpoint/2010/main" val="127375489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2026-10-20T05:20:27.1130000Z</dcterms:created>
  <dcterms:modified xsi:type="dcterms:W3CDTF">2026-10-20T05:20:27.1140000Z</dcterms:modified>
</coreProperties>
</file>