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Candidate Coverage</c:f>
              <c:strCache>
                <c:ptCount val="1"/>
                <c:pt idx="0">
                  <c:v>Candidate Coverage</c:v>
                </c:pt>
              </c:strCache>
            </c:strRef>
          </c:tx>
          <c:spPr>
            <a:solidFill>
              <a:srgbClr val="3B6EA8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{"MCTS + SC","Jev constrained","MCTS pool + Jev"}</c:f>
              <c:strCache>
                <c:ptCount val="3"/>
                <c:pt idx="0">
                  <c:v>MCTS + SC</c:v>
                </c:pt>
                <c:pt idx="1">
                  <c:v>Jev constrained</c:v>
                </c:pt>
                <c:pt idx="2">
                  <c:v>MCTS pool + Jev</c:v>
                </c:pt>
              </c:strCache>
            </c:strRef>
          </c:cat>
          <c:val>
            <c:numRef>
              <c:f>{79.79,29.27,79.79}</c:f>
              <c:numCache>
                <c:formatCode>0</c:formatCode>
                <c:ptCount val="3"/>
                <c:pt idx="0">
                  <c:v>79.79</c:v>
                </c:pt>
                <c:pt idx="1">
                  <c:v>29.27</c:v>
                </c:pt>
                <c:pt idx="2">
                  <c:v>79.79</c:v>
                </c:pt>
              </c:numCache>
            </c:numRef>
          </c:val>
        </c:ser>
        <c:ser>
          <c:idx val="1"/>
          <c:order val="1"/>
          <c:tx>
            <c:strRef>
              <c:f>Final EX</c:f>
              <c:strCache>
                <c:ptCount val="1"/>
                <c:pt idx="0">
                  <c:v>Final EX</c:v>
                </c:pt>
              </c:strCache>
            </c:strRef>
          </c:tx>
          <c:spPr>
            <a:solidFill>
              <a:srgbClr val="0E7C7B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{"MCTS + SC","Jev constrained","MCTS pool + Jev"}</c:f>
              <c:strCache>
                <c:ptCount val="3"/>
                <c:pt idx="0">
                  <c:v>MCTS + SC</c:v>
                </c:pt>
                <c:pt idx="1">
                  <c:v>Jev constrained</c:v>
                </c:pt>
                <c:pt idx="2">
                  <c:v>MCTS pool + Jev</c:v>
                </c:pt>
              </c:strCache>
            </c:strRef>
          </c:cat>
          <c:val>
            <c:numRef>
              <c:f>{75.61,25.44,72.47}</c:f>
              <c:numCache>
                <c:formatCode>0</c:formatCode>
                <c:ptCount val="3"/>
                <c:pt idx="0">
                  <c:v>75.61</c:v>
                </c:pt>
                <c:pt idx="1">
                  <c:v>25.44</c:v>
                </c:pt>
                <c:pt idx="2">
                  <c:v>72.47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DFE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25" b="0" i="0" u="none" strike="noStrike" kern="1200" baseline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8DFE5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20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24a2893-59a1-4a08-b650-44f6cad7c9ab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MCTS path evidence</c:f>
              <c:strCache>
                <c:ptCount val="1"/>
                <c:pt idx="0">
                  <c:v>MCTS path evidence</c:v>
                </c:pt>
              </c:strCache>
            </c:strRef>
          </c:tx>
          <c:spPr>
            <a:solidFill>
              <a:srgbClr val="AAB5BF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{"Table Precision","Table Recall","Column Precision","Column Recall"}</c:f>
              <c:strCache>
                <c:ptCount val="4"/>
                <c:pt idx="0">
                  <c:v>Table Precision</c:v>
                </c:pt>
                <c:pt idx="1">
                  <c:v>Table Recall</c:v>
                </c:pt>
                <c:pt idx="2">
                  <c:v>Column Precision</c:v>
                </c:pt>
                <c:pt idx="3">
                  <c:v>Column Recall</c:v>
                </c:pt>
              </c:strCache>
            </c:strRef>
          </c:cat>
          <c:val>
            <c:numRef>
              <c:f>{54.24,53.98,47.54,52.86}</c:f>
              <c:numCache>
                <c:formatCode>General</c:formatCode>
                <c:ptCount val="4"/>
                <c:pt idx="0">
                  <c:v>54.24</c:v>
                </c:pt>
                <c:pt idx="1">
                  <c:v>53.98</c:v>
                </c:pt>
                <c:pt idx="2">
                  <c:v>47.54</c:v>
                </c:pt>
                <c:pt idx="3">
                  <c:v>52.86</c:v>
                </c:pt>
              </c:numCache>
            </c:numRef>
          </c:val>
        </c:ser>
        <c:ser>
          <c:idx val="1"/>
          <c:order val="1"/>
          <c:tx>
            <c:strRef>
              <c:f>Jev linker</c:f>
              <c:strCache>
                <c:ptCount val="1"/>
                <c:pt idx="0">
                  <c:v>Jev linker</c:v>
                </c:pt>
              </c:strCache>
            </c:strRef>
          </c:tx>
          <c:spPr>
            <a:solidFill>
              <a:srgbClr val="0E7C7B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{"Table Precision","Table Recall","Column Precision","Column Recall"}</c:f>
              <c:strCache>
                <c:ptCount val="4"/>
                <c:pt idx="0">
                  <c:v>Table Precision</c:v>
                </c:pt>
                <c:pt idx="1">
                  <c:v>Table Recall</c:v>
                </c:pt>
                <c:pt idx="2">
                  <c:v>Column Precision</c:v>
                </c:pt>
                <c:pt idx="3">
                  <c:v>Column Recall</c:v>
                </c:pt>
              </c:strCache>
            </c:strRef>
          </c:cat>
          <c:val>
            <c:numRef>
              <c:f>{63.35,99.3,60.16,97.35}</c:f>
              <c:numCache>
                <c:formatCode>General</c:formatCode>
                <c:ptCount val="4"/>
                <c:pt idx="0">
                  <c:v>63.35</c:v>
                </c:pt>
                <c:pt idx="1">
                  <c:v>99.3</c:v>
                </c:pt>
                <c:pt idx="2">
                  <c:v>60.16</c:v>
                </c:pt>
                <c:pt idx="3">
                  <c:v>97.35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8DFE5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DFE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c0767a1-533b-4845-9132-cb1fe5b4e731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Coverage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3B6EA8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{"compiler 范围内（83）","范围外（217）"}</c:f>
              <c:strCache>
                <c:ptCount val="2"/>
                <c:pt idx="0">
                  <c:v>compiler 范围内（83）</c:v>
                </c:pt>
                <c:pt idx="1">
                  <c:v>范围外（217）</c:v>
                </c:pt>
              </c:strCache>
            </c:strRef>
          </c:cat>
          <c:val>
            <c:numRef>
              <c:f>{77.11,11.98}</c:f>
              <c:numCache>
                <c:formatCode>General</c:formatCode>
                <c:ptCount val="2"/>
                <c:pt idx="0">
                  <c:v>77.11</c:v>
                </c:pt>
                <c:pt idx="1">
                  <c:v>11.98</c:v>
                </c:pt>
              </c:numCache>
            </c:numRef>
          </c:val>
        </c:ser>
        <c:ser>
          <c:idx val="1"/>
          <c:order val="1"/>
          <c:tx>
            <c:strRef>
              <c:f>Final EX</c:f>
              <c:strCache>
                <c:ptCount val="1"/>
                <c:pt idx="0">
                  <c:v>Final EX</c:v>
                </c:pt>
              </c:strCache>
            </c:strRef>
          </c:tx>
          <c:spPr>
            <a:solidFill>
              <a:srgbClr val="0E7C7B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{"compiler 范围内（83）","范围外（217）"}</c:f>
              <c:strCache>
                <c:ptCount val="2"/>
                <c:pt idx="0">
                  <c:v>compiler 范围内（83）</c:v>
                </c:pt>
                <c:pt idx="1">
                  <c:v>范围外（217）</c:v>
                </c:pt>
              </c:strCache>
            </c:strRef>
          </c:cat>
          <c:val>
            <c:numRef>
              <c:f>{74.7,7.37}</c:f>
              <c:numCache>
                <c:formatCode>General</c:formatCode>
                <c:ptCount val="2"/>
                <c:pt idx="0">
                  <c:v>74.7</c:v>
                </c:pt>
                <c:pt idx="1">
                  <c:v>7.37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DFE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25" b="0" i="0" u="none" strike="noStrike" kern="1200" baseline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8DFE5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20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61f54d6-b9e0-4dc9-badd-52ba80d30598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Final EX</c:f>
              <c:strCache>
                <c:ptCount val="1"/>
                <c:pt idx="0">
                  <c:v>Final EX</c:v>
                </c:pt>
              </c:strCache>
            </c:strRef>
          </c:tx>
          <c:spPr>
            <a:solidFill>
              <a:srgbClr val="0E7C7B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{"Self-consistency","Jev-on-MCTS"}</c:f>
              <c:strCache>
                <c:ptCount val="2"/>
                <c:pt idx="0">
                  <c:v>Self-consistency</c:v>
                </c:pt>
                <c:pt idx="1">
                  <c:v>Jev-on-MCTS</c:v>
                </c:pt>
              </c:strCache>
            </c:strRef>
          </c:cat>
          <c:val>
            <c:numRef>
              <c:f>{75.61,72.47}</c:f>
              <c:numCache>
                <c:formatCode>General</c:formatCode>
                <c:ptCount val="2"/>
                <c:pt idx="0">
                  <c:v>75.61</c:v>
                </c:pt>
                <c:pt idx="1">
                  <c:v>72.47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DFE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8DFE5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2"/>
      </c:valAx>
    </c:plotArea>
    <c:plotVisOnly val="1"/>
    <c:dispBlanksAs val="gap"/>
    <c:showDLblsOverMax val="0"/>
    <c:extLst>
      <c:ext uri="{0b15fc19-7d7d-44ad-8c2d-2c3a37ce22c3}">
        <chartProps xmlns="https://web.wps.cn/et/2018/main" chartId="{84f0b886-8939-4dc8-9332-db830413b5d0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Test EX</c:f>
              <c:strCache>
                <c:ptCount val="1"/>
                <c:pt idx="0">
                  <c:v>Test EX</c:v>
                </c:pt>
              </c:strCache>
            </c:strRef>
          </c:tx>
          <c:spPr>
            <a:solidFill>
              <a:srgbClr val="0E7C7B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{"Self-consistency","Pairwise + SC","Oracle"}</c:f>
              <c:strCache>
                <c:ptCount val="3"/>
                <c:pt idx="0">
                  <c:v>Self-consistency</c:v>
                </c:pt>
                <c:pt idx="1">
                  <c:v>Pairwise + SC</c:v>
                </c:pt>
                <c:pt idx="2">
                  <c:v>Oracle</c:v>
                </c:pt>
              </c:strCache>
            </c:strRef>
          </c:cat>
          <c:val>
            <c:numRef>
              <c:f>{76,75,81}</c:f>
              <c:numCache>
                <c:formatCode>General</c:formatCode>
                <c:ptCount val="3"/>
                <c:pt idx="0">
                  <c:v>76</c:v>
                </c:pt>
                <c:pt idx="1">
                  <c:v>75</c:v>
                </c:pt>
                <c:pt idx="2">
                  <c:v>81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DFE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25" b="0" i="0" u="none" strike="noStrike" kern="1200" baseline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8DFE5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4"/>
      </c:valAx>
    </c:plotArea>
    <c:plotVisOnly val="1"/>
    <c:dispBlanksAs val="gap"/>
    <c:showDLblsOverMax val="0"/>
    <c:extLst>
      <c:ext uri="{0b15fc19-7d7d-44ad-8c2d-2c3a37ce22c3}">
        <chartProps xmlns="https://web.wps.cn/et/2018/main" chartId="{45f502c4-1882-45ea-8ad3-0a4afed11d78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本次汇报以当前仓库中的三组实验和五篇论文为依据。</a:t>
            </a:r>
          </a:p>
          <a:p>
            <a:r>
              <a:t>重点不是展示一个完成的系统，而是明确下一步应该训练什么、为什么。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D:\University\Alpha-SQL\PHASE2_EXPERIMENT_REPORT.md</a:t>
            </a:r>
          </a:p>
          <a:p>
            <a:r>
              <a:t>Source: D:\University\Alpha-SQL\LLM_JEV_300_INTERIM_REPORT.md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D:\University\Alpha-SQL\PHASE2_EXPERIMENT_REPORT.md</a:t>
            </a:r>
          </a:p>
          <a:p>
            <a:r>
              <a:t>Source: D:\University\Alpha-SQL\LLM_JEV_300_INTERIM_REPORT.md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D:\University\Alpha-SQL\PHASE2_EXPERIMENT_REPORT.md</a:t>
            </a:r>
          </a:p>
          <a:p>
            <a:r>
              <a:t>Source: D:\University\Alpha-SQL\HARD_CASE_PAIRWISE_100_REPORT.md</a:t>
            </a:r>
          </a:p>
          <a:p>
            <a:r>
              <a:t>Source: D:\University\Alpha-SQL\LLM_JEV_300_INTERIM_REPORT.md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D:\University\Alpha-SQL\PHASE2_EXPERIMENT_REPORT.md</a:t>
            </a:r>
          </a:p>
          <a:p>
            <a:r>
              <a:t>MCTS budget: 2 rollouts, max depth 5. The 12 questions were chosen within the constrained compiler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D:\University\Alpha-SQL\LLM_JEV_300_INTERIM_REPORT.md</a:t>
            </a:r>
          </a:p>
          <a:p>
            <a:r>
              <a:t>The 13 missing MCTS questions are due to provider arrearage and five earlier output truncations. Strict 300-way comparison remains incomplete.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D:\University\Alpha-SQL\LLM_JEV_300_INTERIM_REPORT.md</a:t>
            </a:r>
          </a:p>
          <a:p>
            <a:r>
              <a:t>Percent values are reported as percentage points. McNemar/exact binomial p=0.049 on the 17 disagreements.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D:\University\Alpha-SQL\LLM_JEV_300_INTERIM_REPORT.md</a:t>
            </a:r>
          </a:p>
          <a:p>
            <a:r>
              <a:t>MCTS schema evidence is not a pure linker baseline because some stored paths skip the schema-selection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D:\University\Alpha-SQL\LLM_JEV_300_INTERIM_REPORT.md</a:t>
            </a:r>
          </a:p>
          <a:p>
            <a:r>
              <a:t>The slice definition follows the original 12-question experiment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D:\University\Alpha-SQL\LLM_JEV_300_INTERIM_REPORT.md</a:t>
            </a:r>
          </a:p>
          <a:p>
            <a:r>
              <a:t>GapClosure uses the 12-question oracle-to-SC selector gap as denominator: -9/12 = -75%.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D:\University\Alpha-SQL\LLM_JEV_300_INTERIM_REPORT.md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D:\University\Alpha-SQL\HARD_CASE_PAIRWISE_100_REPORT.md</a:t>
            </a:r>
          </a:p>
          <a:p>
            <a:r>
              <a:t>The split is frozen by question ID but is not database-disjoint.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D:\University\Alpha-SQL\HARD_CASE_PAIRWISE_100_REPORT.md</a:t>
            </a:r>
          </a:p>
          <a:p>
            <a:r>
              <a:t>Primary model delta vs SC is -1 point; paired bootstrap 95% CI [-7, +5]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E:\Text2SQL\Curriculum Learning.pdf</a:t>
            </a:r>
          </a:p>
          <a:p>
            <a:r>
              <a:t>E:\Text2SQL\Beyond Random Sampling.pdf</a:t>
            </a:r>
          </a:p>
          <a:p>
            <a:r>
              <a:t>E:\Text2SQL\Difficulty Is Not Enough.pdf</a:t>
            </a:r>
          </a:p>
          <a:p>
            <a:r>
              <a:t>E:\Text2SQL\Enhancing Alignment using Curriculum Learning.pdf</a:t>
            </a:r>
          </a:p>
          <a:p>
            <a:r>
              <a:t>E:\Text2SQL\GradeSQL.pdf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E:\Text2SQL\Curriculum Learning.pdf</a:t>
            </a:r>
          </a:p>
          <a:p>
            <a:r>
              <a:t>Source: E:\Text2SQL\Beyond Random Sampling.pdf</a:t>
            </a:r>
          </a:p>
          <a:p>
            <a:r>
              <a:t>Source: E:\Text2SQL\Difficulty Is Not Enough.pdf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E:\Text2SQL\Enhancing Alignment using Curriculum Learning.pdf</a:t>
            </a:r>
          </a:p>
          <a:p>
            <a:r>
              <a:t>Source: E:\Text2SQL\GradeSQL.pdf</a:t>
            </a:r>
          </a:p>
          <a:p>
            <a:r>
              <a:t>GradeSQL reports BIRD dev ORM-BoN 68.90, Majority Voting 66.95, ex-BoN 66.04, Pass@32 80.57.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D:\University\Alpha-SQL\HARD_CASE_PAIRWISE_100_REPORT.md; E:\Text2SQL\Difficulty Is Not Enough.pdf; E:\Text2SQL\Enhancing Alignment using Curriculum Learning.pdf; E:\Text2SQL\GradeSQL.pdf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D:\University\Alpha-SQL\HARD_CASE_PAIRWISE_100_REPORT.md; E:\Text2SQL\Difficulty Is Not Enough.pdf; E:\Text2SQL\GradeSQL.pdf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D:\University\Alpha-SQL\LLM_JEV_300_INTERIM_REPORT.md; D:\University\Alpha-SQL\HARD_CASE_PAIRWISE_100_REPORT.md; E:\Text2SQL\GradeSQL.pdf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71450" y="0"/>
            <a:ext cx="3429000" cy="6858000"/>
          </a:xfrm>
          <a:prstGeom prst="rect">
            <a:avLst/>
          </a:prstGeom>
          <a:solidFill>
            <a:srgbClr val="E2F1E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14400" y="1095375"/>
            <a:ext cx="6572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40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40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+ Schema-aware</a:t>
            </a:r>
            <a:endParaRPr sz="405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40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 选择实验</a:t>
            </a:r>
            <a:endParaRPr sz="405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52500" y="3076575"/>
            <a:ext cx="685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8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从高召回 Schema Linking，到可验证的候选重排</a:t>
            </a:r>
            <a:endParaRPr sz="18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896350" y="99060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r">
              <a:defRPr sz="150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50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00" b="1" i="0">
              <a:solidFill>
                <a:srgbClr val="E07A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420100" y="1905000"/>
            <a:ext cx="2381250" cy="742950"/>
          </a:xfrm>
          <a:prstGeom prst="roundRect">
            <a:avLst>
              <a:gd name="adj" fmla="val 15385"/>
            </a:avLst>
          </a:prstGeom>
          <a:solidFill>
            <a:srgbClr val="FFFEFA"/>
          </a:solidFill>
          <a:ln w="9525">
            <a:solidFill>
              <a:srgbClr val="D8DFE5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72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72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12题探路</a:t>
            </a:r>
            <a:endParaRPr sz="1725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420100" y="2867025"/>
            <a:ext cx="2381250" cy="742950"/>
          </a:xfrm>
          <a:prstGeom prst="roundRect">
            <a:avLst>
              <a:gd name="adj" fmla="val 15385"/>
            </a:avLst>
          </a:prstGeom>
          <a:solidFill>
            <a:srgbClr val="FFFEFA"/>
          </a:solidFill>
          <a:ln w="9525">
            <a:solidFill>
              <a:srgbClr val="D8DFE5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72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72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300题扩展</a:t>
            </a:r>
            <a:endParaRPr sz="1725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420100" y="3829050"/>
            <a:ext cx="2381250" cy="742950"/>
          </a:xfrm>
          <a:prstGeom prst="roundRect">
            <a:avLst>
              <a:gd name="adj" fmla="val 15385"/>
            </a:avLst>
          </a:prstGeom>
          <a:solidFill>
            <a:srgbClr val="FFFEFA"/>
          </a:solidFill>
          <a:ln w="9525">
            <a:solidFill>
              <a:srgbClr val="D8DFE5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72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72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100题监督重排</a:t>
            </a:r>
            <a:endParaRPr sz="1725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52500" y="57150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>
            <a:defPPr algn="l">
              <a:defRPr sz="14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Dongx Xia · 50062682</a:t>
            </a:r>
            <a:endParaRPr sz="1425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52500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>
            <a:defPPr algn="l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2026-10-13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09600" y="400050"/>
            <a:ext cx="985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>
            <a:def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实验解决的</a:t>
            </a:r>
            <a:r>
              <a: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三个问题</a:t>
            </a:r>
            <a:endParaRPr sz="24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382250" y="45720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718"/>
          </a:bodyPr>
          <a:lstStyle>
            <a:def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</a:t>
            </a:r>
            <a:endParaRPr sz="9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D8DFE5"/>
          </a:solidFill>
          <a:ln w="0">
            <a:noFill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428750"/>
            <a:ext cx="3333750" cy="4000500"/>
          </a:xfrm>
          <a:prstGeom prst="roundRect">
            <a:avLst>
              <a:gd name="adj" fmla="val 3429"/>
            </a:avLst>
          </a:prstGeom>
          <a:solidFill>
            <a:srgbClr val="FFFEFA"/>
          </a:solidFill>
          <a:ln w="13335">
            <a:solidFill>
              <a:srgbClr val="0E7C7B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167640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35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2333625"/>
            <a:ext cx="28003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21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能否替换</a:t>
            </a:r>
            <a:endParaRPr sz="21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1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Schema Linker？</a:t>
            </a:r>
            <a:endParaRPr sz="21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3733800"/>
            <a:ext cx="28003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高表列召回是否等价于高 SQL coverage</a:t>
            </a:r>
            <a:endParaRPr sz="1350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305300" y="1428750"/>
            <a:ext cx="3333750" cy="4000500"/>
          </a:xfrm>
          <a:prstGeom prst="roundRect">
            <a:avLst>
              <a:gd name="adj" fmla="val 3429"/>
            </a:avLst>
          </a:prstGeom>
          <a:solidFill>
            <a:srgbClr val="FFFEFA"/>
          </a:solidFill>
          <a:ln w="13335">
            <a:solidFill>
              <a:srgbClr val="E07A3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572000" y="167640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35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 i="0">
              <a:solidFill>
                <a:srgbClr val="E07A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572000" y="2333625"/>
            <a:ext cx="28003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603"/>
          </a:bodyPr>
          <a:lstStyle>
            <a:defPPr algn="l">
              <a:defRPr sz="21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reranker 能否</a:t>
            </a:r>
            <a:endParaRPr sz="21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1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替换 self-consistency？</a:t>
            </a:r>
            <a:endParaRPr sz="21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572000" y="3733800"/>
            <a:ext cx="28003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固定同一候选池，比较 selector 本身</a:t>
            </a:r>
            <a:endParaRPr sz="1350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001000" y="1428750"/>
            <a:ext cx="3333750" cy="4000500"/>
          </a:xfrm>
          <a:prstGeom prst="roundRect">
            <a:avLst>
              <a:gd name="adj" fmla="val 3429"/>
            </a:avLst>
          </a:prstGeom>
          <a:solidFill>
            <a:srgbClr val="FFFEFA"/>
          </a:solidFill>
          <a:ln w="13335">
            <a:solidFill>
              <a:srgbClr val="0E7C7B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267700" y="167640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35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267700" y="2333625"/>
            <a:ext cx="28003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21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监督式 selector</a:t>
            </a:r>
            <a:endParaRPr sz="21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1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下一步怎样训练？</a:t>
            </a:r>
            <a:endParaRPr sz="21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267700" y="3733800"/>
            <a:ext cx="28003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从五篇 curriculum / ORM 论文得到方案</a:t>
            </a:r>
            <a:endParaRPr sz="1350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809750" y="5810250"/>
            <a:ext cx="8572500" cy="428625"/>
          </a:xfrm>
          <a:prstGeom prst="roundRect">
            <a:avLst>
              <a:gd name="adj" fmla="val 26667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判断标准：分开看 candidate coverage 与 selector accuracy given coverage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648652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>
            <a:def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+ Schema-aware SQL 选择</a:t>
            </a:r>
            <a:endParaRPr sz="8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049000" y="64579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>
            <a:def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00" b="1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609600" y="400050"/>
            <a:ext cx="985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项目最初想法：把生成能力与选择能力拆开</a:t>
            </a:r>
            <a:endParaRPr sz="24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382250" y="45720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718"/>
          </a:bodyPr>
          <a:lstStyle>
            <a:def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系统设计</a:t>
            </a:r>
            <a:endParaRPr sz="9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D8DFE5"/>
          </a:solidFill>
          <a:ln w="0">
            <a:noFill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666750" y="2000250"/>
            <a:ext cx="1809750" cy="857250"/>
          </a:xfrm>
          <a:prstGeom prst="roundRect">
            <a:avLst>
              <a:gd name="adj" fmla="val 13333"/>
            </a:avLst>
          </a:prstGeom>
          <a:solidFill>
            <a:srgbClr val="E4ECF6"/>
          </a:solidFill>
          <a:ln w="9525">
            <a:solidFill>
              <a:srgbClr val="3B6EA8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+ 全量 schema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右箭头 4"/>
          <p:cNvSpPr>
            <a:spLocks noGrp="1"/>
          </p:cNvSpPr>
          <p:nvPr/>
        </p:nvSpPr>
        <p:spPr>
          <a:xfrm>
            <a:off x="2647950" y="2295525"/>
            <a:ext cx="476250" cy="266700"/>
          </a:xfrm>
          <a:prstGeom prst="rightArrow">
            <a:avLst/>
          </a:prstGeom>
          <a:solidFill>
            <a:srgbClr val="AAB5BF"/>
          </a:solidFill>
          <a:ln w="0">
            <a:noFill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3276600" y="2000250"/>
            <a:ext cx="1866900" cy="857250"/>
          </a:xfrm>
          <a:prstGeom prst="roundRect">
            <a:avLst>
              <a:gd name="adj" fmla="val 13333"/>
            </a:avLst>
          </a:prstGeom>
          <a:solidFill>
            <a:srgbClr val="E2F1EF"/>
          </a:solidFill>
          <a:ln w="9525">
            <a:solidFill>
              <a:srgbClr val="0E7C7B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typed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schema decisions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右箭头 6"/>
          <p:cNvSpPr>
            <a:spLocks noGrp="1"/>
          </p:cNvSpPr>
          <p:nvPr/>
        </p:nvSpPr>
        <p:spPr>
          <a:xfrm>
            <a:off x="5295900" y="2295525"/>
            <a:ext cx="476250" cy="266700"/>
          </a:xfrm>
          <a:prstGeom prst="rightArrow">
            <a:avLst/>
          </a:prstGeom>
          <a:solidFill>
            <a:srgbClr val="AAB5BF"/>
          </a:solidFill>
          <a:ln w="0">
            <a:noFill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5924550" y="2000250"/>
            <a:ext cx="1943100" cy="857250"/>
          </a:xfrm>
          <a:prstGeom prst="roundRect">
            <a:avLst>
              <a:gd name="adj" fmla="val 13333"/>
            </a:avLst>
          </a:prstGeom>
          <a:solidFill>
            <a:srgbClr val="F9E8DC"/>
          </a:solidFill>
          <a:ln w="9525">
            <a:solidFill>
              <a:srgbClr val="E07A3F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QueryPlan beam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编译 SQL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8020050" y="2295525"/>
            <a:ext cx="476250" cy="266700"/>
          </a:xfrm>
          <a:prstGeom prst="rightArrow">
            <a:avLst/>
          </a:prstGeom>
          <a:solidFill>
            <a:srgbClr val="AAB5BF"/>
          </a:solidFill>
          <a:ln w="0">
            <a:noFill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648700" y="2000250"/>
            <a:ext cx="1428750" cy="857250"/>
          </a:xfrm>
          <a:prstGeom prst="roundRect">
            <a:avLst>
              <a:gd name="adj" fmla="val 13333"/>
            </a:avLst>
          </a:prstGeom>
          <a:solidFill>
            <a:srgbClr val="EEF1F4"/>
          </a:solidFill>
          <a:ln w="9525">
            <a:solidFill>
              <a:srgbClr val="AAB5BF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SQLite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执行验证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10229850" y="2295525"/>
            <a:ext cx="381000" cy="266700"/>
          </a:xfrm>
          <a:prstGeom prst="rightArrow">
            <a:avLst/>
          </a:prstGeom>
          <a:solidFill>
            <a:srgbClr val="AAB5BF"/>
          </a:solidFill>
          <a:ln w="0">
            <a:noFill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10744200" y="2000250"/>
            <a:ext cx="914400" cy="857250"/>
          </a:xfrm>
          <a:prstGeom prst="roundRect">
            <a:avLst>
              <a:gd name="adj" fmla="val 13333"/>
            </a:avLst>
          </a:prstGeom>
          <a:solidFill>
            <a:srgbClr val="F7E3E0"/>
          </a:solidFill>
          <a:ln w="9525">
            <a:solidFill>
              <a:srgbClr val="C4473A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42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42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</a:t>
            </a:r>
            <a:endParaRPr sz="1425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42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rerank</a:t>
            </a:r>
            <a:endParaRPr sz="1425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66750" y="34766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>
            <a:defPPr algn="l">
              <a:defRPr sz="135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独立对照路径</a:t>
            </a:r>
            <a:endParaRPr sz="1350" b="1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66750" y="3962400"/>
            <a:ext cx="2857500" cy="723900"/>
          </a:xfrm>
          <a:prstGeom prst="roundRect">
            <a:avLst>
              <a:gd name="adj" fmla="val 15789"/>
            </a:avLst>
          </a:prstGeom>
          <a:solidFill>
            <a:srgbClr val="FFFEFA"/>
          </a:solidFill>
          <a:ln w="9525">
            <a:solidFill>
              <a:srgbClr val="3B6EA8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 / MCTS 生成候选池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右箭头 14"/>
          <p:cNvSpPr>
            <a:spLocks noGrp="1"/>
          </p:cNvSpPr>
          <p:nvPr/>
        </p:nvSpPr>
        <p:spPr>
          <a:xfrm>
            <a:off x="3714750" y="4191000"/>
            <a:ext cx="533400" cy="266700"/>
          </a:xfrm>
          <a:prstGeom prst="rightArrow">
            <a:avLst/>
          </a:prstGeom>
          <a:solidFill>
            <a:srgbClr val="3B6EA8"/>
          </a:solidFill>
          <a:ln w="0">
            <a:noFill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4438650" y="3962400"/>
            <a:ext cx="1714500" cy="723900"/>
          </a:xfrm>
          <a:prstGeom prst="roundRect">
            <a:avLst>
              <a:gd name="adj" fmla="val 15789"/>
            </a:avLst>
          </a:prstGeom>
          <a:solidFill>
            <a:srgbClr val="FFFEFA"/>
          </a:solidFill>
          <a:ln w="9525">
            <a:solidFill>
              <a:srgbClr val="D8DFE5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同一候选池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6343650" y="4191000"/>
            <a:ext cx="533400" cy="266700"/>
          </a:xfrm>
          <a:prstGeom prst="rightArrow">
            <a:avLst/>
          </a:prstGeom>
          <a:solidFill>
            <a:srgbClr val="AAB5BF"/>
          </a:solidFill>
          <a:ln w="0">
            <a:noFill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7067550" y="3781425"/>
            <a:ext cx="1962150" cy="1085850"/>
          </a:xfrm>
          <a:prstGeom prst="roundRect">
            <a:avLst>
              <a:gd name="adj" fmla="val 10526"/>
            </a:avLst>
          </a:prstGeom>
          <a:solidFill>
            <a:srgbClr val="E3F1E8"/>
          </a:solidFill>
          <a:ln w="9525">
            <a:solidFill>
              <a:srgbClr val="2E8B57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execution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self-consistency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239250" y="41529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/>
          </a:bodyPr>
          <a:lstStyle>
            <a:defPPr algn="ctr">
              <a:defRPr sz="15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</a:t>
            </a:r>
            <a:endParaRPr sz="1500" b="1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867900" y="3781425"/>
            <a:ext cx="1790700" cy="1085850"/>
          </a:xfrm>
          <a:prstGeom prst="roundRect">
            <a:avLst>
              <a:gd name="adj" fmla="val 10526"/>
            </a:avLst>
          </a:prstGeom>
          <a:solidFill>
            <a:srgbClr val="F7E3E0"/>
          </a:solidFill>
          <a:ln w="9525">
            <a:solidFill>
              <a:srgbClr val="C4473A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schema-aware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reranker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2590800" y="5572125"/>
            <a:ext cx="7010400" cy="476250"/>
          </a:xfrm>
          <a:prstGeom prst="roundRect">
            <a:avLst>
              <a:gd name="adj" fmla="val 24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关键：Jev 不是生成模型，也不替换现有 Qwen/OpenAI 路径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648652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>
            <a:def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+ Schema-aware SQL 选择</a:t>
            </a:r>
            <a:endParaRPr sz="8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049000" y="64579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>
            <a:def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00" b="1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609600" y="400050"/>
            <a:ext cx="985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三步实验路线：先定位问题，再训练 selector</a:t>
            </a:r>
            <a:endParaRPr sz="24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382250" y="45720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718"/>
          </a:bodyPr>
          <a:lstStyle>
            <a:def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实验路线</a:t>
            </a:r>
            <a:endParaRPr sz="9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D8DFE5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333500" y="2943225"/>
            <a:ext cx="9525000" cy="38100"/>
          </a:xfrm>
          <a:prstGeom prst="rect">
            <a:avLst/>
          </a:prstGeom>
          <a:solidFill>
            <a:srgbClr val="D8DFE5"/>
          </a:solidFill>
          <a:ln w="0">
            <a:noFill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2552700" y="2657475"/>
            <a:ext cx="609600" cy="609600"/>
          </a:xfrm>
          <a:prstGeom prst="ellipse">
            <a:avLst/>
          </a:prstGeom>
          <a:solidFill>
            <a:srgbClr val="3B6EA8"/>
          </a:solidFill>
          <a:ln w="38100">
            <a:solidFill>
              <a:srgbClr val="FFFFFF"/>
            </a:solidFill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1428750" y="1409700"/>
            <a:ext cx="2857500" cy="1047750"/>
          </a:xfrm>
          <a:prstGeom prst="roundRect">
            <a:avLst>
              <a:gd name="adj" fmla="val 10909"/>
            </a:avLst>
          </a:prstGeom>
          <a:solidFill>
            <a:srgbClr val="E4ECF6"/>
          </a:solidFill>
          <a:ln w="11430">
            <a:solidFill>
              <a:srgbClr val="3B6EA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619250" y="158115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654"/>
          </a:bodyPr>
          <a:lstStyle>
            <a:defPPr algn="ctr">
              <a:defRPr sz="2025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025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12题</a:t>
            </a:r>
            <a:endParaRPr sz="2025" b="1" i="0">
              <a:solidFill>
                <a:srgbClr val="3B6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619250" y="19812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>
            <a:defPPr algn="ctr">
              <a:def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受约束探路</a:t>
            </a:r>
            <a:endParaRPr sz="135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71625" y="3619500"/>
            <a:ext cx="2571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4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4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 pipeline 可跑通</a:t>
            </a:r>
            <a:endParaRPr sz="14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4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 linker / compiler / reranker</a:t>
            </a:r>
            <a:endParaRPr sz="14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5791200" y="2657475"/>
            <a:ext cx="609600" cy="609600"/>
          </a:xfrm>
          <a:prstGeom prst="ellipse">
            <a:avLst/>
          </a:prstGeom>
          <a:solidFill>
            <a:srgbClr val="0E7C7B"/>
          </a:solidFill>
          <a:ln w="38100">
            <a:solidFill>
              <a:srgbClr val="FFFFFF"/>
            </a:solidFill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4667250" y="1409700"/>
            <a:ext cx="2857500" cy="1047750"/>
          </a:xfrm>
          <a:prstGeom prst="roundRect">
            <a:avLst>
              <a:gd name="adj" fmla="val 10909"/>
            </a:avLst>
          </a:prstGeom>
          <a:solidFill>
            <a:srgbClr val="E2F1EF"/>
          </a:solidFill>
          <a:ln w="11430">
            <a:solidFill>
              <a:srgbClr val="0E7C7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857750" y="158115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654"/>
          </a:bodyPr>
          <a:lstStyle>
            <a:defPPr algn="ctr">
              <a:defRPr sz="202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02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300题</a:t>
            </a:r>
            <a:endParaRPr sz="202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857750" y="19812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>
            <a:defPPr algn="ctr">
              <a:def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扩展与分解</a:t>
            </a:r>
            <a:endParaRPr sz="135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810125" y="3619500"/>
            <a:ext cx="2571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4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4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区分能力范围</a:t>
            </a:r>
            <a:endParaRPr sz="14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4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固定候选池比较 selector</a:t>
            </a:r>
            <a:endParaRPr sz="14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9029700" y="2657475"/>
            <a:ext cx="609600" cy="609600"/>
          </a:xfrm>
          <a:prstGeom prst="ellipse">
            <a:avLst/>
          </a:prstGeom>
          <a:solidFill>
            <a:srgbClr val="E07A3F"/>
          </a:solidFill>
          <a:ln w="38100">
            <a:solidFill>
              <a:srgbClr val="FFFFFF"/>
            </a:solidFill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7905750" y="1409700"/>
            <a:ext cx="2857500" cy="1047750"/>
          </a:xfrm>
          <a:prstGeom prst="roundRect">
            <a:avLst>
              <a:gd name="adj" fmla="val 10909"/>
            </a:avLst>
          </a:prstGeom>
          <a:solidFill>
            <a:srgbClr val="F9E8DC"/>
          </a:solidFill>
          <a:ln w="11430">
            <a:solidFill>
              <a:srgbClr val="E07A3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096250" y="158115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654"/>
          </a:bodyPr>
          <a:lstStyle>
            <a:defPPr algn="ctr">
              <a:defRPr sz="2025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025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100题</a:t>
            </a:r>
            <a:endParaRPr sz="2025" b="1" i="0">
              <a:solidFill>
                <a:srgbClr val="E07A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96250" y="19812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>
            <a:defPPr algn="ctr">
              <a:def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监督式 pairwise</a:t>
            </a:r>
            <a:endParaRPr sz="135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048625" y="3619500"/>
            <a:ext cx="2571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4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4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筛 hard cases</a:t>
            </a:r>
            <a:endParaRPr sz="14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4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 SC 特征并做 confidence gate</a:t>
            </a:r>
            <a:endParaRPr sz="14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524000" y="5334000"/>
            <a:ext cx="9144000" cy="571500"/>
          </a:xfrm>
          <a:prstGeom prst="roundRect">
            <a:avLst>
              <a:gd name="adj" fmla="val 20000"/>
            </a:avLst>
          </a:prstGeom>
          <a:solidFill>
            <a:srgbClr val="FFFEFA"/>
          </a:solidFill>
          <a:ln w="9525">
            <a:solidFill>
              <a:srgbClr val="D8DFE5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结论演进：能跑通 → 找到真正瓶颈 → 证明监督信号存在但安全性不足</a:t>
            </a:r>
            <a:endParaRPr sz="1575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48652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>
            <a:def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+ Schema-aware SQL 选择</a:t>
            </a:r>
            <a:endParaRPr sz="8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049000" y="64579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>
            <a:def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00" b="1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609600" y="400050"/>
            <a:ext cx="985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12题探路：Jev 有选择信号，但不能直接替换 SC</a:t>
            </a:r>
            <a:endParaRPr sz="24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382250" y="45720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718"/>
          </a:bodyPr>
          <a:lstStyle>
            <a:def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阶段一</a:t>
            </a:r>
            <a:endParaRPr sz="9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D8DFE5"/>
          </a:solidFill>
          <a:ln w="0">
            <a:noFill/>
          </a:ln>
        </p:spPr>
      </p:sp>
      <p:graphicFrame>
        <p:nvGraphicFramePr>
          <p:cNvPr id="4" name="表格 3"/>
          <p:cNvGraphicFramePr/>
          <p:nvPr/>
        </p:nvGraphicFramePr>
        <p:xfrm>
          <a:off x="609600" y="1428750"/>
          <a:ext cx="7048500" cy="2857500"/>
        </p:xfrm>
        <a:graphic>
          <a:graphicData uri="http://schemas.openxmlformats.org/drawingml/2006/table">
            <a:tbl>
              <a:tblPr/>
              <a:tblGrid>
                <a:gridCol w="3429000"/>
                <a:gridCol w="1809750"/>
                <a:gridCol w="1809750"/>
              </a:tblGrid>
              <a:tr h="714375">
                <a:tc>
                  <a:txBody>
                    <a:bodyPr/>
                    <a:lstStyle/>
                    <a:p>
                      <a:r>
                        <a:t>方法</a:t>
                      </a:r>
                    </a:p>
                  </a:txBody>
                  <a:tcPr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Final EX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MCTS + self-consistency</a:t>
                      </a:r>
                    </a:p>
                  </a:txBody>
                  <a:tcPr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12/12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12/12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Jev constrained pipeline</a:t>
                      </a:r>
                    </a:p>
                  </a:txBody>
                  <a:tcPr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8/12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8/12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MCTS pool + Jev reranker</a:t>
                      </a:r>
                    </a:p>
                  </a:txBody>
                  <a:tcPr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12/12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11/12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圆角矩形 4"/>
          <p:cNvSpPr>
            <a:spLocks noGrp="1"/>
          </p:cNvSpPr>
          <p:nvPr/>
        </p:nvSpPr>
        <p:spPr>
          <a:xfrm>
            <a:off x="8096250" y="1428750"/>
            <a:ext cx="3429000" cy="1123950"/>
          </a:xfrm>
          <a:prstGeom prst="roundRect">
            <a:avLst>
              <a:gd name="adj" fmla="val 10169"/>
            </a:avLst>
          </a:prstGeom>
          <a:solidFill>
            <a:srgbClr val="E2F1EF"/>
          </a:solidFill>
          <a:ln w="11430">
            <a:solidFill>
              <a:srgbClr val="0E7C7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229600" y="1543050"/>
            <a:ext cx="3162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→ 8</a:t>
            </a:r>
            <a:endParaRPr sz="2550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229600" y="2019300"/>
            <a:ext cx="3162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自有候选池：top-beam 到 rerank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096250" y="2781300"/>
            <a:ext cx="3429000" cy="1123950"/>
          </a:xfrm>
          <a:prstGeom prst="roundRect">
            <a:avLst>
              <a:gd name="adj" fmla="val 10169"/>
            </a:avLst>
          </a:prstGeom>
          <a:solidFill>
            <a:srgbClr val="F7E3E0"/>
          </a:solidFill>
          <a:ln w="11430">
            <a:solidFill>
              <a:srgbClr val="C4473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229600" y="2895600"/>
            <a:ext cx="3162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→ 11</a:t>
            </a:r>
            <a:endParaRPr sz="2550" b="1" i="0">
              <a:solidFill>
                <a:srgbClr val="C4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229600" y="3371850"/>
            <a:ext cx="3162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 MCTS 池：一次改选造成回归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09600" y="4686300"/>
            <a:ext cx="10915650" cy="781050"/>
          </a:xfrm>
          <a:prstGeom prst="roundRect">
            <a:avLst>
              <a:gd name="adj" fmla="val 14634"/>
            </a:avLst>
          </a:prstGeom>
          <a:solidFill>
            <a:srgbClr val="FFFEFA"/>
          </a:solidFill>
          <a:ln w="9525">
            <a:solidFill>
              <a:srgbClr val="E07A3F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个 Jev coverage miss 均已召回正确表列，错误来自 DISTINCT 与 literal / 阈值组合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57531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4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4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小样本能证明 reranker 有信息，不能证明它比强 SC baseline 更可靠。</a:t>
            </a:r>
            <a:endParaRPr sz="14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48652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>
            <a:def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+ Schema-aware SQL 选择</a:t>
            </a:r>
            <a:endParaRPr sz="8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049000" y="64579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>
            <a:def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00" b="1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矩形 27"/>
          <p:cNvSpPr>
            <a:spLocks noGrp="1"/>
          </p:cNvSpPr>
          <p:nvPr/>
        </p:nvSpPr>
        <p:spPr>
          <a:xfrm>
            <a:off x="609600" y="400050"/>
            <a:ext cx="985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300题扩展：先把可比边界说清楚</a:t>
            </a:r>
            <a:endParaRPr sz="24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382250" y="45720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718"/>
          </a:bodyPr>
          <a:lstStyle>
            <a:def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阶段二</a:t>
            </a:r>
            <a:endParaRPr sz="9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D8DFE5"/>
          </a:solidFill>
          <a:ln w="0">
            <a:noFill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666750" y="1428750"/>
            <a:ext cx="2286000" cy="1143000"/>
          </a:xfrm>
          <a:prstGeom prst="roundRect">
            <a:avLst>
              <a:gd name="adj" fmla="val 10000"/>
            </a:avLst>
          </a:prstGeom>
          <a:solidFill>
            <a:srgbClr val="E4ECF6"/>
          </a:solidFill>
          <a:ln w="11430">
            <a:solidFill>
              <a:srgbClr val="3B6EA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1543050"/>
            <a:ext cx="2019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</a:t>
            </a:r>
            <a:endParaRPr sz="2550" b="1" i="0">
              <a:solidFill>
                <a:srgbClr val="3B6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201930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冻结、gold 可本地执行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右箭头 6"/>
          <p:cNvSpPr>
            <a:spLocks noGrp="1"/>
          </p:cNvSpPr>
          <p:nvPr/>
        </p:nvSpPr>
        <p:spPr>
          <a:xfrm>
            <a:off x="3143250" y="1847850"/>
            <a:ext cx="590550" cy="285750"/>
          </a:xfrm>
          <a:prstGeom prst="rightArrow">
            <a:avLst/>
          </a:prstGeom>
          <a:solidFill>
            <a:srgbClr val="AAB5BF"/>
          </a:solidFill>
          <a:ln w="0">
            <a:noFill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3924300" y="1428750"/>
            <a:ext cx="2286000" cy="1143000"/>
          </a:xfrm>
          <a:prstGeom prst="roundRect">
            <a:avLst>
              <a:gd name="adj" fmla="val 10000"/>
            </a:avLst>
          </a:prstGeom>
          <a:solidFill>
            <a:srgbClr val="E2F1EF"/>
          </a:solidFill>
          <a:ln w="11430">
            <a:solidFill>
              <a:srgbClr val="0E7C7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057650" y="1543050"/>
            <a:ext cx="2019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300/300</a:t>
            </a:r>
            <a:endParaRPr sz="2550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057650" y="201930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native 完成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6400800" y="1847850"/>
            <a:ext cx="590550" cy="285750"/>
          </a:xfrm>
          <a:prstGeom prst="rightArrow">
            <a:avLst/>
          </a:prstGeom>
          <a:solidFill>
            <a:srgbClr val="AAB5BF"/>
          </a:solidFill>
          <a:ln w="0">
            <a:noFill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7181850" y="1428750"/>
            <a:ext cx="2286000" cy="1143000"/>
          </a:xfrm>
          <a:prstGeom prst="roundRect">
            <a:avLst>
              <a:gd name="adj" fmla="val 10000"/>
            </a:avLst>
          </a:prstGeom>
          <a:solidFill>
            <a:srgbClr val="F9E8DC"/>
          </a:solidFill>
          <a:ln w="11430">
            <a:solidFill>
              <a:srgbClr val="E07A3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315200" y="1543050"/>
            <a:ext cx="2019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287/300</a:t>
            </a:r>
            <a:endParaRPr sz="2550" b="1" i="0">
              <a:solidFill>
                <a:srgbClr val="E07A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315200" y="201930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MCTS 完成，共同集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右箭头 14"/>
          <p:cNvSpPr>
            <a:spLocks noGrp="1"/>
          </p:cNvSpPr>
          <p:nvPr/>
        </p:nvSpPr>
        <p:spPr>
          <a:xfrm>
            <a:off x="9658350" y="1847850"/>
            <a:ext cx="590550" cy="285750"/>
          </a:xfrm>
          <a:prstGeom prst="rightArrow">
            <a:avLst/>
          </a:prstGeom>
          <a:solidFill>
            <a:srgbClr val="AAB5BF"/>
          </a:solidFill>
          <a:ln w="0">
            <a:noFill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10439400" y="1428750"/>
            <a:ext cx="1143000" cy="1143000"/>
          </a:xfrm>
          <a:prstGeom prst="roundRect">
            <a:avLst>
              <a:gd name="adj" fmla="val 10000"/>
            </a:avLst>
          </a:prstGeom>
          <a:solidFill>
            <a:srgbClr val="F7E3E0"/>
          </a:solidFill>
          <a:ln w="11430">
            <a:solidFill>
              <a:srgbClr val="C4473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0572750" y="1543050"/>
            <a:ext cx="876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2550" b="1" i="0">
              <a:solidFill>
                <a:srgbClr val="C4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572750" y="2019300"/>
            <a:ext cx="87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333"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欠费/截断待补跑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1333500" y="3562350"/>
            <a:ext cx="2381250" cy="857250"/>
          </a:xfrm>
          <a:prstGeom prst="roundRect">
            <a:avLst>
              <a:gd name="adj" fmla="val 13333"/>
            </a:avLst>
          </a:prstGeom>
          <a:solidFill>
            <a:srgbClr val="E2F1EF"/>
          </a:solidFill>
          <a:ln w="9525">
            <a:solidFill>
              <a:srgbClr val="0E7C7B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2550" b="1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83 题</a:t>
            </a:r>
            <a:endParaRPr sz="2550" b="1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333500" y="45148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 compiler 范围内</a:t>
            </a:r>
            <a:endParaRPr sz="135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4857750" y="3562350"/>
            <a:ext cx="2381250" cy="857250"/>
          </a:xfrm>
          <a:prstGeom prst="roundRect">
            <a:avLst>
              <a:gd name="adj" fmla="val 13333"/>
            </a:avLst>
          </a:prstGeom>
          <a:solidFill>
            <a:srgbClr val="F9E8DC"/>
          </a:solidFill>
          <a:ln w="9525">
            <a:solidFill>
              <a:srgbClr val="E07A3F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2550" b="1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217 题</a:t>
            </a:r>
            <a:endParaRPr sz="2550" b="1">
              <a:solidFill>
                <a:srgbClr val="E07A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667250" y="45148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包含尚未建模的 SQL 结构</a:t>
            </a:r>
            <a:endParaRPr sz="135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382000" y="3562350"/>
            <a:ext cx="2381250" cy="857250"/>
          </a:xfrm>
          <a:prstGeom prst="roundRect">
            <a:avLst>
              <a:gd name="adj" fmla="val 13333"/>
            </a:avLst>
          </a:prstGeom>
          <a:solidFill>
            <a:srgbClr val="E4ECF6"/>
          </a:solidFill>
          <a:ln w="9525">
            <a:solidFill>
              <a:srgbClr val="3B6EA8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2550" b="1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287 题</a:t>
            </a:r>
            <a:endParaRPr sz="2550" b="1">
              <a:solidFill>
                <a:srgbClr val="3B6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382000" y="45148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三路方法严格可比</a:t>
            </a:r>
            <a:endParaRPr sz="135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466850" y="5467350"/>
            <a:ext cx="9258300" cy="552450"/>
          </a:xfrm>
          <a:prstGeom prst="roundRect">
            <a:avLst>
              <a:gd name="adj" fmla="val 2069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报告口径：Jev 用完整 300；方法对比用共同 287；不把缺失 13 题伪装成最终结果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648652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>
            <a:def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+ Schema-aware SQL 选择</a:t>
            </a:r>
            <a:endParaRPr sz="8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049000" y="64579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>
            <a:def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00" b="1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609600" y="400050"/>
            <a:ext cx="985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共同287题：MCTS coverage 是优势，Jev 直接重排会下降</a:t>
            </a:r>
            <a:endParaRPr sz="24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382250" y="45720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718"/>
          </a:bodyPr>
          <a:lstStyle>
            <a:def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核心结果</a:t>
            </a:r>
            <a:endParaRPr sz="9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D8DFE5"/>
          </a:solidFill>
          <a:ln w="0">
            <a:noFill/>
          </a:ln>
        </p:spPr>
      </p:sp>
      <p:graphicFrame>
        <p:nvGraphicFramePr>
          <p:cNvPr id="4" name="Chart"/>
          <p:cNvGraphicFramePr/>
          <p:nvPr/>
        </p:nvGraphicFramePr>
        <p:xfrm>
          <a:off x="609600" y="1428750"/>
          <a:ext cx="733425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圆角矩形 4"/>
          <p:cNvSpPr>
            <a:spLocks noGrp="1"/>
          </p:cNvSpPr>
          <p:nvPr/>
        </p:nvSpPr>
        <p:spPr>
          <a:xfrm>
            <a:off x="8286750" y="1504950"/>
            <a:ext cx="3143250" cy="1143000"/>
          </a:xfrm>
          <a:prstGeom prst="roundRect">
            <a:avLst>
              <a:gd name="adj" fmla="val 10000"/>
            </a:avLst>
          </a:prstGeom>
          <a:solidFill>
            <a:srgbClr val="F7E3E0"/>
          </a:solidFill>
          <a:ln w="11430">
            <a:solidFill>
              <a:srgbClr val="C4473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420100" y="1619250"/>
            <a:ext cx="2876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-3.14 pp</a:t>
            </a:r>
            <a:endParaRPr sz="2550" b="1" i="0">
              <a:solidFill>
                <a:srgbClr val="C4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420100" y="209550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Jev-on-MCTS 相对 SC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286750" y="2876550"/>
            <a:ext cx="3143250" cy="1143000"/>
          </a:xfrm>
          <a:prstGeom prst="roundRect">
            <a:avLst>
              <a:gd name="adj" fmla="val 10000"/>
            </a:avLst>
          </a:prstGeom>
          <a:solidFill>
            <a:srgbClr val="F7E3E0"/>
          </a:solidFill>
          <a:ln w="11430">
            <a:solidFill>
              <a:srgbClr val="C4473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420100" y="2990850"/>
            <a:ext cx="2876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[-5.92, -0.35]</a:t>
            </a:r>
            <a:endParaRPr sz="2550" b="1" i="0">
              <a:solidFill>
                <a:srgbClr val="C4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420100" y="346710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paired bootstrap 95% CI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134350" y="4514850"/>
            <a:ext cx="3429000" cy="990600"/>
          </a:xfrm>
          <a:prstGeom prst="roundRect">
            <a:avLst>
              <a:gd name="adj" fmla="val 11538"/>
            </a:avLst>
          </a:prstGeom>
          <a:solidFill>
            <a:srgbClr val="FFFEFA"/>
          </a:solidFill>
          <a:ln w="9525">
            <a:solidFill>
              <a:srgbClr val="C4473A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75" b="1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当前证据支持：无监督 Jev reranker 不应直接替换 execution self-consistency</a:t>
            </a:r>
            <a:endParaRPr sz="1575" b="1">
              <a:solidFill>
                <a:srgbClr val="C4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648652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>
            <a:def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+ Schema-aware SQL 选择</a:t>
            </a:r>
            <a:endParaRPr sz="8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49000" y="64579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>
            <a:def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00" b="1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609600" y="400050"/>
            <a:ext cx="985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>
            <a:def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Schema Linking </a:t>
            </a:r>
            <a:r>
              <a:rPr lang="zh-CN"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召回能力强（？），但会引入不相关的</a:t>
            </a:r>
            <a:r>
              <a:rPr lang="zh-CN"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列表</a:t>
            </a:r>
            <a:endParaRPr lang="zh-CN" sz="24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382250" y="45720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718"/>
          </a:bodyPr>
          <a:lstStyle>
            <a:def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瓶颈诊断</a:t>
            </a:r>
            <a:endParaRPr sz="9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D8DFE5"/>
          </a:solidFill>
          <a:ln w="0">
            <a:noFill/>
          </a:ln>
        </p:spPr>
      </p:sp>
      <p:graphicFrame>
        <p:nvGraphicFramePr>
          <p:cNvPr id="4" name="Chart"/>
          <p:cNvGraphicFramePr/>
          <p:nvPr/>
        </p:nvGraphicFramePr>
        <p:xfrm>
          <a:off x="609600" y="1447800"/>
          <a:ext cx="7239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圆角矩形 4"/>
          <p:cNvSpPr>
            <a:spLocks noGrp="1"/>
          </p:cNvSpPr>
          <p:nvPr/>
        </p:nvSpPr>
        <p:spPr>
          <a:xfrm>
            <a:off x="8286750" y="1571625"/>
            <a:ext cx="3143250" cy="1200150"/>
          </a:xfrm>
          <a:prstGeom prst="roundRect">
            <a:avLst>
              <a:gd name="adj" fmla="val 9524"/>
            </a:avLst>
          </a:prstGeom>
          <a:solidFill>
            <a:srgbClr val="E2F1EF"/>
          </a:solidFill>
          <a:ln w="11430">
            <a:solidFill>
              <a:srgbClr val="0E7C7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420100" y="1685925"/>
            <a:ext cx="2876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181 / 203</a:t>
            </a:r>
            <a:endParaRPr sz="2550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420100" y="2162175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coverage miss 仍完整召回 gold 表列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286750" y="3048000"/>
            <a:ext cx="3143250" cy="1200150"/>
          </a:xfrm>
          <a:prstGeom prst="roundRect">
            <a:avLst>
              <a:gd name="adj" fmla="val 9524"/>
            </a:avLst>
          </a:prstGeom>
          <a:solidFill>
            <a:srgbClr val="F9E8DC"/>
          </a:solidFill>
          <a:ln w="11430">
            <a:solidFill>
              <a:srgbClr val="E07A3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420100" y="3162300"/>
            <a:ext cx="2876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 / 203</a:t>
            </a:r>
            <a:endParaRPr sz="2550" b="1" i="0">
              <a:solidFill>
                <a:srgbClr val="E07A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420100" y="363855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 schema recall 不完整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81050" y="5772150"/>
            <a:ext cx="10629900" cy="457200"/>
          </a:xfrm>
          <a:prstGeom prst="roundRect">
            <a:avLst>
              <a:gd name="adj" fmla="val 25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资源优先级：QueryPlan / compiler / literal / operator  &gt;  再训练表列二分类器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648652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>
            <a:def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+ Schema-aware SQL 选择</a:t>
            </a:r>
            <a:endParaRPr sz="8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49000" y="64579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>
            <a:def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00" b="1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609600" y="400050"/>
            <a:ext cx="985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constrained 的主瓶颈是能力范围，不是语义召回</a:t>
            </a:r>
            <a:endParaRPr sz="24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382250" y="45720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718"/>
          </a:bodyPr>
          <a:lstStyle>
            <a:def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能力范围</a:t>
            </a:r>
            <a:endParaRPr sz="9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D8DFE5"/>
          </a:solidFill>
          <a:ln w="0">
            <a:noFill/>
          </a:ln>
        </p:spPr>
      </p:sp>
      <p:graphicFrame>
        <p:nvGraphicFramePr>
          <p:cNvPr id="4" name="Chart"/>
          <p:cNvGraphicFramePr/>
          <p:nvPr/>
        </p:nvGraphicFramePr>
        <p:xfrm>
          <a:off x="609600" y="1381125"/>
          <a:ext cx="66675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7858125" y="14668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>
            <a:defPPr algn="l">
              <a:defRPr sz="1725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当前尚未完整建模</a:t>
            </a:r>
            <a:endParaRPr sz="1725" b="1" i="0">
              <a:solidFill>
                <a:srgbClr val="E07A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905750" y="2000250"/>
            <a:ext cx="3429000" cy="2905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多投影、多过滤与复杂布尔条件</a:t>
            </a:r>
            <a:endParaRPr sz="1425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子查询与集合操作</a:t>
            </a:r>
            <a:endParaRPr sz="1425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GROUP BY / HAVING</a:t>
            </a:r>
            <a:endParaRPr sz="1425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ORDER BY / LIMIT</a:t>
            </a:r>
            <a:endParaRPr sz="1425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CASE、日期与字符串表达式</a:t>
            </a:r>
            <a:endParaRPr sz="1425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literal、类型转换与聚合层级</a:t>
            </a:r>
            <a:endParaRPr sz="1425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562850" y="5143500"/>
            <a:ext cx="3905250" cy="666750"/>
          </a:xfrm>
          <a:prstGeom prst="roundRect">
            <a:avLst>
              <a:gd name="adj" fmla="val 17143"/>
            </a:avLst>
          </a:prstGeom>
          <a:solidFill>
            <a:srgbClr val="F9E8DC"/>
          </a:solidFill>
          <a:ln w="9525">
            <a:solidFill>
              <a:srgbClr val="E07A3F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425" b="1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425" b="1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范围内 EX 74.7%：说明 12 题结果不是偶然，但系统还不是通用生成器</a:t>
            </a:r>
            <a:endParaRPr sz="1425" b="1">
              <a:solidFill>
                <a:srgbClr val="E07A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648652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>
            <a:def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+ Schema-aware SQL 选择</a:t>
            </a:r>
            <a:endParaRPr sz="8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049000" y="64579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>
            <a:def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00" b="1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609600" y="400050"/>
            <a:ext cx="985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Selector 的真实差距：修复 4 题，但回归 13 题</a:t>
            </a:r>
            <a:endParaRPr sz="24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382250" y="45720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718"/>
          </a:bodyPr>
          <a:lstStyle>
            <a:def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选择器</a:t>
            </a:r>
            <a:endParaRPr sz="9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D8DFE5"/>
          </a:solidFill>
          <a:ln w="0">
            <a:noFill/>
          </a:ln>
        </p:spPr>
      </p:sp>
      <p:graphicFrame>
        <p:nvGraphicFramePr>
          <p:cNvPr id="4" name="Chart"/>
          <p:cNvGraphicFramePr/>
          <p:nvPr/>
        </p:nvGraphicFramePr>
        <p:xfrm>
          <a:off x="609600" y="1447800"/>
          <a:ext cx="590550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圆角矩形 4"/>
          <p:cNvSpPr>
            <a:spLocks noGrp="1"/>
          </p:cNvSpPr>
          <p:nvPr/>
        </p:nvSpPr>
        <p:spPr>
          <a:xfrm>
            <a:off x="7143750" y="1524000"/>
            <a:ext cx="1905000" cy="1123950"/>
          </a:xfrm>
          <a:prstGeom prst="roundRect">
            <a:avLst>
              <a:gd name="adj" fmla="val 10169"/>
            </a:avLst>
          </a:prstGeom>
          <a:solidFill>
            <a:srgbClr val="E3F1E8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277100" y="1638300"/>
            <a:ext cx="1638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2550" b="1" i="0">
              <a:solidFill>
                <a:srgbClr val="2E8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77100" y="2114550"/>
            <a:ext cx="1638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修复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334500" y="1524000"/>
            <a:ext cx="1905000" cy="1123950"/>
          </a:xfrm>
          <a:prstGeom prst="roundRect">
            <a:avLst>
              <a:gd name="adj" fmla="val 10169"/>
            </a:avLst>
          </a:prstGeom>
          <a:solidFill>
            <a:srgbClr val="F7E3E0"/>
          </a:solidFill>
          <a:ln w="11430">
            <a:solidFill>
              <a:srgbClr val="C4473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467850" y="1638300"/>
            <a:ext cx="1638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2550" b="1" i="0">
              <a:solidFill>
                <a:srgbClr val="C4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467850" y="2114550"/>
            <a:ext cx="1638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回归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143750" y="2905125"/>
            <a:ext cx="1905000" cy="1123950"/>
          </a:xfrm>
          <a:prstGeom prst="roundRect">
            <a:avLst>
              <a:gd name="adj" fmla="val 10169"/>
            </a:avLst>
          </a:prstGeom>
          <a:solidFill>
            <a:srgbClr val="E4ECF6"/>
          </a:solidFill>
          <a:ln w="11430">
            <a:solidFill>
              <a:srgbClr val="3B6EA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277100" y="3019425"/>
            <a:ext cx="1638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94.76%</a:t>
            </a:r>
            <a:endParaRPr sz="2550" b="1" i="0">
              <a:solidFill>
                <a:srgbClr val="3B6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277100" y="3495675"/>
            <a:ext cx="1638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117"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 在 coverage 内选对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9334500" y="2905125"/>
            <a:ext cx="1905000" cy="1123950"/>
          </a:xfrm>
          <a:prstGeom prst="roundRect">
            <a:avLst>
              <a:gd name="adj" fmla="val 10169"/>
            </a:avLst>
          </a:prstGeom>
          <a:solidFill>
            <a:srgbClr val="F9E8DC"/>
          </a:solidFill>
          <a:ln w="11430">
            <a:solidFill>
              <a:srgbClr val="E07A3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467850" y="3019425"/>
            <a:ext cx="1638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90.83%</a:t>
            </a:r>
            <a:endParaRPr sz="2550" b="1" i="0">
              <a:solidFill>
                <a:srgbClr val="E07A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467850" y="3495675"/>
            <a:ext cx="1638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983"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在 coverage 内选对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1581150" y="5048250"/>
            <a:ext cx="3143250" cy="666750"/>
          </a:xfrm>
          <a:prstGeom prst="roundRect">
            <a:avLst>
              <a:gd name="adj" fmla="val 17143"/>
            </a:avLst>
          </a:prstGeom>
          <a:solidFill>
            <a:srgbClr val="F7E3E0"/>
          </a:solidFill>
          <a:ln w="9525">
            <a:solidFill>
              <a:srgbClr val="C4473A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2100" b="1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100" b="1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GapClosure = -75%</a:t>
            </a:r>
            <a:endParaRPr sz="2100" b="1">
              <a:solidFill>
                <a:srgbClr val="C4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048250" y="5153025"/>
            <a:ext cx="638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5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不是缺少改选能力，而是缺少“何时不要改选”的监督。</a:t>
            </a:r>
            <a:endParaRPr sz="15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648652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>
            <a:def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+ Schema-aware SQL 选择</a:t>
            </a:r>
            <a:endParaRPr sz="8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049000" y="64579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>
            <a:def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00" b="1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609600" y="400050"/>
            <a:ext cx="985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错误不是随机的：通用语义与 benchmark 约定发生冲突</a:t>
            </a:r>
            <a:endParaRPr sz="24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382250" y="45720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718"/>
          </a:bodyPr>
          <a:lstStyle>
            <a:def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逐题分析</a:t>
            </a:r>
            <a:endParaRPr sz="9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D8DFE5"/>
          </a:solidFill>
          <a:ln w="0">
            <a:noFill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390650"/>
            <a:ext cx="5162550" cy="4476750"/>
          </a:xfrm>
          <a:prstGeom prst="roundRect">
            <a:avLst>
              <a:gd name="adj" fmla="val 2553"/>
            </a:avLst>
          </a:prstGeom>
          <a:solidFill>
            <a:srgbClr val="E3F1E8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1628775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827"/>
          </a:bodyPr>
          <a:lstStyle>
            <a:defPPr algn="l">
              <a:defRPr sz="2025" b="1" i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1" i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修复的 4 题</a:t>
            </a:r>
            <a:endParaRPr sz="2025" b="1" i="0">
              <a:solidFill>
                <a:srgbClr val="2E8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2228850"/>
            <a:ext cx="45148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28600" indent="-114300">
              <a:spcAft>
                <a:spcPts val="1300"/>
              </a:spcAft>
              <a:buChar char="•"/>
              <a:def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210：COUNT(*) → SUM(qty)，修复计量对象</a:t>
            </a:r>
            <a:endParaRPr sz="1425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1300"/>
              </a:spcAft>
              <a:buChar char="•"/>
              <a:def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3099：&gt;= → &gt;，匹配严格比较</a:t>
            </a:r>
            <a:endParaRPr sz="1425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1300"/>
              </a:spcAft>
              <a:buChar char="•"/>
              <a:def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8963：US$ 字符串先转数值再求最大</a:t>
            </a:r>
            <a:endParaRPr sz="1425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1300"/>
              </a:spcAft>
              <a:buChar char="•"/>
              <a:def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2481：修复年份上界的执行约定</a:t>
            </a:r>
            <a:endParaRPr sz="1425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5029200"/>
            <a:ext cx="4514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350" b="1" i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 i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共同点：类型、比较符、聚合对象等可验证语义</a:t>
            </a:r>
            <a:endParaRPr sz="1350" b="1" i="0">
              <a:solidFill>
                <a:srgbClr val="2E8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419850" y="1390650"/>
            <a:ext cx="5162550" cy="4476750"/>
          </a:xfrm>
          <a:prstGeom prst="roundRect">
            <a:avLst>
              <a:gd name="adj" fmla="val 2553"/>
            </a:avLst>
          </a:prstGeom>
          <a:solidFill>
            <a:srgbClr val="F7E3E0"/>
          </a:solidFill>
          <a:ln w="11430">
            <a:solidFill>
              <a:srgbClr val="C4473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686550" y="1628775"/>
            <a:ext cx="228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827"/>
          </a:bodyPr>
          <a:lstStyle>
            <a:defPPr algn="l">
              <a:defRPr sz="2025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025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回归的 13 题</a:t>
            </a:r>
            <a:endParaRPr sz="2025" b="1" i="0">
              <a:solidFill>
                <a:srgbClr val="C4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686550" y="2228850"/>
            <a:ext cx="45148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题添加了 gold 不需要的 DISTINCT</a:t>
            </a:r>
            <a:endParaRPr sz="1425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投影从 ID 改成更自然的姓名 / 拼接字段</a:t>
            </a:r>
            <a:endParaRPr sz="1425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增加额外语义条件或换用相近字段</a:t>
            </a:r>
            <a:endParaRPr sz="1425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改变 GROUP BY、计数对象或百分比分母</a:t>
            </a:r>
            <a:endParaRPr sz="1425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从另一张语义相近表读取结果</a:t>
            </a:r>
            <a:endParaRPr sz="1425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86550" y="5029200"/>
            <a:ext cx="4514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514"/>
          </a:bodyPr>
          <a:lstStyle>
            <a:defPPr algn="ctr">
              <a:defRPr sz="13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共同点：SQL 看起来更自然，但 execution gold 不等价</a:t>
            </a:r>
            <a:endParaRPr sz="1350" b="1" i="0">
              <a:solidFill>
                <a:srgbClr val="C4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648652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>
            <a:def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+ Schema-aware SQL 选择</a:t>
            </a:r>
            <a:endParaRPr sz="8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49000" y="64579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>
            <a:def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900" b="1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609600" y="400050"/>
            <a:ext cx="985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100题监督式 pairwise：证明信号存在，数据仍远远不够</a:t>
            </a:r>
            <a:endParaRPr sz="24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382250" y="45720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718"/>
          </a:bodyPr>
          <a:lstStyle>
            <a:def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阶段三</a:t>
            </a:r>
            <a:endParaRPr sz="9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D8DFE5"/>
          </a:solidFill>
          <a:ln w="0">
            <a:noFill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352550"/>
            <a:ext cx="1952625" cy="1066800"/>
          </a:xfrm>
          <a:prstGeom prst="roundRect">
            <a:avLst>
              <a:gd name="adj" fmla="val 10714"/>
            </a:avLst>
          </a:prstGeom>
          <a:solidFill>
            <a:srgbClr val="E4ECF6"/>
          </a:solidFill>
          <a:ln w="11430">
            <a:solidFill>
              <a:srgbClr val="3B6EA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1466850"/>
            <a:ext cx="1685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269</a:t>
            </a:r>
            <a:endParaRPr sz="2550" b="1" i="0">
              <a:solidFill>
                <a:srgbClr val="3B6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1943100"/>
            <a:ext cx="1685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可评估问题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2733675" y="1352550"/>
            <a:ext cx="1952625" cy="1066800"/>
          </a:xfrm>
          <a:prstGeom prst="roundRect">
            <a:avLst>
              <a:gd name="adj" fmla="val 10714"/>
            </a:avLst>
          </a:prstGeom>
          <a:solidFill>
            <a:srgbClr val="E2F1EF"/>
          </a:solidFill>
          <a:ln w="11430">
            <a:solidFill>
              <a:srgbClr val="0E7C7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867025" y="1466850"/>
            <a:ext cx="1685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903</a:t>
            </a:r>
            <a:endParaRPr sz="2550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867025" y="1943100"/>
            <a:ext cx="1685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 SQL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857750" y="1352550"/>
            <a:ext cx="1952625" cy="1066800"/>
          </a:xfrm>
          <a:prstGeom prst="roundRect">
            <a:avLst>
              <a:gd name="adj" fmla="val 10714"/>
            </a:avLst>
          </a:prstGeom>
          <a:solidFill>
            <a:srgbClr val="F9E8DC"/>
          </a:solidFill>
          <a:ln w="11430">
            <a:solidFill>
              <a:srgbClr val="E07A3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991100" y="1466850"/>
            <a:ext cx="1685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2550" b="1" i="0">
              <a:solidFill>
                <a:srgbClr val="E07A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991100" y="1943100"/>
            <a:ext cx="1685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 hard cases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981825" y="1352550"/>
            <a:ext cx="1952625" cy="1066800"/>
          </a:xfrm>
          <a:prstGeom prst="roundRect">
            <a:avLst>
              <a:gd name="adj" fmla="val 10714"/>
            </a:avLst>
          </a:prstGeom>
          <a:solidFill>
            <a:srgbClr val="F7E3E0"/>
          </a:solidFill>
          <a:ln w="11430">
            <a:solidFill>
              <a:srgbClr val="C4473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115175" y="1466850"/>
            <a:ext cx="1685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2550" b="1" i="0">
              <a:solidFill>
                <a:srgbClr val="C4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115175" y="1943100"/>
            <a:ext cx="1685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 hard cases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05900" y="1352550"/>
            <a:ext cx="2476500" cy="1066800"/>
          </a:xfrm>
          <a:prstGeom prst="roundRect">
            <a:avLst>
              <a:gd name="adj" fmla="val 10714"/>
            </a:avLst>
          </a:prstGeom>
          <a:solidFill>
            <a:srgbClr val="EEF1F4"/>
          </a:solidFill>
          <a:ln w="11430">
            <a:solidFill>
              <a:srgbClr val="102A43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239250" y="1466850"/>
            <a:ext cx="2209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129/40/100</a:t>
            </a:r>
            <a:endParaRPr sz="255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239250" y="1943100"/>
            <a:ext cx="2209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train / val / test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952500" y="3476625"/>
            <a:ext cx="2095500" cy="952500"/>
          </a:xfrm>
          <a:prstGeom prst="roundRect">
            <a:avLst>
              <a:gd name="adj" fmla="val 12000"/>
            </a:avLst>
          </a:prstGeom>
          <a:solidFill>
            <a:srgbClr val="FFFEFA"/>
          </a:solidFill>
          <a:ln w="9525">
            <a:solidFill>
              <a:srgbClr val="3B6EA8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48维特征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 7 个 SC 特征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右箭头 19"/>
          <p:cNvSpPr>
            <a:spLocks noGrp="1"/>
          </p:cNvSpPr>
          <p:nvPr/>
        </p:nvSpPr>
        <p:spPr>
          <a:xfrm>
            <a:off x="3257550" y="3819525"/>
            <a:ext cx="590550" cy="285750"/>
          </a:xfrm>
          <a:prstGeom prst="rightArrow">
            <a:avLst/>
          </a:prstGeom>
          <a:solidFill>
            <a:srgbClr val="AAB5BF"/>
          </a:solidFill>
          <a:ln w="0">
            <a:noFill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4057650" y="3476625"/>
            <a:ext cx="2428875" cy="952500"/>
          </a:xfrm>
          <a:prstGeom prst="roundRect">
            <a:avLst>
              <a:gd name="adj" fmla="val 12000"/>
            </a:avLst>
          </a:prstGeom>
          <a:solidFill>
            <a:srgbClr val="FFFEFA"/>
          </a:solidFill>
          <a:ln w="9525">
            <a:solidFill>
              <a:srgbClr val="0E7C7B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MLP ensemble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RankNet + pointwise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右箭头 21"/>
          <p:cNvSpPr>
            <a:spLocks noGrp="1"/>
          </p:cNvSpPr>
          <p:nvPr/>
        </p:nvSpPr>
        <p:spPr>
          <a:xfrm>
            <a:off x="6696075" y="3819525"/>
            <a:ext cx="590550" cy="285750"/>
          </a:xfrm>
          <a:prstGeom prst="rightArrow">
            <a:avLst/>
          </a:prstGeom>
          <a:solidFill>
            <a:srgbClr val="AAB5BF"/>
          </a:solidFill>
          <a:ln w="0">
            <a:noFill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7496175" y="3476625"/>
            <a:ext cx="2428875" cy="952500"/>
          </a:xfrm>
          <a:prstGeom prst="roundRect">
            <a:avLst>
              <a:gd name="adj" fmla="val 12000"/>
            </a:avLst>
          </a:prstGeom>
          <a:solidFill>
            <a:srgbClr val="FFFEFA"/>
          </a:solidFill>
          <a:ln w="9525">
            <a:solidFill>
              <a:srgbClr val="E07A3F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validation 选阈值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 margin ≥ 0.20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右箭头 23"/>
          <p:cNvSpPr>
            <a:spLocks noGrp="1"/>
          </p:cNvSpPr>
          <p:nvPr/>
        </p:nvSpPr>
        <p:spPr>
          <a:xfrm>
            <a:off x="10134600" y="3819525"/>
            <a:ext cx="419100" cy="285750"/>
          </a:xfrm>
          <a:prstGeom prst="rightArrow">
            <a:avLst/>
          </a:prstGeom>
          <a:solidFill>
            <a:srgbClr val="AAB5BF"/>
          </a:solidFill>
          <a:ln w="0">
            <a:noFill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10668000" y="3476625"/>
            <a:ext cx="914400" cy="952500"/>
          </a:xfrm>
          <a:prstGeom prst="roundRect">
            <a:avLst>
              <a:gd name="adj" fmla="val 12500"/>
            </a:avLst>
          </a:prstGeom>
          <a:solidFill>
            <a:srgbClr val="E3F1E8"/>
          </a:solidFill>
          <a:ln w="9525">
            <a:solidFill>
              <a:srgbClr val="2E8B57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否则回退 SC</a:t>
            </a:r>
            <a:endParaRPr sz="13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1752600" y="5248275"/>
            <a:ext cx="8686800" cy="571500"/>
          </a:xfrm>
          <a:prstGeom prst="roundRect">
            <a:avLst>
              <a:gd name="adj" fmla="val 2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训练目标很窄：只解决候选中“正确 SQL 存在但多数簇选错”的问题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648652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>
            <a:def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+ Schema-aware SQL 选择</a:t>
            </a:r>
            <a:endParaRPr sz="8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049000" y="64579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>
            <a:def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900" b="1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609600" y="400050"/>
            <a:ext cx="985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监督实验：hard 子集修复 4/5，但被普通题回归抵消</a:t>
            </a:r>
            <a:endParaRPr sz="24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382250" y="45720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718"/>
          </a:bodyPr>
          <a:lstStyle>
            <a:def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100题结果</a:t>
            </a:r>
            <a:endParaRPr sz="9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D8DFE5"/>
          </a:solidFill>
          <a:ln w="0">
            <a:noFill/>
          </a:ln>
        </p:spPr>
      </p:sp>
      <p:graphicFrame>
        <p:nvGraphicFramePr>
          <p:cNvPr id="4" name="Chart"/>
          <p:cNvGraphicFramePr/>
          <p:nvPr/>
        </p:nvGraphicFramePr>
        <p:xfrm>
          <a:off x="609600" y="1428750"/>
          <a:ext cx="6191250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圆角矩形 4"/>
          <p:cNvSpPr>
            <a:spLocks noGrp="1"/>
          </p:cNvSpPr>
          <p:nvPr/>
        </p:nvSpPr>
        <p:spPr>
          <a:xfrm>
            <a:off x="7477125" y="1504950"/>
            <a:ext cx="1714500" cy="1066800"/>
          </a:xfrm>
          <a:prstGeom prst="roundRect">
            <a:avLst>
              <a:gd name="adj" fmla="val 10714"/>
            </a:avLst>
          </a:prstGeom>
          <a:solidFill>
            <a:srgbClr val="E3F1E8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610475" y="1619250"/>
            <a:ext cx="1447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2550" b="1" i="0">
              <a:solidFill>
                <a:srgbClr val="2E8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10475" y="2095500"/>
            <a:ext cx="1447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477375" y="1504950"/>
            <a:ext cx="1714500" cy="1066800"/>
          </a:xfrm>
          <a:prstGeom prst="roundRect">
            <a:avLst>
              <a:gd name="adj" fmla="val 10714"/>
            </a:avLst>
          </a:prstGeom>
          <a:solidFill>
            <a:srgbClr val="F7E3E0"/>
          </a:solidFill>
          <a:ln w="11430">
            <a:solidFill>
              <a:srgbClr val="C4473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610725" y="1619250"/>
            <a:ext cx="1447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2550" b="1" i="0">
              <a:solidFill>
                <a:srgbClr val="C4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610725" y="2095500"/>
            <a:ext cx="1447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477125" y="2819400"/>
            <a:ext cx="1714500" cy="1066800"/>
          </a:xfrm>
          <a:prstGeom prst="roundRect">
            <a:avLst>
              <a:gd name="adj" fmla="val 10714"/>
            </a:avLst>
          </a:prstGeom>
          <a:solidFill>
            <a:srgbClr val="F9E8DC"/>
          </a:solidFill>
          <a:ln w="11430">
            <a:solidFill>
              <a:srgbClr val="E07A3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610475" y="2933700"/>
            <a:ext cx="1447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2550" b="1" i="0">
              <a:solidFill>
                <a:srgbClr val="E07A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610475" y="3409950"/>
            <a:ext cx="1447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coverage miss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9477375" y="2819400"/>
            <a:ext cx="1714500" cy="1066800"/>
          </a:xfrm>
          <a:prstGeom prst="roundRect">
            <a:avLst>
              <a:gd name="adj" fmla="val 10714"/>
            </a:avLst>
          </a:prstGeom>
          <a:solidFill>
            <a:srgbClr val="E4ECF6"/>
          </a:solidFill>
          <a:ln w="11430">
            <a:solidFill>
              <a:srgbClr val="3B6EA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610725" y="2933700"/>
            <a:ext cx="1447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 algn="ctr">
              <a:defRPr sz="2550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550" b="1" i="0">
              <a:solidFill>
                <a:srgbClr val="3B6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610725" y="3409950"/>
            <a:ext cx="1447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未修复 selection</a:t>
            </a:r>
            <a:endParaRPr sz="11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334250" y="4248150"/>
            <a:ext cx="4000500" cy="628650"/>
          </a:xfrm>
          <a:prstGeom prst="roundRect">
            <a:avLst>
              <a:gd name="adj" fmla="val 18182"/>
            </a:avLst>
          </a:prstGeom>
          <a:solidFill>
            <a:srgbClr val="F7E3E0"/>
          </a:solidFill>
          <a:ln w="9525">
            <a:solidFill>
              <a:srgbClr val="C4473A"/>
            </a:solidFill>
            <a:prstDash val="solid"/>
          </a:ln>
        </p:spPr>
        <p:txBody>
          <a:bodyPr anchor="ctr">
            <a:normAutofit fontScale="98888"/>
          </a:bodyPr>
          <a:lstStyle>
            <a:defPPr algn="ctr">
              <a:defRPr sz="1575" b="1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个回归全部从较大结果簇跳到 singleton</a:t>
            </a:r>
            <a:endParaRPr sz="1575" b="1">
              <a:solidFill>
                <a:srgbClr val="C4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571625" y="5324475"/>
            <a:ext cx="9048750" cy="571500"/>
          </a:xfrm>
          <a:prstGeom prst="roundRect">
            <a:avLst>
              <a:gd name="adj" fmla="val 20000"/>
            </a:avLst>
          </a:prstGeom>
          <a:solidFill>
            <a:srgbClr val="FFFEFA"/>
          </a:solidFill>
          <a:ln w="9525">
            <a:solidFill>
              <a:srgbClr val="D8DFE5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结论：模型学到了“反多数簇”信号，但还没学会安全边界</a:t>
            </a:r>
            <a:endParaRPr sz="1575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648652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>
            <a:def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+ Schema-aware SQL 选择</a:t>
            </a:r>
            <a:endParaRPr sz="8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049000" y="64579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>
            <a:def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900" b="1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609600" y="400050"/>
            <a:ext cx="985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>
            <a:def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</a:t>
            </a:r>
            <a:r>
              <a: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五篇论文：从“样本顺序”</a:t>
            </a:r>
            <a:r>
              <a:rPr lang="en-US"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---</a:t>
            </a:r>
            <a:r>
              <a:rPr lang="zh-CN" altLang="en-US"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</a:t>
            </a:r>
            <a:r>
              <a: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“SQL outcome verifier”</a:t>
            </a:r>
            <a:endParaRPr sz="24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382250" y="45720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718"/>
          </a:bodyPr>
          <a:lstStyle>
            <a:def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文献学习</a:t>
            </a:r>
            <a:endParaRPr sz="9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D8DFE5"/>
          </a:solidFill>
          <a:ln w="0">
            <a:noFill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619125" y="1333500"/>
            <a:ext cx="1905000" cy="3095625"/>
          </a:xfrm>
          <a:prstGeom prst="roundRect">
            <a:avLst>
              <a:gd name="adj" fmla="val 6000"/>
            </a:avLst>
          </a:prstGeom>
          <a:solidFill>
            <a:srgbClr val="FFFEFA"/>
          </a:solidFill>
          <a:ln w="9525">
            <a:solidFill>
              <a:srgbClr val="D8DFE5"/>
            </a:solidFill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1447240"/>
            <a:ext cx="1752600" cy="2268071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66750" y="385762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Bengio et al.</a:t>
            </a:r>
            <a:endParaRPr sz="1125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2009</a:t>
            </a:r>
            <a:endParaRPr sz="1125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4762500"/>
            <a:ext cx="1885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2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顺序改变优化路径</a:t>
            </a:r>
            <a:endParaRPr sz="12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867025" y="1333500"/>
            <a:ext cx="1905000" cy="3095625"/>
          </a:xfrm>
          <a:prstGeom prst="roundRect">
            <a:avLst>
              <a:gd name="adj" fmla="val 6000"/>
            </a:avLst>
          </a:prstGeom>
          <a:solidFill>
            <a:srgbClr val="FFFEFA"/>
          </a:solidFill>
          <a:ln w="9525">
            <a:solidFill>
              <a:srgbClr val="D8DFE5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384" y="1428750"/>
            <a:ext cx="1630281" cy="23050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2914650" y="385762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Beyond Random</a:t>
            </a:r>
            <a:endParaRPr sz="1125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Sampling, 2026</a:t>
            </a:r>
            <a:endParaRPr sz="1125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876550" y="4762500"/>
            <a:ext cx="1885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2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warmup 最稳健</a:t>
            </a:r>
            <a:endParaRPr sz="12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114925" y="1333500"/>
            <a:ext cx="1905000" cy="3095625"/>
          </a:xfrm>
          <a:prstGeom prst="roundRect">
            <a:avLst>
              <a:gd name="adj" fmla="val 6000"/>
            </a:avLst>
          </a:prstGeom>
          <a:solidFill>
            <a:srgbClr val="FFFEFA"/>
          </a:solidFill>
          <a:ln w="9525">
            <a:solidFill>
              <a:srgbClr val="D8DFE5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125" y="1447240"/>
            <a:ext cx="1752600" cy="2268071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5162550" y="385762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DUCL</a:t>
            </a:r>
            <a:endParaRPr sz="1125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endParaRPr sz="1125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124450" y="4762500"/>
            <a:ext cx="1885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2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难度 + 效用 + 多样性</a:t>
            </a:r>
            <a:endParaRPr sz="12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362825" y="1333500"/>
            <a:ext cx="1905000" cy="3095625"/>
          </a:xfrm>
          <a:prstGeom prst="roundRect">
            <a:avLst>
              <a:gd name="adj" fmla="val 6000"/>
            </a:avLst>
          </a:prstGeom>
          <a:solidFill>
            <a:srgbClr val="FFFEFA"/>
          </a:solidFill>
          <a:ln w="9525">
            <a:solidFill>
              <a:srgbClr val="D8DFE5"/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184" y="1428750"/>
            <a:ext cx="1630281" cy="2305050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7410450" y="385762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Curri-DPO</a:t>
            </a:r>
            <a:endParaRPr sz="1125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</a:t>
            </a:r>
            <a:endParaRPr sz="1125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372350" y="4762500"/>
            <a:ext cx="1885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275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pair 从易到难</a:t>
            </a:r>
            <a:endParaRPr sz="1275" b="1" i="0">
              <a:solidFill>
                <a:srgbClr val="E07A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610725" y="1333500"/>
            <a:ext cx="1905000" cy="3095625"/>
          </a:xfrm>
          <a:prstGeom prst="roundRect">
            <a:avLst>
              <a:gd name="adj" fmla="val 6000"/>
            </a:avLst>
          </a:prstGeom>
          <a:solidFill>
            <a:srgbClr val="FFFEFA"/>
          </a:solidFill>
          <a:ln w="9525">
            <a:solidFill>
              <a:srgbClr val="D8DFE5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6925" y="1447240"/>
            <a:ext cx="1752600" cy="2268071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9658350" y="385762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GradeSQL</a:t>
            </a:r>
            <a:endParaRPr sz="1125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</a:t>
            </a:r>
            <a:endParaRPr sz="1125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620250" y="4762500"/>
            <a:ext cx="1885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275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执行标签训练 ORM</a:t>
            </a:r>
            <a:endParaRPr sz="1275" b="1" i="0">
              <a:solidFill>
                <a:srgbClr val="E07A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2038350" y="5619750"/>
            <a:ext cx="8115300" cy="514350"/>
          </a:xfrm>
          <a:prstGeom prst="roundRect">
            <a:avLst>
              <a:gd name="adj" fmla="val 22222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共同主线：先定义什么值得学，再决定以什么顺序、什么强度学习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09600" y="648652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>
            <a:def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+ Schema-aware SQL 选择</a:t>
            </a:r>
            <a:endParaRPr sz="8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049000" y="64579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>
            <a:def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900" b="1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09600" y="400050"/>
            <a:ext cx="985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固定数据下，课程学习改变的是优化路径</a:t>
            </a:r>
            <a:endParaRPr sz="24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382250" y="45720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718"/>
          </a:bodyPr>
          <a:lstStyle>
            <a:def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论文启发 I</a:t>
            </a:r>
            <a:endParaRPr sz="9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D8DFE5"/>
          </a:solidFill>
          <a:ln w="0">
            <a:noFill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762000" y="1714500"/>
            <a:ext cx="2095500" cy="666750"/>
          </a:xfrm>
          <a:prstGeom prst="roundRect">
            <a:avLst>
              <a:gd name="adj" fmla="val 17143"/>
            </a:avLst>
          </a:prstGeom>
          <a:solidFill>
            <a:srgbClr val="E4ECF6"/>
          </a:solidFill>
          <a:ln w="9525">
            <a:solidFill>
              <a:srgbClr val="3B6EA8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75" b="1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Bengio</a:t>
            </a:r>
            <a:endParaRPr sz="1575" b="1">
              <a:solidFill>
                <a:srgbClr val="3B6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14375" y="26670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从容易目标逐步过渡</a:t>
            </a:r>
            <a:endParaRPr sz="1350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 continuation method</a:t>
            </a:r>
            <a:endParaRPr sz="1350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右箭头 5"/>
          <p:cNvSpPr>
            <a:spLocks noGrp="1"/>
          </p:cNvSpPr>
          <p:nvPr/>
        </p:nvSpPr>
        <p:spPr>
          <a:xfrm>
            <a:off x="2981325" y="1924050"/>
            <a:ext cx="400050" cy="247650"/>
          </a:xfrm>
          <a:prstGeom prst="rightArrow">
            <a:avLst/>
          </a:prstGeom>
          <a:solidFill>
            <a:srgbClr val="AAB5BF"/>
          </a:solidFill>
          <a:ln w="0">
            <a:noFill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3333750" y="1714500"/>
            <a:ext cx="2381250" cy="666750"/>
          </a:xfrm>
          <a:prstGeom prst="roundRect">
            <a:avLst>
              <a:gd name="adj" fmla="val 17143"/>
            </a:avLst>
          </a:prstGeom>
          <a:solidFill>
            <a:srgbClr val="E2F1EF"/>
          </a:solidFill>
          <a:ln w="9525">
            <a:solidFill>
              <a:srgbClr val="0E7C7B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425" b="1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425" b="1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Beyond Random Sampling</a:t>
            </a:r>
            <a:endParaRPr sz="1425" b="1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286125" y="2667000"/>
            <a:ext cx="2476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难度指标 × pacing</a:t>
            </a:r>
            <a:endParaRPr sz="1350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 warmup 更稳</a:t>
            </a:r>
            <a:endParaRPr sz="1350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5838825" y="1924050"/>
            <a:ext cx="400050" cy="247650"/>
          </a:xfrm>
          <a:prstGeom prst="rightArrow">
            <a:avLst/>
          </a:prstGeom>
          <a:solidFill>
            <a:srgbClr val="AAB5BF"/>
          </a:solidFill>
          <a:ln w="0">
            <a:noFill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6191250" y="1714500"/>
            <a:ext cx="2095500" cy="666750"/>
          </a:xfrm>
          <a:prstGeom prst="roundRect">
            <a:avLst>
              <a:gd name="adj" fmla="val 17143"/>
            </a:avLst>
          </a:prstGeom>
          <a:solidFill>
            <a:srgbClr val="F9E8DC"/>
          </a:solidFill>
          <a:ln w="9525">
            <a:solidFill>
              <a:srgbClr val="E07A3F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75" b="1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DUCL</a:t>
            </a:r>
            <a:endParaRPr sz="1575" b="1">
              <a:solidFill>
                <a:srgbClr val="E07A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143625" y="26670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difficulty 不够</a:t>
            </a:r>
            <a:endParaRPr sz="1350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还要估计 utility</a:t>
            </a:r>
            <a:endParaRPr sz="1350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8410575" y="1924050"/>
            <a:ext cx="400050" cy="247650"/>
          </a:xfrm>
          <a:prstGeom prst="rightArrow">
            <a:avLst/>
          </a:prstGeom>
          <a:solidFill>
            <a:srgbClr val="AAB5BF"/>
          </a:solidFill>
          <a:ln w="0">
            <a:noFill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9048750" y="1714500"/>
            <a:ext cx="2095500" cy="666750"/>
          </a:xfrm>
          <a:prstGeom prst="roundRect">
            <a:avLst>
              <a:gd name="adj" fmla="val 17143"/>
            </a:avLst>
          </a:prstGeom>
          <a:solidFill>
            <a:srgbClr val="E3F1E8"/>
          </a:solidFill>
          <a:ln w="9525">
            <a:solidFill>
              <a:srgbClr val="2E8B57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75" b="1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Window Ordering</a:t>
            </a:r>
            <a:endParaRPr sz="1575" b="1">
              <a:solidFill>
                <a:srgbClr val="2E8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001125" y="26670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逐步扩大窗口</a:t>
            </a:r>
            <a:endParaRPr sz="1350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 batch diversity</a:t>
            </a:r>
            <a:endParaRPr sz="1350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952500" y="4095750"/>
            <a:ext cx="10287000" cy="142875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9525">
            <a:solidFill>
              <a:srgbClr val="D8DFE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295400" y="4333875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000"/>
          </a:bodyPr>
          <a:lstStyle>
            <a:defPPr algn="l">
              <a:defRPr sz="187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映射到 SQL selector</a:t>
            </a:r>
            <a:endParaRPr sz="1875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857625" y="4238625"/>
            <a:ext cx="685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35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28600" indent="-114300">
              <a:spcAft>
                <a:spcPts val="600"/>
              </a:spcAft>
              <a:buChar char="•"/>
              <a:defRPr sz="135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难度 D：当前模型有多难区分这对 SQL</a:t>
            </a:r>
            <a:endParaRPr sz="135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600"/>
              </a:spcAft>
              <a:buChar char="•"/>
              <a:defRPr sz="135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效用 U：现在学习它能否减少尚未解决的错误</a:t>
            </a:r>
            <a:endParaRPr sz="135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600"/>
              </a:spcAft>
              <a:buChar char="•"/>
              <a:defRPr sz="135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噪声 N：持续高损失但无学习进展的样本应降权</a:t>
            </a:r>
            <a:endParaRPr sz="135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648652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>
            <a:def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+ Schema-aware SQL 选择</a:t>
            </a:r>
            <a:endParaRPr sz="8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49000" y="64579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>
            <a:def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900" b="1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609600" y="400050"/>
            <a:ext cx="985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Curri-DPO 与 GradeSQL：最接近当前 selector 的两条路线</a:t>
            </a:r>
            <a:endParaRPr sz="24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382250" y="45720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718"/>
          </a:bodyPr>
          <a:lstStyle>
            <a:def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论文启发 II</a:t>
            </a:r>
            <a:endParaRPr sz="9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D8DFE5"/>
          </a:solidFill>
          <a:ln w="0">
            <a:noFill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381125"/>
            <a:ext cx="5238750" cy="4095750"/>
          </a:xfrm>
          <a:prstGeom prst="roundRect">
            <a:avLst>
              <a:gd name="adj" fmla="val 2791"/>
            </a:avLst>
          </a:prstGeom>
          <a:solidFill>
            <a:srgbClr val="F9E8DC"/>
          </a:solidFill>
          <a:ln w="11430">
            <a:solidFill>
              <a:srgbClr val="E07A3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16192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476"/>
          </a:bodyPr>
          <a:lstStyle>
            <a:defPPr algn="l">
              <a:defRPr sz="210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Curri-DPO</a:t>
            </a:r>
            <a:endParaRPr sz="2100" b="1" i="0">
              <a:solidFill>
                <a:srgbClr val="E07A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20955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 prompt 的多个响应形成多个 preference pairs</a:t>
            </a:r>
            <a:endParaRPr sz="1350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76300" y="2857500"/>
            <a:ext cx="1238250" cy="742950"/>
          </a:xfrm>
          <a:prstGeom prst="roundRect">
            <a:avLst>
              <a:gd name="adj" fmla="val 15385"/>
            </a:avLst>
          </a:prstGeom>
          <a:solidFill>
            <a:srgbClr val="FFFEFA"/>
          </a:solidFill>
          <a:ln w="9525">
            <a:solidFill>
              <a:srgbClr val="E07A3F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大评分差</a:t>
            </a:r>
            <a:endParaRPr sz="13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容易 pair</a:t>
            </a:r>
            <a:endParaRPr sz="13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右箭头 7"/>
          <p:cNvSpPr>
            <a:spLocks noGrp="1"/>
          </p:cNvSpPr>
          <p:nvPr/>
        </p:nvSpPr>
        <p:spPr>
          <a:xfrm>
            <a:off x="2266950" y="3095625"/>
            <a:ext cx="400050" cy="247650"/>
          </a:xfrm>
          <a:prstGeom prst="rightArrow">
            <a:avLst/>
          </a:prstGeom>
          <a:solidFill>
            <a:srgbClr val="E07A3F"/>
          </a:solidFill>
          <a:ln w="0">
            <a:noFill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2819400" y="2857500"/>
            <a:ext cx="1143000" cy="742950"/>
          </a:xfrm>
          <a:prstGeom prst="roundRect">
            <a:avLst>
              <a:gd name="adj" fmla="val 15385"/>
            </a:avLst>
          </a:prstGeom>
          <a:solidFill>
            <a:srgbClr val="FFFEFA"/>
          </a:solidFill>
          <a:ln w="9525">
            <a:solidFill>
              <a:srgbClr val="E07A3F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中等差异</a:t>
            </a:r>
            <a:endParaRPr sz="13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右箭头 9"/>
          <p:cNvSpPr>
            <a:spLocks noGrp="1"/>
          </p:cNvSpPr>
          <p:nvPr/>
        </p:nvSpPr>
        <p:spPr>
          <a:xfrm>
            <a:off x="4114800" y="3095625"/>
            <a:ext cx="400050" cy="247650"/>
          </a:xfrm>
          <a:prstGeom prst="rightArrow">
            <a:avLst/>
          </a:prstGeom>
          <a:solidFill>
            <a:srgbClr val="E07A3F"/>
          </a:solidFill>
          <a:ln w="0">
            <a:noFill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4667250" y="2857500"/>
            <a:ext cx="952500" cy="742950"/>
          </a:xfrm>
          <a:prstGeom prst="roundRect">
            <a:avLst>
              <a:gd name="adj" fmla="val 15385"/>
            </a:avLst>
          </a:prstGeom>
          <a:solidFill>
            <a:srgbClr val="FFFEFA"/>
          </a:solidFill>
          <a:ln w="9525">
            <a:solidFill>
              <a:srgbClr val="E07A3F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2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小评分差</a:t>
            </a:r>
            <a:endParaRPr sz="1275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困难 pair</a:t>
            </a:r>
            <a:endParaRPr sz="1275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4210050"/>
            <a:ext cx="4476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425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425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启发：不需要穷举所有 pair；迭代次序与 reference 更新很重要。</a:t>
            </a:r>
            <a:endParaRPr sz="1425" b="1" i="0">
              <a:solidFill>
                <a:srgbClr val="E07A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343650" y="1381125"/>
            <a:ext cx="5238750" cy="4095750"/>
          </a:xfrm>
          <a:prstGeom prst="roundRect">
            <a:avLst>
              <a:gd name="adj" fmla="val 2791"/>
            </a:avLst>
          </a:prstGeom>
          <a:solidFill>
            <a:srgbClr val="E2F1EF"/>
          </a:solidFill>
          <a:ln w="11430">
            <a:solidFill>
              <a:srgbClr val="0E7C7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610350" y="16192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476"/>
          </a:bodyPr>
          <a:lstStyle>
            <a:defPPr algn="l">
              <a:defRPr sz="210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GradeSQL</a:t>
            </a:r>
            <a:endParaRPr sz="2100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610350" y="20955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 SQL 用执行等价打标签，训练 ORM 输出 P(Yes)</a:t>
            </a:r>
            <a:endParaRPr sz="1350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610350" y="2857500"/>
            <a:ext cx="1066800" cy="742950"/>
          </a:xfrm>
          <a:prstGeom prst="roundRect">
            <a:avLst>
              <a:gd name="adj" fmla="val 15385"/>
            </a:avLst>
          </a:prstGeom>
          <a:solidFill>
            <a:srgbClr val="FFFEFA"/>
          </a:solidFill>
          <a:ln w="9525">
            <a:solidFill>
              <a:srgbClr val="0E7C7B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个候选</a:t>
            </a:r>
            <a:endParaRPr sz="13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7810500" y="3095625"/>
            <a:ext cx="381000" cy="247650"/>
          </a:xfrm>
          <a:prstGeom prst="rightArrow">
            <a:avLst/>
          </a:prstGeom>
          <a:solidFill>
            <a:srgbClr val="0E7C7B"/>
          </a:solidFill>
          <a:ln w="0">
            <a:noFill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8324850" y="2857500"/>
            <a:ext cx="1066800" cy="742950"/>
          </a:xfrm>
          <a:prstGeom prst="roundRect">
            <a:avLst>
              <a:gd name="adj" fmla="val 15385"/>
            </a:avLst>
          </a:prstGeom>
          <a:solidFill>
            <a:srgbClr val="FFFEFA"/>
          </a:solidFill>
          <a:ln w="9525">
            <a:solidFill>
              <a:srgbClr val="0E7C7B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执行标签</a:t>
            </a:r>
            <a:endParaRPr sz="13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9525000" y="3095625"/>
            <a:ext cx="381000" cy="247650"/>
          </a:xfrm>
          <a:prstGeom prst="rightArrow">
            <a:avLst/>
          </a:prstGeom>
          <a:solidFill>
            <a:srgbClr val="0E7C7B"/>
          </a:solidFill>
          <a:ln w="0">
            <a:noFill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10039350" y="2857500"/>
            <a:ext cx="1066800" cy="742950"/>
          </a:xfrm>
          <a:prstGeom prst="roundRect">
            <a:avLst>
              <a:gd name="adj" fmla="val 15385"/>
            </a:avLst>
          </a:prstGeom>
          <a:solidFill>
            <a:srgbClr val="FFFEFA"/>
          </a:solidFill>
          <a:ln w="9525">
            <a:solidFill>
              <a:srgbClr val="0E7C7B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ORM 排序</a:t>
            </a:r>
            <a:endParaRPr sz="13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610350" y="4210050"/>
            <a:ext cx="4476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42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42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BIRD dev：68.90%，高于 Majority Voting 66.95%；SQL-only prompt 最好。</a:t>
            </a:r>
            <a:endParaRPr sz="142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1876425" y="5743575"/>
            <a:ext cx="8439150" cy="457200"/>
          </a:xfrm>
          <a:prstGeom prst="roundRect">
            <a:avLst>
              <a:gd name="adj" fmla="val 25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本阶段不增加样本：GradeSQL 给执行标签，Curri-DPO 给 pair 顺序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9600" y="648652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>
            <a:def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+ Schema-aware SQL 选择</a:t>
            </a:r>
            <a:endParaRPr sz="8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049000" y="64579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>
            <a:def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900" b="1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矩形 27"/>
          <p:cNvSpPr>
            <a:spLocks noGrp="1"/>
          </p:cNvSpPr>
          <p:nvPr/>
        </p:nvSpPr>
        <p:spPr>
          <a:xfrm>
            <a:off x="609600" y="400050"/>
            <a:ext cx="985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下一阶段：固定 training set 的错误感知课程学习</a:t>
            </a:r>
            <a:endParaRPr sz="24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382250" y="45720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718"/>
          </a:bodyPr>
          <a:lstStyle>
            <a:def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sz="9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D8DFE5"/>
          </a:solidFill>
          <a:ln w="0">
            <a:noFill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666750" y="1476375"/>
            <a:ext cx="2428875" cy="1809750"/>
          </a:xfrm>
          <a:prstGeom prst="roundRect">
            <a:avLst>
              <a:gd name="adj" fmla="val 6316"/>
            </a:avLst>
          </a:prstGeom>
          <a:solidFill>
            <a:srgbClr val="E4ECF6"/>
          </a:solidFill>
          <a:ln w="11430">
            <a:solidFill>
              <a:srgbClr val="3B6EA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1676400"/>
            <a:ext cx="2047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>
            <a:defPPr algn="l">
              <a:defRPr sz="1200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00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 A</a:t>
            </a:r>
            <a:endParaRPr sz="1200" b="1" i="0">
              <a:solidFill>
                <a:srgbClr val="3B6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09550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7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7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冻结实验条件</a:t>
            </a:r>
            <a:endParaRPr sz="1725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2667000"/>
            <a:ext cx="20097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20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0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同一数据、模型、初始化、预算与种子</a:t>
            </a:r>
            <a:endParaRPr sz="1200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右箭头 7"/>
          <p:cNvSpPr>
            <a:spLocks noGrp="1"/>
          </p:cNvSpPr>
          <p:nvPr/>
        </p:nvSpPr>
        <p:spPr>
          <a:xfrm>
            <a:off x="3171825" y="2266950"/>
            <a:ext cx="228600" cy="209550"/>
          </a:xfrm>
          <a:prstGeom prst="rightArrow">
            <a:avLst/>
          </a:prstGeom>
          <a:solidFill>
            <a:srgbClr val="AAB5BF"/>
          </a:solidFill>
          <a:ln w="0">
            <a:noFill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3476625" y="1476375"/>
            <a:ext cx="2428875" cy="1809750"/>
          </a:xfrm>
          <a:prstGeom prst="roundRect">
            <a:avLst>
              <a:gd name="adj" fmla="val 6316"/>
            </a:avLst>
          </a:prstGeom>
          <a:solidFill>
            <a:srgbClr val="E2F1EF"/>
          </a:solidFill>
          <a:ln w="11430">
            <a:solidFill>
              <a:srgbClr val="0E7C7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667125" y="1676400"/>
            <a:ext cx="2047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>
            <a:defPPr algn="l">
              <a:defRPr sz="120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0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 B</a:t>
            </a:r>
            <a:endParaRPr sz="1200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667125" y="209550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7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7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诊断 warmup</a:t>
            </a:r>
            <a:endParaRPr sz="1725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86175" y="2667000"/>
            <a:ext cx="20097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20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0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 loss / margin</a:t>
            </a:r>
            <a:endParaRPr sz="1200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与错误类型</a:t>
            </a:r>
            <a:endParaRPr sz="1200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5981700" y="2266950"/>
            <a:ext cx="228600" cy="209550"/>
          </a:xfrm>
          <a:prstGeom prst="rightArrow">
            <a:avLst/>
          </a:prstGeom>
          <a:solidFill>
            <a:srgbClr val="AAB5BF"/>
          </a:solidFill>
          <a:ln w="0">
            <a:noFill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6286500" y="1476375"/>
            <a:ext cx="2428875" cy="1809750"/>
          </a:xfrm>
          <a:prstGeom prst="roundRect">
            <a:avLst>
              <a:gd name="adj" fmla="val 6316"/>
            </a:avLst>
          </a:prstGeom>
          <a:solidFill>
            <a:srgbClr val="F9E8DC"/>
          </a:solidFill>
          <a:ln w="11430">
            <a:solidFill>
              <a:srgbClr val="E07A3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477000" y="1676400"/>
            <a:ext cx="2047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>
            <a:defPPr algn="l">
              <a:defRPr sz="120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0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 C</a:t>
            </a:r>
            <a:endParaRPr sz="1200" b="1" i="0">
              <a:solidFill>
                <a:srgbClr val="E07A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77000" y="209550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7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7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动态错误课程</a:t>
            </a:r>
            <a:endParaRPr sz="1725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96050" y="2667000"/>
            <a:ext cx="20097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20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0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扩大难度窗口；优先尚未解决且可学习的错误</a:t>
            </a:r>
            <a:endParaRPr sz="1200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右箭头 17"/>
          <p:cNvSpPr>
            <a:spLocks noGrp="1"/>
          </p:cNvSpPr>
          <p:nvPr/>
        </p:nvSpPr>
        <p:spPr>
          <a:xfrm>
            <a:off x="8791575" y="2266950"/>
            <a:ext cx="228600" cy="209550"/>
          </a:xfrm>
          <a:prstGeom prst="rightArrow">
            <a:avLst/>
          </a:prstGeom>
          <a:solidFill>
            <a:srgbClr val="AAB5BF"/>
          </a:solidFill>
          <a:ln w="0">
            <a:noFill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9096375" y="1476375"/>
            <a:ext cx="2428875" cy="1809750"/>
          </a:xfrm>
          <a:prstGeom prst="roundRect">
            <a:avLst>
              <a:gd name="adj" fmla="val 6316"/>
            </a:avLst>
          </a:prstGeom>
          <a:solidFill>
            <a:srgbClr val="E3F1E8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286875" y="1676400"/>
            <a:ext cx="2047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>
            <a:defPPr algn="l">
              <a:defRPr sz="1200" b="1" i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00" b="1" i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 D</a:t>
            </a:r>
            <a:endParaRPr sz="1200" b="1" i="0">
              <a:solidFill>
                <a:srgbClr val="2E8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286875" y="209550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7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7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随机混合巩固</a:t>
            </a:r>
            <a:endParaRPr sz="1725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305925" y="2667000"/>
            <a:ext cx="20097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20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0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 10%–20% 恢复近似均匀采样</a:t>
            </a:r>
            <a:endParaRPr sz="1200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1066800" y="3790950"/>
            <a:ext cx="6191250" cy="685800"/>
          </a:xfrm>
          <a:prstGeom prst="roundRect">
            <a:avLst>
              <a:gd name="adj" fmla="val 16667"/>
            </a:avLst>
          </a:prstGeom>
          <a:solidFill>
            <a:srgbClr val="FFFEFA"/>
          </a:solidFill>
          <a:ln w="9525">
            <a:solidFill>
              <a:srgbClr val="0E7C7B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725" b="1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725" b="1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priorityᵢ(t) = windowₜ(Dᵢ) · exp(βUᵢ(t) − γNᵢ(t))</a:t>
            </a:r>
            <a:endParaRPr sz="1725" b="1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7734300" y="3790950"/>
            <a:ext cx="3238500" cy="685800"/>
          </a:xfrm>
          <a:prstGeom prst="roundRect">
            <a:avLst>
              <a:gd name="adj" fmla="val 16667"/>
            </a:avLst>
          </a:prstGeom>
          <a:solidFill>
            <a:srgbClr val="F7E3E0"/>
          </a:solidFill>
          <a:ln w="9525">
            <a:solidFill>
              <a:srgbClr val="C4473A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425" b="1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425" b="1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唯一主变量</a:t>
            </a:r>
            <a:endParaRPr sz="1425" b="1">
              <a:solidFill>
                <a:srgbClr val="C4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425" b="1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样本顺序与采样概率</a:t>
            </a:r>
            <a:endParaRPr sz="1425" b="1">
              <a:solidFill>
                <a:srgbClr val="C4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219200" y="4810125"/>
            <a:ext cx="97536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>
            <a:defPPr>
              <a:defRPr sz="131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28600" indent="-114300">
              <a:spcAft>
                <a:spcPts val="500"/>
              </a:spcAft>
              <a:buChar char="•"/>
              <a:defRPr sz="131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错误标签：projection / filter / join / aggregation / DISTINCT / ORDER-LIMIT / literal-type-date</a:t>
            </a:r>
            <a:endParaRPr sz="1315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500"/>
              </a:spcAft>
              <a:buChar char="•"/>
              <a:defRPr sz="131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动态量：当前 loss 与 margin、近期学习进展、validation 未解决错误频率</a:t>
            </a:r>
            <a:endParaRPr sz="1315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500"/>
              </a:spcAft>
              <a:buChar char="•"/>
              <a:defRPr sz="131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约束：相同 optimizer steps、tokens、样本曝光次数；test 标签不参与 utility</a:t>
            </a:r>
            <a:endParaRPr sz="1315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648652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>
            <a:def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+ Schema-aware SQL 选择</a:t>
            </a:r>
            <a:endParaRPr sz="8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049000" y="64579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>
            <a:def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900" b="1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400050"/>
            <a:ext cx="985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实验矩阵：同一数据、同一预算，只比较训练策略</a:t>
            </a:r>
            <a:endParaRPr sz="24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382250" y="45720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718"/>
          </a:bodyPr>
          <a:lstStyle>
            <a:def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评估设计</a:t>
            </a:r>
            <a:endParaRPr sz="9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D8DFE5"/>
          </a:solidFill>
          <a:ln w="0">
            <a:noFill/>
          </a:ln>
        </p:spPr>
      </p:sp>
      <p:graphicFrame>
        <p:nvGraphicFramePr>
          <p:cNvPr id="4" name="表格 3"/>
          <p:cNvGraphicFramePr/>
          <p:nvPr/>
        </p:nvGraphicFramePr>
        <p:xfrm>
          <a:off x="495300" y="1257300"/>
          <a:ext cx="11201400" cy="3790950"/>
        </p:xfrm>
        <a:graphic>
          <a:graphicData uri="http://schemas.openxmlformats.org/drawingml/2006/table">
            <a:tbl>
              <a:tblPr/>
              <a:tblGrid>
                <a:gridCol w="2000250"/>
                <a:gridCol w="3524250"/>
                <a:gridCol w="1476375"/>
                <a:gridCol w="4200525"/>
              </a:tblGrid>
              <a:tr h="631825">
                <a:tc>
                  <a:txBody>
                    <a:bodyPr/>
                    <a:lstStyle/>
                    <a:p>
                      <a:r>
                        <a:t>方法</a:t>
                      </a:r>
                    </a:p>
                  </a:txBody>
                  <a:tcPr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调度方式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动态更新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检验的问题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t>Random Shuffle</a:t>
                      </a:r>
                    </a:p>
                  </a:txBody>
                  <a:tcPr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全程均匀随机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否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标准训练基线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t>Difficulty-only</a:t>
                      </a:r>
                    </a:p>
                  </a:txBody>
                  <a:tcPr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按 loss / margin / AST 距离由易到难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可选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只看难度是否足够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t>Static Error-aware</a:t>
                      </a:r>
                    </a:p>
                  </a:txBody>
                  <a:tcPr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错误类型 + 初始效用固定排序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否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错误标签本身是否有效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t>DUCL-style</a:t>
                      </a:r>
                    </a:p>
                  </a:txBody>
                  <a:tcPr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difficulty + utility + expanding window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部分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效用与窗口带来多少收益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t>Dynamic Error-aware</a:t>
                      </a:r>
                    </a:p>
                  </a:txBody>
                  <a:tcPr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周期重评分 + interleaving + anchor replay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是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本文完整方案</a:t>
                      </a:r>
                    </a:p>
                  </a:txBody>
                  <a:tcPr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圆角矩形 4"/>
          <p:cNvSpPr>
            <a:spLocks noGrp="1"/>
          </p:cNvSpPr>
          <p:nvPr/>
        </p:nvSpPr>
        <p:spPr>
          <a:xfrm>
            <a:off x="685800" y="5391150"/>
            <a:ext cx="1524000" cy="514350"/>
          </a:xfrm>
          <a:prstGeom prst="roundRect">
            <a:avLst>
              <a:gd name="adj" fmla="val 22222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训练效率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381250" y="5419725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394"/>
          </a:bodyPr>
          <a:lstStyle>
            <a:defPPr algn="l">
              <a:defRPr sz="131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1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steps / GPU-hours 到目标分数 · learning-curve AUC · 每千步增益</a:t>
            </a:r>
            <a:endParaRPr sz="1315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0" y="5391150"/>
            <a:ext cx="1524000" cy="514350"/>
          </a:xfrm>
          <a:prstGeom prst="roundRect">
            <a:avLst>
              <a:gd name="adj" fmla="val 22222"/>
            </a:avLst>
          </a:prstGeom>
          <a:solidFill>
            <a:srgbClr val="0E7C7B"/>
          </a:solidFill>
          <a:ln w="9525">
            <a:solidFill>
              <a:srgbClr val="0E7C7B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成功标准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53450" y="541972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603"/>
          </a:bodyPr>
          <a:lstStyle>
            <a:defPPr algn="l">
              <a:defRPr sz="127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少用 ≥20% 步数达到基线；或同预算最终 EX 稳定提高</a:t>
            </a:r>
            <a:endParaRPr sz="1275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48652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>
            <a:def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+ Schema-aware SQL 选择</a:t>
            </a:r>
            <a:endParaRPr sz="8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049000" y="64579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>
            <a:def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900" b="1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09600" y="400050"/>
            <a:ext cx="985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研究问题与预期贡献</a:t>
            </a:r>
            <a:endParaRPr sz="24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382250" y="45720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718"/>
          </a:bodyPr>
          <a:lstStyle>
            <a:def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下一阶段结论</a:t>
            </a:r>
            <a:endParaRPr sz="97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D8DFE5"/>
          </a:solidFill>
          <a:ln w="0">
            <a:noFill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352550"/>
            <a:ext cx="10363200" cy="876300"/>
          </a:xfrm>
          <a:prstGeom prst="roundRect">
            <a:avLst>
              <a:gd name="adj" fmla="val 13043"/>
            </a:avLst>
          </a:prstGeom>
          <a:solidFill>
            <a:srgbClr val="E2F1EF"/>
          </a:solidFill>
          <a:ln w="11430">
            <a:solidFill>
              <a:srgbClr val="0E7C7B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81100" y="1581150"/>
            <a:ext cx="2333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72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RQ1 · 更快吗</a:t>
            </a:r>
            <a:endParaRPr sz="1725" b="1" i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714750" y="1543050"/>
            <a:ext cx="7191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sz="15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相同数据下，错误感知课程能否更早达到随机训练的最终分数？</a:t>
            </a:r>
            <a:endParaRPr sz="15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914400" y="2476500"/>
            <a:ext cx="10363200" cy="876300"/>
          </a:xfrm>
          <a:prstGeom prst="roundRect">
            <a:avLst>
              <a:gd name="adj" fmla="val 13043"/>
            </a:avLst>
          </a:prstGeom>
          <a:solidFill>
            <a:srgbClr val="F9E8DC"/>
          </a:solidFill>
          <a:ln w="11430">
            <a:solidFill>
              <a:srgbClr val="E07A3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81100" y="2705100"/>
            <a:ext cx="2333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725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E07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RQ2 · 为何有效</a:t>
            </a:r>
            <a:endParaRPr sz="1725" b="1" i="0">
              <a:solidFill>
                <a:srgbClr val="E07A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714750" y="2667000"/>
            <a:ext cx="7191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sz="15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utility 是否比 difficulty 更能区分可学习 hard case 与噪声？</a:t>
            </a:r>
            <a:endParaRPr sz="15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00450"/>
            <a:ext cx="10363200" cy="876300"/>
          </a:xfrm>
          <a:prstGeom prst="roundRect">
            <a:avLst>
              <a:gd name="adj" fmla="val 13043"/>
            </a:avLst>
          </a:prstGeom>
          <a:solidFill>
            <a:srgbClr val="F7E3E0"/>
          </a:solidFill>
          <a:ln w="11430">
            <a:solidFill>
              <a:srgbClr val="C4473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81100" y="3829050"/>
            <a:ext cx="2333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725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C447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RQ3 · 更稳吗</a:t>
            </a:r>
            <a:endParaRPr sz="1725" b="1" i="0">
              <a:solidFill>
                <a:srgbClr val="C447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714750" y="3790950"/>
            <a:ext cx="7191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sz="15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动态重评分、窗口与 anchor replay 能否减少回归和遗忘？</a:t>
            </a:r>
            <a:endParaRPr sz="15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914400" y="4724400"/>
            <a:ext cx="10363200" cy="876300"/>
          </a:xfrm>
          <a:prstGeom prst="roundRect">
            <a:avLst>
              <a:gd name="adj" fmla="val 13043"/>
            </a:avLst>
          </a:prstGeom>
          <a:solidFill>
            <a:srgbClr val="E4ECF6"/>
          </a:solidFill>
          <a:ln w="11430">
            <a:solidFill>
              <a:srgbClr val="3B6EA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81100" y="4953000"/>
            <a:ext cx="2333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725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3B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</a:t>
            </a:r>
            <a:endParaRPr sz="1725" b="1" i="0">
              <a:solidFill>
                <a:srgbClr val="3B6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714750" y="4914900"/>
            <a:ext cx="7191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sz="15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错误类型体系 + 动态调度器 + 固定数据/预算的可复现实验协议。</a:t>
            </a:r>
            <a:endParaRPr sz="15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238250" y="5905500"/>
            <a:ext cx="9715500" cy="495300"/>
          </a:xfrm>
          <a:prstGeom prst="roundRect">
            <a:avLst>
              <a:gd name="adj" fmla="val 23077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执行顺序：冻结 split 与预算 → 跑基线曲线 → 标注错误类型 → 比较课程与消融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648652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>
            <a:def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Jev + Schema-aware SQL 选择</a:t>
            </a:r>
            <a:endParaRPr sz="825" b="0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049000" y="64579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>
            <a:def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61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900" b="1" i="0">
              <a:solidFill>
                <a:srgbClr val="61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4781</Words>
  <Application>WPS 演示</Application>
  <PresentationFormat>Converted Presentation</PresentationFormat>
  <Paragraphs>613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Arial Unicode MS</vt:lpstr>
      <vt:lpstr>Aptos</vt:lpstr>
      <vt:lpstr>Segoe UI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双色彩笔</cp:lastModifiedBy>
  <cp:revision>1</cp:revision>
  <dcterms:created xsi:type="dcterms:W3CDTF">2026-10-13T05:23:26Z</dcterms:created>
  <dcterms:modified xsi:type="dcterms:W3CDTF">2026-10-13T05:23:26Z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A264CB65C1184AF6B5431AF6B835A94D_12</vt:lpwstr>
  </property>
</Properties>
</file>