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1692fbc784ffd" /><Relationship Type="http://schemas.openxmlformats.org/officeDocument/2006/relationships/extended-properties" Target="/docProps/app.xml" Id="R3247b8187ca14116" /><Relationship Type="http://schemas.openxmlformats.org/officeDocument/2006/relationships/officeDocument" Target="/ppt/presentation.xml" Id="Rd6f0a50f8ce641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e2f9c1737a4c9f"/>
  </p:sldMasterIdLst>
  <p:notesMasterIdLst>
    <p:notesMasterId xmlns:r="http://schemas.openxmlformats.org/officeDocument/2006/relationships" r:id="Rf70c29b97a84496f"/>
  </p:notesMasterIdLst>
  <p:sldIdLst>
    <p:sldId xmlns:r="http://schemas.openxmlformats.org/officeDocument/2006/relationships" id="256" r:id="R27407300d2804c33"/>
    <p:sldId xmlns:r="http://schemas.openxmlformats.org/officeDocument/2006/relationships" id="257" r:id="R1c2d2d398359483a"/>
    <p:sldId xmlns:r="http://schemas.openxmlformats.org/officeDocument/2006/relationships" id="258" r:id="R11990594887e4cab"/>
    <p:sldId xmlns:r="http://schemas.openxmlformats.org/officeDocument/2006/relationships" id="259" r:id="R2408ba0ba82047a2"/>
    <p:sldId xmlns:r="http://schemas.openxmlformats.org/officeDocument/2006/relationships" id="260" r:id="R68d67ef2c6b84e75"/>
    <p:sldId xmlns:r="http://schemas.openxmlformats.org/officeDocument/2006/relationships" id="261" r:id="R8362039783314344"/>
    <p:sldId xmlns:r="http://schemas.openxmlformats.org/officeDocument/2006/relationships" id="262" r:id="Rfbc252c90e6d4002"/>
    <p:sldId xmlns:r="http://schemas.openxmlformats.org/officeDocument/2006/relationships" id="263" r:id="R3aea6adf5db04512"/>
    <p:sldId xmlns:r="http://schemas.openxmlformats.org/officeDocument/2006/relationships" id="264" r:id="R0e9017c8d8fe4a38"/>
    <p:sldId xmlns:r="http://schemas.openxmlformats.org/officeDocument/2006/relationships" id="265" r:id="R49c7365100d64540"/>
    <p:sldId xmlns:r="http://schemas.openxmlformats.org/officeDocument/2006/relationships" id="266" r:id="Rdd450c8ada6b40f6"/>
    <p:sldId xmlns:r="http://schemas.openxmlformats.org/officeDocument/2006/relationships" id="267" r:id="R4897d73a1dc2453c"/>
    <p:sldId xmlns:r="http://schemas.openxmlformats.org/officeDocument/2006/relationships" id="268" r:id="Rba111be895d240f0"/>
    <p:sldId xmlns:r="http://schemas.openxmlformats.org/officeDocument/2006/relationships" id="269" r:id="R9ae6cc2b7fbb44d8"/>
    <p:sldId xmlns:r="http://schemas.openxmlformats.org/officeDocument/2006/relationships" id="270" r:id="R2da85b1c7a084d9f"/>
    <p:sldId xmlns:r="http://schemas.openxmlformats.org/officeDocument/2006/relationships" id="271" r:id="R70fcb3ec6c264129"/>
    <p:sldId xmlns:r="http://schemas.openxmlformats.org/officeDocument/2006/relationships" id="272" r:id="R628bfb1aab1b4bc1"/>
    <p:sldId xmlns:r="http://schemas.openxmlformats.org/officeDocument/2006/relationships" id="273" r:id="R827de72cba8f4476"/>
    <p:sldId xmlns:r="http://schemas.openxmlformats.org/officeDocument/2006/relationships" id="274" r:id="R55da1b2ee1114f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904d963a8548f7" /><Relationship Type="http://schemas.openxmlformats.org/officeDocument/2006/relationships/slideMaster" Target="/ppt/slideMasters/slideMaster1.xml" Id="Rd8e2f9c1737a4c9f" /><Relationship Type="http://schemas.openxmlformats.org/officeDocument/2006/relationships/notesMaster" Target="/ppt/notesMasters/notesMaster1.xml" Id="Rf70c29b97a84496f" /><Relationship Type="http://schemas.openxmlformats.org/officeDocument/2006/relationships/presProps" Target="/ppt/presProps.xml" Id="Ra03698fbd1d04986" /><Relationship Type="http://schemas.openxmlformats.org/officeDocument/2006/relationships/tableStyles" Target="/ppt/tableStyles.xml" Id="R2319ed26c09a4fce" /><Relationship Type="http://schemas.openxmlformats.org/officeDocument/2006/relationships/slide" Target="/ppt/slides/slide1.xml" Id="R27407300d2804c33" /><Relationship Type="http://schemas.openxmlformats.org/officeDocument/2006/relationships/slide" Target="/ppt/slides/slide2.xml" Id="R1c2d2d398359483a" /><Relationship Type="http://schemas.openxmlformats.org/officeDocument/2006/relationships/slide" Target="/ppt/slides/slide3.xml" Id="R11990594887e4cab" /><Relationship Type="http://schemas.openxmlformats.org/officeDocument/2006/relationships/slide" Target="/ppt/slides/slide4.xml" Id="R2408ba0ba82047a2" /><Relationship Type="http://schemas.openxmlformats.org/officeDocument/2006/relationships/slide" Target="/ppt/slides/slide5.xml" Id="R68d67ef2c6b84e75" /><Relationship Type="http://schemas.openxmlformats.org/officeDocument/2006/relationships/slide" Target="/ppt/slides/slide6.xml" Id="R8362039783314344" /><Relationship Type="http://schemas.openxmlformats.org/officeDocument/2006/relationships/slide" Target="/ppt/slides/slide7.xml" Id="Rfbc252c90e6d4002" /><Relationship Type="http://schemas.openxmlformats.org/officeDocument/2006/relationships/slide" Target="/ppt/slides/slide8.xml" Id="R3aea6adf5db04512" /><Relationship Type="http://schemas.openxmlformats.org/officeDocument/2006/relationships/slide" Target="/ppt/slides/slide9.xml" Id="R0e9017c8d8fe4a38" /><Relationship Type="http://schemas.openxmlformats.org/officeDocument/2006/relationships/slide" Target="/ppt/slides/slide10.xml" Id="R49c7365100d64540" /><Relationship Type="http://schemas.openxmlformats.org/officeDocument/2006/relationships/slide" Target="/ppt/slides/slide11.xml" Id="Rdd450c8ada6b40f6" /><Relationship Type="http://schemas.openxmlformats.org/officeDocument/2006/relationships/slide" Target="/ppt/slides/slide12.xml" Id="R4897d73a1dc2453c" /><Relationship Type="http://schemas.openxmlformats.org/officeDocument/2006/relationships/slide" Target="/ppt/slides/slide13.xml" Id="Rba111be895d240f0" /><Relationship Type="http://schemas.openxmlformats.org/officeDocument/2006/relationships/slide" Target="/ppt/slides/slide14.xml" Id="R9ae6cc2b7fbb44d8" /><Relationship Type="http://schemas.openxmlformats.org/officeDocument/2006/relationships/slide" Target="/ppt/slides/slide15.xml" Id="R2da85b1c7a084d9f" /><Relationship Type="http://schemas.openxmlformats.org/officeDocument/2006/relationships/slide" Target="/ppt/slides/slide16.xml" Id="R70fcb3ec6c264129" /><Relationship Type="http://schemas.openxmlformats.org/officeDocument/2006/relationships/slide" Target="/ppt/slides/slide17.xml" Id="R628bfb1aab1b4bc1" /><Relationship Type="http://schemas.openxmlformats.org/officeDocument/2006/relationships/slide" Target="/ppt/slides/slide18.xml" Id="R827de72cba8f4476" /><Relationship Type="http://schemas.openxmlformats.org/officeDocument/2006/relationships/slide" Target="/ppt/slides/slide19.xml" Id="R55da1b2ee1114f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76ced61c474b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b8f244750c4c72" /><Relationship Type="http://schemas.openxmlformats.org/officeDocument/2006/relationships/notesMaster" Target="/ppt/notesMasters/notesMaster1.xml" Id="R2379f3ecb2d845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c5949ab0d7419b" /><Relationship Type="http://schemas.openxmlformats.org/officeDocument/2006/relationships/notesMaster" Target="/ppt/notesMasters/notesMaster1.xml" Id="Ra828c62511b449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770f00e1b84cf6" /><Relationship Type="http://schemas.openxmlformats.org/officeDocument/2006/relationships/notesMaster" Target="/ppt/notesMasters/notesMaster1.xml" Id="Ra763b9c018a048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6772b9d23e4fb6" /><Relationship Type="http://schemas.openxmlformats.org/officeDocument/2006/relationships/notesMaster" Target="/ppt/notesMasters/notesMaster1.xml" Id="R6924bd643d7c4c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99cbbd80164ad9" /><Relationship Type="http://schemas.openxmlformats.org/officeDocument/2006/relationships/notesMaster" Target="/ppt/notesMasters/notesMaster1.xml" Id="R2c143b8b589247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1b28a36b914ba2" /><Relationship Type="http://schemas.openxmlformats.org/officeDocument/2006/relationships/notesMaster" Target="/ppt/notesMasters/notesMaster1.xml" Id="R656b4b38506c46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f14d103bd04f51" /><Relationship Type="http://schemas.openxmlformats.org/officeDocument/2006/relationships/notesMaster" Target="/ppt/notesMasters/notesMaster1.xml" Id="Rf3e5553bc65141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3f3190f0bc4ec3" /><Relationship Type="http://schemas.openxmlformats.org/officeDocument/2006/relationships/notesMaster" Target="/ppt/notesMasters/notesMaster1.xml" Id="R120824cb21fa49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5252adec6f478b" /><Relationship Type="http://schemas.openxmlformats.org/officeDocument/2006/relationships/notesMaster" Target="/ppt/notesMasters/notesMaster1.xml" Id="R1cb402fd4d7942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a9854332dd46df" /><Relationship Type="http://schemas.openxmlformats.org/officeDocument/2006/relationships/notesMaster" Target="/ppt/notesMasters/notesMaster1.xml" Id="Rec79004830b243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76ed2169d3468d" /><Relationship Type="http://schemas.openxmlformats.org/officeDocument/2006/relationships/notesMaster" Target="/ppt/notesMasters/notesMaster1.xml" Id="Rd89aeb82bf454e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02fcaf78a24088" /><Relationship Type="http://schemas.openxmlformats.org/officeDocument/2006/relationships/notesMaster" Target="/ppt/notesMasters/notesMaster1.xml" Id="R814071267c954b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3098ffbbcd4281" /><Relationship Type="http://schemas.openxmlformats.org/officeDocument/2006/relationships/notesMaster" Target="/ppt/notesMasters/notesMaster1.xml" Id="R127a629dc42b4f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bb6f6287f042d8" /><Relationship Type="http://schemas.openxmlformats.org/officeDocument/2006/relationships/notesMaster" Target="/ppt/notesMasters/notesMaster1.xml" Id="Rd7194b89a9ac43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f1dd2c931444e7" /><Relationship Type="http://schemas.openxmlformats.org/officeDocument/2006/relationships/notesMaster" Target="/ppt/notesMasters/notesMaster1.xml" Id="Rc2ff810d90d74b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de2fa6576543db" /><Relationship Type="http://schemas.openxmlformats.org/officeDocument/2006/relationships/notesMaster" Target="/ppt/notesMasters/notesMaster1.xml" Id="Rcf392c947a744b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d46702a75842a8" /><Relationship Type="http://schemas.openxmlformats.org/officeDocument/2006/relationships/notesMaster" Target="/ppt/notesMasters/notesMaster1.xml" Id="Rba24231c6d9048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012a12d1fe4dee" /><Relationship Type="http://schemas.openxmlformats.org/officeDocument/2006/relationships/notesMaster" Target="/ppt/notesMasters/notesMaster1.xml" Id="R677388d069f74f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4aec5f776f4960" /><Relationship Type="http://schemas.openxmlformats.org/officeDocument/2006/relationships/notesMaster" Target="/ppt/notesMasters/notesMaster1.xml" Id="Ref23cdbb54be4c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本次汇报以当前仓库中的三组实验和五篇论文为依据。</a:t>
            </a:r>
          </a:p>
          <a:p xmlns:a="http://schemas.openxmlformats.org/drawingml/2006/main">
            <a:r>
              <a:t>重点不是展示一个完成的系统，而是明确下一步应该训练什么、为什么。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D:\University\Alpha-SQL\PHASE2_EXPERIMENT_REPORT.md</a:t>
            </a:r>
          </a:p>
          <a:p xmlns:a="http://schemas.openxmlformats.org/drawingml/2006/main">
            <a:r>
              <a:t>MCTS budget: 2 rollouts, max depth 5. The 12 questions were chosen within the constrained compiler slice.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The 13 missing MCTS questions are due to provider arrearage and five earlier output truncations. Strict 300-way comparison remains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Percent values are reported as percentage points. McNemar/exact binomial p=0.049 on the 17 disagreements.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MCTS schema evidence is not a pure linker baseline because some stored paths skip the schema-selection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The slice definition follows the original 12-question experiment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  <a:p xmlns:a="http://schemas.openxmlformats.org/drawingml/2006/main">
            <a:r>
              <a:t>GapClosure uses the 12-question oracle-to-SC selector gap as denominator: -9/12 = -75%.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D:\University\Alpha-SQL\LLM_JEV_300_INTERIM_REPORT.md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The split is frozen by question ID but is not database-disjoint.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D:\University\Alpha-SQL\HARD_CASE_PAIRWISE_100_REPORT.md</a:t>
            </a:r>
          </a:p>
          <a:p xmlns:a="http://schemas.openxmlformats.org/drawingml/2006/main">
            <a:r>
              <a:t>Primary model delta vs SC is -1 point; paired bootstrap 95% CI [-7, +5]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E:\Text2SQL\Curriculum Learning.pdf</a:t>
            </a:r>
          </a:p>
          <a:p xmlns:a="http://schemas.openxmlformats.org/drawingml/2006/main">
            <a:r>
              <a:t>E:\Text2SQL\Beyond Random Sampling.pdf</a:t>
            </a:r>
          </a:p>
          <a:p xmlns:a="http://schemas.openxmlformats.org/drawingml/2006/main">
            <a:r>
              <a:t>E:\Text2SQL\Difficulty Is Not Enough.pdf</a:t>
            </a:r>
          </a:p>
          <a:p xmlns:a="http://schemas.openxmlformats.org/drawingml/2006/main">
            <a:r>
              <a:t>E:\Text2SQL\Enhancing Alignment using Curriculum Learning.pdf</a:t>
            </a:r>
          </a:p>
          <a:p xmlns:a="http://schemas.openxmlformats.org/drawingml/2006/main">
            <a:r>
              <a:t>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E:\Text2SQL\Curriculum Learning.pdf</a:t>
            </a:r>
          </a:p>
          <a:p xmlns:a="http://schemas.openxmlformats.org/drawingml/2006/main">
            <a:r>
              <a:t>Source: E:\Text2SQL\Beyond Random Sampling.pdf</a:t>
            </a:r>
          </a:p>
          <a:p xmlns:a="http://schemas.openxmlformats.org/drawingml/2006/main">
            <a:r>
              <a:t>Source: E:\Text2SQL\Difficulty Is Not Enough.pdf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E:\Text2SQL\Enhancing Alignment using Curriculum Learning.pdf</a:t>
            </a:r>
          </a:p>
          <a:p xmlns:a="http://schemas.openxmlformats.org/drawingml/2006/main">
            <a:r>
              <a:t>Source: E:\Text2SQL\GradeSQL.pdf</a:t>
            </a:r>
          </a:p>
          <a:p xmlns:a="http://schemas.openxmlformats.org/drawingml/2006/main">
            <a:r>
              <a:t>GradeSQL reports BIRD dev ORM-BoN 68.90, Majority Voting 66.95, ex-BoN 66.04, Pass@32 80.57.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D:\University\Alpha-SQL\HARD_CASE_PAIRWISE_100_REPORT.md; E:\Text2SQL\Difficulty Is Not Enough.pdf; E:\Text2SQL\Enhancing Alignment using Curriculum Learning.pdf;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D:\University\Alpha-SQL\HARD_CASE_PAIRWISE_100_REPORT.md; E:\Text2SQL\Difficulty Is Not Enough.pdf;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D:\University\Alpha-SQL\LLM_JEV_300_INTERIM_REPORT.md; D:\University\Alpha-SQL\HARD_CASE_PAIRWISE_100_REPORT.md; E:\Text2SQL\GradeSQL.pdf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2a56718134c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296f1b58c42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a1bf829ce42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4d6fa13a841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6a674745a4a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b611832c640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C056C7-E4C6-4825-B580-274C6745B2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73C880-B029-48EC-A514-1B485BB874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7903B2-36F5-40FC-9A24-12441FFC78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1C0ACE-FFD7-454B-813C-EB61A6F53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5334DC-63A5-4EAE-9DA3-D16D1BEAFD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E99571-E40F-4AF2-943F-C4E5044615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191C50-BE1A-4416-9445-9AE6888167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C896FD5-D0E9-4209-B716-B5F75BEDF5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B2EF3F-C700-427E-B501-CFBA52477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65625A-6970-4B72-8972-62876A1F41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ef6ed146634418" /><Relationship Type="http://schemas.openxmlformats.org/officeDocument/2006/relationships/slideLayout" Target="/ppt/slideLayouts/slideLayout1.xml" Id="R1bbc8c1e2ccd431e" /><Relationship Type="http://schemas.openxmlformats.org/officeDocument/2006/relationships/slideLayout" Target="/ppt/slideLayouts/slideLayout2.xml" Id="Rc70e5ed159734511" /><Relationship Type="http://schemas.openxmlformats.org/officeDocument/2006/relationships/slideLayout" Target="/ppt/slideLayouts/slideLayout3.xml" Id="R696a98f4cfcb45c2" /><Relationship Type="http://schemas.openxmlformats.org/officeDocument/2006/relationships/slideLayout" Target="/ppt/slideLayouts/slideLayout4.xml" Id="R0a54b2342b4942da" /><Relationship Type="http://schemas.openxmlformats.org/officeDocument/2006/relationships/slideLayout" Target="/ppt/slideLayouts/slideLayout5.xml" Id="Re8ddd34bc1354135" /><Relationship Type="http://schemas.openxmlformats.org/officeDocument/2006/relationships/slideLayout" Target="/ppt/slideLayouts/slideLayout6.xml" Id="R9f2622834f0141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bc8c1e2ccd431e"/>
    <p:sldLayoutId xmlns:r="http://schemas.openxmlformats.org/officeDocument/2006/relationships" id="2147483650" r:id="Rc70e5ed159734511"/>
    <p:sldLayoutId xmlns:r="http://schemas.openxmlformats.org/officeDocument/2006/relationships" id="2147483651" r:id="R696a98f4cfcb45c2"/>
    <p:sldLayoutId xmlns:r="http://schemas.openxmlformats.org/officeDocument/2006/relationships" id="2147483652" r:id="R0a54b2342b4942da"/>
    <p:sldLayoutId xmlns:r="http://schemas.openxmlformats.org/officeDocument/2006/relationships" id="2147483653" r:id="Re8ddd34bc1354135"/>
    <p:sldLayoutId xmlns:r="http://schemas.openxmlformats.org/officeDocument/2006/relationships" id="2147483654" r:id="R9f2622834f0141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b456e15cb45f5" /><Relationship Type="http://schemas.openxmlformats.org/officeDocument/2006/relationships/notesSlide" Target="/ppt/notesSlides/notesSlide1.xml" Id="R67fbb17f934d45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b463bb3884c9b" /><Relationship Type="http://schemas.openxmlformats.org/officeDocument/2006/relationships/notesSlide" Target="/ppt/notesSlides/notesSlide2.xml" Id="R641f7ed8971b40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265c1d7a24273" /><Relationship Type="http://schemas.openxmlformats.org/officeDocument/2006/relationships/notesSlide" Target="/ppt/notesSlides/notesSlide3.xml" Id="R5f8fb5918f6b40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9375c9a534c39" /><Relationship Type="http://schemas.openxmlformats.org/officeDocument/2006/relationships/notesSlide" Target="/ppt/notesSlides/notesSlide4.xml" Id="R2ce45cbae7b140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e4f4d08684a49" /><Relationship Type="http://schemas.openxmlformats.org/officeDocument/2006/relationships/notesSlide" Target="/ppt/notesSlides/notesSlide5.xml" Id="R1304b2738d5546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92798837d4a3c" /><Relationship Type="http://schemas.openxmlformats.org/officeDocument/2006/relationships/notesSlide" Target="/ppt/notesSlides/notesSlide6.xml" Id="R011907ca72954b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98f8a86264ce2" /><Relationship Type="http://schemas.openxmlformats.org/officeDocument/2006/relationships/chart" Target="/ppt/slides/charts/chart1.xml" Id="Rf16e54156bfb48f6" /><Relationship Type="http://schemas.openxmlformats.org/officeDocument/2006/relationships/notesSlide" Target="/ppt/notesSlides/notesSlide7.xml" Id="R08179ffe29774e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6989daf504d23" /><Relationship Type="http://schemas.openxmlformats.org/officeDocument/2006/relationships/chart" Target="/ppt/slides/charts/chart2.xml" Id="R55c78cb5bca5421b" /><Relationship Type="http://schemas.openxmlformats.org/officeDocument/2006/relationships/notesSlide" Target="/ppt/notesSlides/notesSlide8.xml" Id="R9b7c5b2076f649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ddbb1b8e746e1" /><Relationship Type="http://schemas.openxmlformats.org/officeDocument/2006/relationships/chart" Target="/ppt/slides/charts/chart3.xml" Id="R91588e42e4294136" /><Relationship Type="http://schemas.openxmlformats.org/officeDocument/2006/relationships/notesSlide" Target="/ppt/notesSlides/notesSlide9.xml" Id="R86db9ea0dad749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54c669cb9c446e" /><Relationship Type="http://schemas.openxmlformats.org/officeDocument/2006/relationships/chart" Target="/ppt/slides/charts/chart4.xml" Id="Rab13d40a2d1c4267" /><Relationship Type="http://schemas.openxmlformats.org/officeDocument/2006/relationships/notesSlide" Target="/ppt/notesSlides/notesSlide10.xml" Id="Rb3002d77004844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ce2b8dea04199" /><Relationship Type="http://schemas.openxmlformats.org/officeDocument/2006/relationships/notesSlide" Target="/ppt/notesSlides/notesSlide11.xml" Id="Rc687c749c92449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289fb1fd504ae4" /><Relationship Type="http://schemas.openxmlformats.org/officeDocument/2006/relationships/notesSlide" Target="/ppt/notesSlides/notesSlide12.xml" Id="R04d1d1af89f240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d3263c34a4790" /><Relationship Type="http://schemas.openxmlformats.org/officeDocument/2006/relationships/chart" Target="/ppt/slides/charts/chart5.xml" Id="R8bc2e01a04524c79" /><Relationship Type="http://schemas.openxmlformats.org/officeDocument/2006/relationships/notesSlide" Target="/ppt/notesSlides/notesSlide13.xml" Id="R3c22168b6d9249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e8eb54287a4644" /><Relationship Type="http://schemas.openxmlformats.org/officeDocument/2006/relationships/image" Target="/ppt/media/image.png" Id="Ra87f65fb81ab444a" /><Relationship Type="http://schemas.openxmlformats.org/officeDocument/2006/relationships/image" Target="/ppt/media/image2.png" Id="Re760f20a2b034084" /><Relationship Type="http://schemas.openxmlformats.org/officeDocument/2006/relationships/image" Target="/ppt/media/image3.png" Id="Rf554a8de533c41e2" /><Relationship Type="http://schemas.openxmlformats.org/officeDocument/2006/relationships/image" Target="/ppt/media/image4.png" Id="R0b55dac4628a4179" /><Relationship Type="http://schemas.openxmlformats.org/officeDocument/2006/relationships/image" Target="/ppt/media/image5.png" Id="Rc5648236d8be43ea" /><Relationship Type="http://schemas.openxmlformats.org/officeDocument/2006/relationships/notesSlide" Target="/ppt/notesSlides/notesSlide14.xml" Id="Rfb2b6329de484d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82829d738430b" /><Relationship Type="http://schemas.openxmlformats.org/officeDocument/2006/relationships/notesSlide" Target="/ppt/notesSlides/notesSlide15.xml" Id="Rba84a17f692a40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38b836f634152" /><Relationship Type="http://schemas.openxmlformats.org/officeDocument/2006/relationships/notesSlide" Target="/ppt/notesSlides/notesSlide16.xml" Id="R5e7d44bd118b4e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d62759d96c41b2" /><Relationship Type="http://schemas.openxmlformats.org/officeDocument/2006/relationships/notesSlide" Target="/ppt/notesSlides/notesSlide17.xml" Id="R6e046c2d4bc645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6bbf7fa494c39" /><Relationship Type="http://schemas.openxmlformats.org/officeDocument/2006/relationships/notesSlide" Target="/ppt/notesSlides/notesSlide18.xml" Id="Rb50c408efd8941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e80f1bc89451c" /><Relationship Type="http://schemas.openxmlformats.org/officeDocument/2006/relationships/notesSlide" Target="/ppt/notesSlides/notesSlide19.xml" Id="R79614a1157644b8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Candidate Coverage</c:v>
          </c:tx>
          <c:spPr>
            <a:solidFill xmlns:a="http://schemas.openxmlformats.org/drawingml/2006/main">
              <a:srgbClr val="3B6EA8"/>
            </a:solidFill>
          </c:spPr>
          <c:invertIfNegative val="0"/>
          <c:cat>
            <c:strLit>
              <c:ptCount val="3"/>
              <c:pt idx="0">
                <c:v>MCTS + SC</c:v>
              </c:pt>
              <c:pt idx="1">
                <c:v>Jev constrained</c:v>
              </c:pt>
              <c:pt idx="2">
                <c:v>MCTS pool + Jev</c:v>
              </c:pt>
            </c:strLit>
          </c:cat>
          <c:val>
            <c:numLit>
              <c:formatCode>0</c:formatCode>
              <c:ptCount val="3"/>
              <c:pt idx="0">
                <c:v>79.79</c:v>
              </c:pt>
              <c:pt idx="1">
                <c:v>29.27</c:v>
              </c:pt>
              <c:pt idx="2">
                <c:v>79.79</c:v>
              </c:pt>
            </c:numLit>
          </c:val>
        </c:ser>
        <c:ser>
          <c:idx val="1"/>
          <c:order val="1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3"/>
              <c:pt idx="0">
                <c:v>MCTS + SC</c:v>
              </c:pt>
              <c:pt idx="1">
                <c:v>Jev constrained</c:v>
              </c:pt>
              <c:pt idx="2">
                <c:v>MCTS pool + Jev</c:v>
              </c:pt>
            </c:strLit>
          </c:cat>
          <c:val>
            <c:numLit>
              <c:formatCode>0</c:formatCode>
              <c:ptCount val="3"/>
              <c:pt idx="0">
                <c:v>75.61</c:v>
              </c:pt>
              <c:pt idx="1">
                <c:v>25.44</c:v>
              </c:pt>
              <c:pt idx="2">
                <c:v>72.47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MCTS path evidence</c:v>
          </c:tx>
          <c:spPr>
            <a:solidFill xmlns:a="http://schemas.openxmlformats.org/drawingml/2006/main">
              <a:srgbClr val="AAB5BF"/>
            </a:solidFill>
          </c:spPr>
          <c:invertIfNegative val="0"/>
          <c:cat>
            <c:strLit>
              <c:ptCount val="4"/>
              <c:pt idx="0">
                <c:v>Table Precision</c:v>
              </c:pt>
              <c:pt idx="1">
                <c:v>Table Recall</c:v>
              </c:pt>
              <c:pt idx="2">
                <c:v>Column Precision</c:v>
              </c:pt>
              <c:pt idx="3">
                <c:v>Column Recall</c:v>
              </c:pt>
            </c:strLit>
          </c:cat>
          <c:val>
            <c:numLit>
              <c:formatCode>General</c:formatCode>
              <c:ptCount val="4"/>
              <c:pt idx="0">
                <c:v>54.24</c:v>
              </c:pt>
              <c:pt idx="1">
                <c:v>53.98</c:v>
              </c:pt>
              <c:pt idx="2">
                <c:v>47.54</c:v>
              </c:pt>
              <c:pt idx="3">
                <c:v>52.86</c:v>
              </c:pt>
            </c:numLit>
          </c:val>
        </c:ser>
        <c:ser>
          <c:idx val="1"/>
          <c:order val="1"/>
          <c:tx>
            <c:v>Jev linker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4"/>
              <c:pt idx="0">
                <c:v>Table Precision</c:v>
              </c:pt>
              <c:pt idx="1">
                <c:v>Table Recall</c:v>
              </c:pt>
              <c:pt idx="2">
                <c:v>Column Precision</c:v>
              </c:pt>
              <c:pt idx="3">
                <c:v>Column Recall</c:v>
              </c:pt>
            </c:strLit>
          </c:cat>
          <c:val>
            <c:numLit>
              <c:formatCode>General</c:formatCode>
              <c:ptCount val="4"/>
              <c:pt idx="0">
                <c:v>63.35</c:v>
              </c:pt>
              <c:pt idx="1">
                <c:v>99.3</c:v>
              </c:pt>
              <c:pt idx="2">
                <c:v>60.16</c:v>
              </c:pt>
              <c:pt idx="3">
                <c:v>97.35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Coverage</c:v>
          </c:tx>
          <c:spPr>
            <a:solidFill xmlns:a="http://schemas.openxmlformats.org/drawingml/2006/main">
              <a:srgbClr val="3B6EA8"/>
            </a:solidFill>
          </c:spPr>
          <c:invertIfNegative val="0"/>
          <c:cat>
            <c:strLit>
              <c:ptCount val="2"/>
              <c:pt idx="0">
                <c:v>compiler 范围内（83）</c:v>
              </c:pt>
              <c:pt idx="1">
                <c:v>范围外（217）</c:v>
              </c:pt>
            </c:strLit>
          </c:cat>
          <c:val>
            <c:numLit>
              <c:formatCode>General</c:formatCode>
              <c:ptCount val="2"/>
              <c:pt idx="0">
                <c:v>77.11</c:v>
              </c:pt>
              <c:pt idx="1">
                <c:v>11.98</c:v>
              </c:pt>
            </c:numLit>
          </c:val>
        </c:ser>
        <c:ser>
          <c:idx val="1"/>
          <c:order val="1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2"/>
              <c:pt idx="0">
                <c:v>compiler 范围内（83）</c:v>
              </c:pt>
              <c:pt idx="1">
                <c:v>范围外（217）</c:v>
              </c:pt>
            </c:strLit>
          </c:cat>
          <c:val>
            <c:numLit>
              <c:formatCode>General</c:formatCode>
              <c:ptCount val="2"/>
              <c:pt idx="0">
                <c:v>74.7</c:v>
              </c:pt>
              <c:pt idx="1">
                <c:v>7.37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Final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2"/>
              <c:pt idx="0">
                <c:v>Self-consistency</c:v>
              </c:pt>
              <c:pt idx="1">
                <c:v>Jev-on-MCTS</c:v>
              </c:pt>
            </c:strLit>
          </c:cat>
          <c:val>
            <c:numLit>
              <c:formatCode>General</c:formatCode>
              <c:ptCount val="2"/>
              <c:pt idx="0">
                <c:v>75.61</c:v>
              </c:pt>
              <c:pt idx="1">
                <c:v>72.47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EX</c:v>
          </c:tx>
          <c:spPr>
            <a:solidFill xmlns:a="http://schemas.openxmlformats.org/drawingml/2006/main">
              <a:srgbClr val="0E7C7B"/>
            </a:solidFill>
          </c:spPr>
          <c:invertIfNegative val="0"/>
          <c:cat>
            <c:strLit>
              <c:ptCount val="3"/>
              <c:pt idx="0">
                <c:v>Self-consistency</c:v>
              </c:pt>
              <c:pt idx="1">
                <c:v>Pairwise + SC</c:v>
              </c:pt>
              <c:pt idx="2">
                <c:v>Oracle</c:v>
              </c:pt>
            </c:strLit>
          </c:cat>
          <c:val>
            <c:numLit>
              <c:formatCode>General</c:formatCode>
              <c:ptCount val="3"/>
              <c:pt idx="0">
                <c:v>76</c:v>
              </c:pt>
              <c:pt idx="1">
                <c:v>75</c:v>
              </c:pt>
              <c:pt idx="2">
                <c:v>81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4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9296A-5324-4D1A-92D8-DA58E21A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C6101-F20B-4EC9-AB79-6925ACFB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A237F-9EC2-472B-BB26-4DE32357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5375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+ Schema-aware</a:t>
            </a:r>
          </a:p>
          <a:p xmlns:a="http://schemas.openxmlformats.org/drawingml/2006/main">
            <a:pPr algn="l">
              <a:def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SQL 选择实验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04092-5D99-4600-97A2-BEA11D70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从高召回 Schema Linking，到可验证的候选重排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9A384-B9B4-4CC4-9BCD-4B3070EE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9906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57C83-E9CF-4CAB-9D0E-4889388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12题探路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15088-B5AC-4AC8-A78E-A2DC326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67025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300题扩展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7DCEA-5102-438D-83F4-C7B5E529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38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100题监督重排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D0BF5-DC25-4FAA-B4AF-E5261662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Dongx Xia · 50062682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BCED2-15D3-4028-B6B4-4A05F636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7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>
            <a:defPPr algn="l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2026-10-13</a:t>
            </a:r>
          </a:p>
        </p:txBody>
      </p:sp>
    </p:spTree>
    <p:extLst>
      <p:ext uri="{BB962C8B-B14F-4D97-AF65-F5344CB8AC3E}">
        <p14:creationId xmlns:p14="http://schemas.microsoft.com/office/powerpoint/2010/main" val="1133669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D59DE-B140-4DB9-8A79-77004A3D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这次汇报先回答三个问题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22A4F-4747-483F-9F4E-2B7EA23C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703B5-15C1-4CEF-B55F-E04D48D6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74735-9B73-4F5F-8B02-D9721F81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FC992-F315-4F32-A2F2-ECDC607C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3F342-E07C-440C-82F5-BAB8CF34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能否替换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Schema Linker？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05A8D-FFE0-4CF1-8E47-888368A4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高表列召回是否等价于高 SQL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DEF5E-757D-453E-9577-6B5F9632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E07A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1AFC5-21D0-462C-8312-38293B89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010AC-2B1C-48CE-AB0D-4C855132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reranker 能否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替换 self-consistency？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3DEAD-1F86-4444-AD58-FF9AE347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固定同一候选池，比较 selector 本身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5298B-8D60-4A5A-B0E0-5B1D4B9A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333750" cy="4000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0E7C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7244E-D4A2-4913-ADED-DE83AA87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31D83-321F-4F90-8A7D-FC976DD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监督式 selector</a:t>
            </a:r>
          </a:p>
          <a:p xmlns:a="http://schemas.openxmlformats.org/drawingml/2006/main">
            <a:pPr algn="l">
              <a:def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下一步怎样训练？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DEF44-34BC-4A0C-AC72-4E85C8AD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80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从五篇 curriculum / ORM 论文得到方案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B3187-E6D8-4310-8C8E-3C37CEC3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判断标准：分开看 candidate coverage 与 selector accuracy given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ACBE6-76D3-401A-A4B3-E9AB4749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0ACB4-9D90-4CB6-BF10-FFD327B7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283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37C643-CFE5-4E3E-929E-78885B1F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项目最初想法：把生成能力与选择能力拆开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FD54C-EAFD-4673-B11D-34FAFC71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8E42A-01A2-4C51-BEC3-D411B97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5CAA2-7A75-44DA-BB25-5E971044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问题 + 全量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2C6AD-9C6F-4A67-9860-E30C9DC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D46C0-7347-4704-8FC5-9A402499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1866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typed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schema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75380-1963-4ABC-B26C-760F92D1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46109-D65C-408D-839D-93517D44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QueryPlan beam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Python 编译 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D7DE1-04D6-48F9-9845-2FFD6705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9552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F61D3-3E7C-4FE4-B5DE-B0763894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AAB5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9AA74-3948-44A5-A074-F7B8201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95525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239DC-1986-4DC7-9E9E-C2927551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00250"/>
            <a:ext cx="914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rerank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CA4E3-B8F1-48D9-ADBF-20424EF7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独立对照路径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17414-8E88-485D-B9FB-13CB949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857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Qwen / MCTS 生成候选池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7FBF7-888A-44AD-8365-633D91EA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FA087-3777-4531-AB3D-9EC63AEB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6240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同一候选池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64C12-6347-4925-B7C8-A2330600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72048-1559-4AA5-9D94-D9942FAE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81425"/>
            <a:ext cx="19621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self-consistency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16520-A4C3-4C67-8BE9-D5EF2671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529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ctr">
              <a:def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9D503-7D06-4BF8-903D-92E6D9BC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81425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schema-aware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reranker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4A55E6-764B-4287-97E0-B1A17628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72125"/>
            <a:ext cx="70104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关键：Jev 不是生成模型，也不替换现有 Qwen/OpenAI 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A59CB-ECE0-434A-BE94-C7C5C5F2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EC72D-E50A-4B0E-A18C-A75A5E55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1052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654D1A-9EF5-4625-8847-5C4D64EC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三步实验路线：先定位问题，再训练 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83E65-A600-41B8-B5C2-73C7D397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实验路线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7A2AB-B2AA-4F9A-B645-B00507A9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8431E-B386-4212-838B-CFF2B223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22C29-0DB0-41D0-B60E-0342088F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01EA8-185E-42C6-89C3-60915F0A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CE7F7-BEDF-4866-B822-3093A4A3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12题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F597E-D106-42E2-8F54-05960353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受约束探路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00F80-B932-4859-82B3-8AF38CEF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验证 pipeline 可跑通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观察 linker / compiler / reranker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92176-1873-474F-B2DC-EBCE8386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D02FC-2A1F-40F6-8491-B5FA91F1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1B2CC-DFC0-4513-8B7E-8295F73C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300题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30DFC-1991-4AE8-8B76-19975059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扩展与分解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0F53F-7142-4AD8-ADDB-4709C891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区分能力范围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固定候选池比较 selector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1FAC6-A037-473E-A5CF-73E564F9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574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3C48B-0EF9-49CF-8695-F8B2AB60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9700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F863E-A928-4E1A-A1F7-96983CC7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100题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16FFC-DE46-4570-BA66-0BE365EC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监督式 pairwise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0F968-D899-4F26-98F1-281E11B7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19500"/>
            <a:ext cx="257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筛 hard cases</a:t>
            </a:r>
          </a:p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保留 SC 特征并做 confidence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EBC90-02BA-479D-B1DA-84EF544F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结论演进：能跑通 → 找到真正瓶颈 → 证明监督信号存在但安全性不足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04614-D891-4372-9B6C-F4919CAD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7D68EB-C7A5-4851-B9C8-736B0693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816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72B22-A95E-49BE-96C6-187C8F5E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12题探路：Jev 有选择信号，但不能直接替换 SC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CCD47-9598-42E0-A144-CBAC1308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8A962-07F9-47E4-B121-8C8485E8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766C0-7E9B-4B76-B0BB-11163B26472B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04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809750"/>
                <a:gridCol w="1809750"/>
              </a:tblGrid>
              <a:tr h="714375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Final EX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MCTS + self-consistency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Jev constrained pipeline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MCTS pool + Jev reranker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11/12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D0996-F6CA-42B0-9C60-E2BCE6AE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03A17-55E7-4296-A23D-E8BCB982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5 →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1AAA4-B1B3-4A51-8AEB-19B5A59F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193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自有候选池：top-beam 到 rerank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B6A61-4F00-4499-8AF5-B74BCDDD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28A57-78FC-4AB8-9721-59A3BDA7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12 →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51E0F-6034-4AD3-B3F4-0C5338D0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固定 MCTS 池：一次改选造成回归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CF343-968F-4521-99FA-1614D81E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15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 个 Jev coverage miss 均已召回正确表列，错误来自 DISTINCT 与 literal / 阈值组合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5AFCC-6AC3-412E-AEBE-216F2BDE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小样本能证明 reranker 有信息，不能证明它比强 SC baseline 更可靠。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A08D1-98C1-4A8D-B1D7-B6888DFF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57EF2-3AAD-4EC5-BDC9-D2FF9F46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726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599559-DD26-484D-B6C9-16B6A424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300题扩展：先把可比边界说清楚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6C014-5128-43C9-8A08-2D82D631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91396-30CE-497D-A6AC-D643D226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5B00A-9FD2-4FCB-9B18-D04D92EF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23616-09D8-4A69-9143-831DD454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130FC-14BD-4BE8-A5C7-9B1C1F22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冻结、gold 可本地执行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31967-0B63-4DBF-83B7-9AADE5BF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C02EF-C4E8-4360-8A61-8CDED246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8A692-CF53-4D94-ABBE-E508EA9A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300/300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EF1A5-BD99-4787-A3F5-33BB38F1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native 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1B6B1-FAFE-41CE-B379-53BD3E6E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A309C-9C7E-432F-9396-6034A2F4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287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61CF4-8600-4D24-B196-8690FD58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430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287/300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1B884-AA3E-46B5-AD0F-44B40C42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MCTS 完成，共同集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192DD-158C-48DA-9B29-25718F77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4785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8013E-E659-4993-AF0D-8137D5F2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428750"/>
            <a:ext cx="114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31092-0F61-4BAE-9DC2-8A9F6BC5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430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58808-3F0C-48DD-82A2-B2E2215A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19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33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欠费/截断待补跑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667E6-1CCB-49D3-BB30-3394BF3E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83 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A8A48-AE15-4593-AC34-1DCBFEEA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 compiler 范围内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1EB7F-7D00-4083-A36A-8BA066A7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217 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56982-2BD0-4320-B497-F99DAA08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包含尚未建模的 SQL 结构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CB658-0332-42AE-B623-E5C29EF2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38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287 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4C7DB-F7E5-4E15-8139-896D3112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三路方法严格可比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B76AC-572E-49AC-92B7-70B629A5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67350"/>
            <a:ext cx="9258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报告口径：Jev 用完整 300；方法对比用共同 287；不把缺失 13 题伪装成最终结果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AC1A35-A9FC-4AF8-AA11-E5A7458B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3EF1D3-2CE7-4831-850F-38E618AB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4362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5C5F9-7C78-40DE-8C1B-98A99B3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共同287题：MCTS coverage 是优势，Jev 直接重排会下降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78E11-43FD-4B07-AD55-0FEAC9AB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核心结果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C9016-D876-4ECF-885E-FBE53F0A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0214203-1D11-4BF1-823A-61B2C540B39D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6e54156bfb48f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92AC8-692C-4A56-AF8E-F1D4D539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1195C-4167-4564-BD9E-467DD9CD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-3.14 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65F08-6EE0-41D7-9A42-3DAD4609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Jev-on-MCTS 相对 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981F3-4DE4-4431-8E86-5F7786A7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3143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07170-A5EE-4313-BB41-95D7A455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[-5.92, -0.35]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56CFD-23AB-4249-8078-A8FAC9B5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paired bootstrap 95% 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AE3CF-4998-4B66-9CAE-4B458769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342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当前证据支持：无监督 Jev reranker 不应直接替换 execution self-consistency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FE9B5-15A1-4EE7-8D7C-2B7A482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45C5C-CDB6-498A-8692-F4F2C7FA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57080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A3E16-782B-4D21-958D-D8B0454B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Schema Linking 很强，但这不等于 SQL 已经正确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21584-698F-4EA4-A43E-B7A91E3D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瓶颈诊断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49974-929D-4C77-93E2-5CC64AB8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250D396-C0E5-4322-BB2A-290847BFD619}"/>
              </a:ext>
            </a:extLst>
          </p:cNvPr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c78cb5bca5421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9E2DE-8175-4046-9FBA-2523A849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B12EF-A656-403A-BBE5-47DE4EF7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85925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181 / 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9DD97-018A-4193-80E2-FB98A17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621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coverage miss 仍完整召回 gold 表列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C5AB6-D40E-475E-A9A5-4CDBF59E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143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B3A96-BBD6-417A-B18F-A2AD9B05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22 / 203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64344-DF96-4E49-98C9-7E737714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真正 schema recall 不完整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48F00-0A12-4376-ADDE-9A6FF8F8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629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资源优先级：QueryPlan / compiler / literal / operator  &gt;  再训练表列二分类器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FF978-ABD7-46DB-B695-DA157F1B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FF36A-1105-4CE0-B419-F33892C7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20158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469AC-C556-4847-8CB7-564A3B5B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constrained 的主瓶颈是能力范围，不是语义召回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59659-A720-4BAE-96F8-ECC5465A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能力范围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9E326-3BBE-4C85-A648-A321D8ED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72EF609-6B7F-43F1-A9E7-CE1397BB55EB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588e42e429413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9030E-4D86-4063-8AC8-CE84E74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66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>
            <a:def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当前尚未完整建模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BE70B-1E47-475D-AF3A-6A55690C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429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多投影、多过滤与复杂布尔条件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子查询与集合操作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GROUP BY / HAVING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ORDER BY / LIMIT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CASE、日期与字符串表达式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literal、类型转换与聚合层级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69620-F0F5-4EBF-836F-CDFF0D39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43500"/>
            <a:ext cx="3905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范围内 EX 74.7%：说明 12 题结果不是偶然，但系统还不是通用生成器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64524-5EA4-462E-892E-61F19204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CA239-B297-4DDD-8DC4-9AE7731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653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C042D-1B01-4835-A385-7CBEDC1A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Selector 的真实差距：修复 4 题，但回归 13 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AB9F0-167A-4770-82C1-0BAC640C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选择器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006E5-02F1-4D6C-8957-16A3C9EE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FED1AD5-C01C-4618-890F-F8BEA10D7283}"/>
              </a:ext>
            </a:extLst>
          </p:cNvPr>
          <p:cNvGraphicFramePr/>
          <p:nvPr/>
        </p:nvGraphicFramePr>
        <p:xfrm>
          <a:off xmlns:a="http://schemas.openxmlformats.org/drawingml/2006/main" x="609600" y="1447800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13d40a2d1c426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43F7B-0A16-4D1A-A460-AB73C60D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BE88C-1246-44F0-BCD1-9490A458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38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8E6A6-E228-4D97-A97C-AF3266B7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14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03B76-00FB-45A3-AA06-5CC1DB6E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C58B7-145F-4B57-9034-D53CB23C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383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368D7-2ED5-4842-8806-ED0ADFE1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14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36E79-EB94-4FF6-BF7C-EDE5CD47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D3726-18C2-4A17-B2FA-4562186F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194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94.76%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64290-A5DF-4B2B-974A-0CC86C60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956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17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SC 在 coverage 内选对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05439-D163-4722-8175-19A73BF4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05125"/>
            <a:ext cx="1905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0627C-F521-458B-952D-4B549B46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194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90.83%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2530F-FA34-4E22-A745-CCB6DD8E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956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83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在 coverage 内选对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2A705-ACF4-4B33-BFF2-A87493BA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3143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GapClosure = -75%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3DF46-C028-49B1-9E6F-6F5ADB2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53025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不是缺少改选能力，而是缺少“何时不要改选”的监督。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57DB9-460B-4415-BF26-80DB6D46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FD9A0-8F4B-40E4-8EE6-2CDE62CE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63745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07150-8AB3-431C-AC69-F97A60D2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错误不是随机的：通用语义与 benchmark 约定发生冲突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4371B-5ED7-4169-B8A6-95CBAB72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逐题分析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F473C-33F1-49FC-8C45-33BC74B5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D9304-6CFC-4145-B1EF-53E421B9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1625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1BFDA-5154-46BF-A51A-8A9512C6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287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>
            <a:defPPr algn="l">
              <a:def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修复的 4 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ADB7B-DE29-47CE-A198-648C5687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514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210：COUNT(*) → SUM(qty)，修复计量对象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3099：&gt;= → &gt;，匹配严格比较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8963：US$ 字符串先转数值再求最大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2481：修复年份上界的执行约定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E0F23-7105-4691-BE34-C5EA4F03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共同点：类型、比较符、聚合对象等可验证语义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9888B-19E8-42EB-A84A-EB2FA6D2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90650"/>
            <a:ext cx="51625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7C1CD-AD18-4023-9C45-8EA09C4B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28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>
            <a:defPPr algn="l">
              <a:def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回归的 13 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04369-472E-40DC-8F28-D13442A7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28850"/>
            <a:ext cx="4514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 题添加了 gold 不需要的 DISTINCT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投影从 ID 改成更自然的姓名 / 拼接字段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增加额外语义条件或换用相近字段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改变 GROUP BY、计数对象或百分比分母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从另一张语义相近表读取结果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50DF3-7A37-4440-AEE4-17A632A1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14"/>
          </a:bodyPr>
          <a:lstStyle xmlns:a="http://schemas.openxmlformats.org/drawingml/2006/main">
            <a:defPPr algn="ctr">
              <a:def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共同点：SQL 看起来更自然，但 execution gold 不等价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E8305-DEAE-4BA6-9277-855D0B76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7A04C-DF95-4865-B66B-A3859E91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30191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5D9075-D9C2-4FCB-8F8A-D87D59F8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100题监督式 pairwise：证明信号存在，数据仍远远不够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C8556-18F2-41D6-A73F-11210F6C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2E8C9-DE45-45FF-B3E2-7BDA5ECA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A0BC6-FEAA-40AD-B30C-7A8B5FE9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9E305-B5FD-40BB-8F87-DD57C719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269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6BDBF-B2C1-40C4-8CB9-7933629C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可评估问题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0133C-E394-41B1-920E-CC180016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C4004-9A74-46D5-9E2B-B081A674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903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D613B-FE71-4DA5-9FBC-A3434C0E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候选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EC520-2C92-4F99-97E1-6E9FD4B3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DC595-4011-4B06-ACE5-CE93836A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FC5B2-39CD-4692-BAC4-5B9C0272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全部 hard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1A91D-D3CE-4863-A10C-DB4CF03A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352550"/>
            <a:ext cx="1952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42B5E-9407-4F3A-80FC-8D951821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66850"/>
            <a:ext cx="1685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1044D-44B5-4410-99F2-135518BB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431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训练 hard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58841-DADA-4F25-B42F-B7253776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E8FC4-F61D-4C52-BCC9-4431854E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668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129/40/100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C86E8-CDF9-4521-A9A5-F490158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train / val /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46288-30CA-4D62-BF64-5DBC2ED2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48维特征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含 7 个 SC 特征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4D838-37EA-4748-A435-2D662A73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95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ECD10-D22B-4B43-A5BD-EDD880E2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76625"/>
            <a:ext cx="2428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MLP ensemble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RankNet + pointwise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D71A9A-197B-4218-8C97-30316472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195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B62D0-BBBB-4D21-88FE-211CCF1E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76625"/>
            <a:ext cx="2428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validation 选阈值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score margin ≥ 0.20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B580E-27AB-4934-B097-91B07A5F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195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596AE-B8B2-4DF7-BECF-0FE0249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76625"/>
            <a:ext cx="914400" cy="9525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否则回退 SC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B325F-180B-406A-88E1-7C8709D8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48275"/>
            <a:ext cx="8686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训练目标很窄：只解决候选中“正确 SQL 存在但多数簇选错”的问题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E4C7D-BCA3-4D47-96A4-71A04D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8C4F88-8C47-4470-8E77-0BA2408B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370626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216DE1-41B4-424A-9303-0EFE8837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监督实验：hard 子集修复 4/5，但被普通题回归抵消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70E0F-46AC-498D-B2A8-147A35B2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100题结果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C502A-8BA4-4747-A8B6-77BB5556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5D6EB81-CC6D-4329-BA27-19AB27483FF8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6191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c2e01a04524c7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D894E-A116-4F2E-A651-A6FC7D24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049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76BE8-A948-4B18-B74C-AF5C01CF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19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D9C6F-6DFC-4598-8503-2BAECECE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0955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E03E2-9505-480C-88AC-0D551F3E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0495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926AB-27D5-4E27-A964-0723F1B6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619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1F2C5-C18C-447E-9A16-B139BC72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0955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2FBC1-3B91-4F30-B457-73EA0DDC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194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F72AB-5061-4318-9D33-AC6CD598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33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C8A87-70ED-4E63-93DF-2E57AE50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099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coverage miss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2F92B-F2FB-490F-A365-87246F4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F3B35-DF3B-4209-B631-D6C32559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33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>
            <a:def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A6FEC-3D42-4F9E-AB8D-7E6519BF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099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未修复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0655D-50F3-4702-89DD-6803229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4000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98888"/>
          </a:bodyPr>
          <a:lstStyle xmlns:a="http://schemas.openxmlformats.org/drawingml/2006/main">
            <a:def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5 个回归全部从较大结果簇跳到 singleton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78423-8BDE-4036-90F0-8FDB2465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24475"/>
            <a:ext cx="9048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结论：模型学到了“反多数簇”信号，但还没学会安全边界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D1757-55BF-4A98-83C1-8EF0E77E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9CB46-B681-48E8-92ED-4732AB67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386314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C5564-A6BC-400B-B85D-DA3F24E4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五篇论文：从“样本顺序”走向“SQL outcome verifier”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4481F-CAAB-4CAD-91D1-CB1B117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文献学习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53494-DD76-43D4-B5B0-25F45E33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A53E9-E6A9-4C2E-A494-FA6511C8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8A163-B05C-418F-915F-F77DDB6AF0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f65fb81ab444a"/>
          <a:stretch xmlns:a="http://schemas.openxmlformats.org/drawingml/2006/main"/>
        </p:blipFill>
        <p:spPr>
          <a:xfrm xmlns:a="http://schemas.openxmlformats.org/drawingml/2006/main">
            <a:off x="6953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28CDB-8CB4-46CA-B9FB-80B6BD4D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Bengio et al.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E1AF4-A07E-4A32-801E-6EFBC089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顺序改变优化路径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1E1E5-6655-47BF-9807-E8EE95FF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07821-C655-4286-A170-305D1F283C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0f20a2b034084"/>
          <a:stretch xmlns:a="http://schemas.openxmlformats.org/drawingml/2006/main"/>
        </p:blipFill>
        <p:spPr>
          <a:xfrm xmlns:a="http://schemas.openxmlformats.org/drawingml/2006/main">
            <a:off x="3004384" y="1428750"/>
            <a:ext cx="1630281" cy="2305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F7E12-B676-40AE-981C-05E136E7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Beyond Random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Sampling,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31E57-6CE7-4DD0-ACF7-7E75103D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warmup 最稳健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CE5E1-5BC2-41C0-9AED-D2893713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3D716-59BC-49DC-80CC-F5D82DC9AC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4a8de533c41e2"/>
          <a:stretch xmlns:a="http://schemas.openxmlformats.org/drawingml/2006/main"/>
        </p:blipFill>
        <p:spPr>
          <a:xfrm xmlns:a="http://schemas.openxmlformats.org/drawingml/2006/main">
            <a:off x="51911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78F98-C404-4DAC-8B92-0B059B9C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DUCL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05F5A-CF01-43D9-9261-F97BBD56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难度 + 效用 + 多样性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9ACD3-ECD3-432A-9F08-49239F52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DF3C5-CB93-4F53-81F3-6C9BB32EB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5dac4628a4179"/>
          <a:stretch xmlns:a="http://schemas.openxmlformats.org/drawingml/2006/main"/>
        </p:blipFill>
        <p:spPr>
          <a:xfrm xmlns:a="http://schemas.openxmlformats.org/drawingml/2006/main">
            <a:off x="7500184" y="1428750"/>
            <a:ext cx="1630281" cy="2305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F6B1D2-B3B1-4FD1-907F-8C14603B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Curri-DPO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4CEA6-7093-4086-B6DF-6476B219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多 pair 从易到难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FDA17-7111-4D14-ABAD-5AA888A7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333500"/>
            <a:ext cx="1905000" cy="309562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02372-F89B-4A80-8F44-52734B5D79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48236d8be43ea"/>
          <a:stretch xmlns:a="http://schemas.openxmlformats.org/drawingml/2006/main"/>
        </p:blipFill>
        <p:spPr>
          <a:xfrm xmlns:a="http://schemas.openxmlformats.org/drawingml/2006/main">
            <a:off x="9686925" y="1447240"/>
            <a:ext cx="1752600" cy="2268071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F129F-EC82-49C5-B9AB-42A9489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57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GradeSQL</a:t>
            </a:r>
          </a:p>
          <a:p xmlns:a="http://schemas.openxmlformats.org/drawingml/2006/main">
            <a:pPr algn="ctr">
              <a:def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44E9E-8517-40D8-BF23-062DCC9A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执行标签训练 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6C037-0053-4734-BE3C-F4A4F571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8115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共同主线：先定义什么值得学，再决定以什么顺序、什么强度学习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AD8EB-E09E-4A3C-BAE9-D7CD6650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16EE38-6E06-487B-8059-756AECF3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780782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E5AE8-8878-469D-93FA-B10FF0E3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课程学习的关键不是简单地把 hard cases 放到最后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EB66A-92C8-4DFE-84C3-D0A846E5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论文启发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796E9-7454-4CAB-B93F-3AC76621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095D2-3385-426B-8310-39472A8E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Bengio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D4C1F-3B3B-4B4D-8C3C-9919A30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从容易目标逐步过渡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像 continuation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79503-430E-4E15-B685-5EB7C8EE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C9D93-7766-4F24-BB23-CEDDC5B5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Beyond Random Sampling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357EC-023E-4503-9C7D-DA7D2F7B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670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难度指标 × pacing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课程 warmup 更稳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37AAB-76A5-4A00-94B9-E2AD5C0E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61D56-2742-4BB1-AC82-FD526446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DUCL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F7240-9821-4CB0-9482-B0FA7F94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difficulty 不够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还要估计 utility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D7A0D-6140-4436-B683-2E7FD7B1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2405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98326-5E6E-42EC-81FC-47DF6DBD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Window Ordering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A766D-2A3B-4B23-8154-A273665A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670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逐步扩大窗口</a:t>
            </a:r>
          </a:p>
          <a:p xmlns:a="http://schemas.openxmlformats.org/drawingml/2006/main">
            <a:pPr algn="ctr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保留 batch diversity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EAA38-1E30-4E4E-AC7B-5285A976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28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D8DF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05712-D501-42EC-A297-757FD0C9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>
            <a:defPPr algn="l">
              <a:def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映射到 SQL selector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A72E5-BEA8-4F3D-9D85-7AD405A3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38625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难度：正确 SQL 与负 SQL 有多相似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效用：学会该 pair 能否关闭实际 selector gap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多样性：每个 batch 保留 SC 正确的 anchor cases，避免只学会反多数簇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D2458-256B-486A-A9FC-2F841E3D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01DFC-82BC-4A4A-B882-F20DDAA3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723202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604E06-88BA-45C7-BD00-A64458EB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Curri-DPO 与 GradeSQL：最接近当前 selector 的两条路线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DF7E3-65EF-4389-88AD-95F3EE80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论文启发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CC159-333B-4B8A-8780-BC2FAB1A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928BD-D48A-4771-AEF3-E27041A3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0B257-1CD2-4BBC-9E64-428229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Curri-DPO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DDA36-08DF-449B-B6C7-DDCD0284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同一 prompt 的多个响应形成多个 preference pairs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4313A-DC5E-430C-838E-D367AB57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大评分差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容易 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9483D-19A1-4090-9A99-1B987E66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9562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C810E-6D13-491B-B26A-DFC7067B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14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中等差异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5F1C5-5A12-4201-8FFA-48590614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9562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7BC49-00A7-4626-AC4F-70F887A8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952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小评分差</a:t>
            </a:r>
          </a:p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困难 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8F2D0-E69D-4708-A396-F68E1FE7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启发：不需要穷举所有 pair；迭代次序与 reference 更新很重要。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B2B4E-F382-48E8-97A3-7F479841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69D0C-A824-4E6E-B4E8-7EDB68B2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19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>
            <a:defPPr algn="l">
              <a:def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GradeSQL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0C7DA-7CC9-4E0C-BB20-D5AD6DC1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候选 SQL 用执行等价打标签，训练 ORM 输出 P(Yes)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04A98-1F12-4E86-90DB-11310DE2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N 个候选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9A9C3-9461-40EF-94B1-2FC8B262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ED034-3FA0-425F-B907-63DA9E7D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执行标签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B0660-E82B-47D6-8B83-DC2B95BF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95625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29C8B-9B0C-457A-8D5A-229AEA17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ORM 排序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0A61F-C59A-4D67-8DFC-F2EB787D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BIRD dev：68.90%，高于 Majority Voting 66.95%；SQL-only prompt 最好。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45D5C9-ACE6-4B6B-A3F3-1C3A371E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743575"/>
            <a:ext cx="84391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我们的方向：执行监督的 SQL ORM + 课程式多 pair + SC 安全先验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F4B0F-9E24-4A3E-82AB-644F3C3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94C6E-8D64-4A66-9A5D-48046956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738014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50F1FD-7575-4EBE-9C87-EFDE7F6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下一阶段：Utility-aware Curriculum Reranker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4C774-12DD-43DE-8998-20D6EFC3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29A82-53A2-45CE-BA2B-E1E4B926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A81E0-C17B-4A30-AB6C-E9034DB8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379B6-185E-4314-8287-4EC18D00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阶段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D542F-C013-4676-AEDB-8C32176D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结构热身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ACE41-B5A3-4ACE-8ECD-AF678E27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明显的表 / 投影 / 聚合 / 过滤错误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293CC-CAEF-4B07-B02F-7814878F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CE094-A9B1-49B8-A1AA-F32EE275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8580B-1E98-4B77-BD95-827FF307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阶段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C0974-B4C2-45EB-AD78-28E5C109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单点语义差异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55E9A-3400-4085-92DD-F4138CCF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DISTINCT、比较符</a:t>
            </a:r>
          </a:p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LIMIT、类型转换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18176-F2A6-4CAE-8BAA-98B0BD55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7C33B-BB72-4C07-8EE4-50D838A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8096B-F822-4063-B319-D05AAF82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阶段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E75D3-FB65-4345-B622-2D4FC4CD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98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高效用 hard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83534-6178-4FCD-A527-75E302E0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SC 错但 oracle 对；投影与分母敏感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849FE-1850-45BE-9275-03F4D2BB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B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8ECB7-EE6C-4E46-897E-2B542839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76375"/>
            <a:ext cx="2428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11430">
            <a:solidFill>
              <a:srgbClr val="2E8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23F22-B3D1-4FD9-9650-8E37953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764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>
            <a:defPPr algn="l">
              <a:def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阶段 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208EB-330A-49A1-87C3-5A219176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随机混合巩固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7B302-1EF7-44D2-96DF-C3808822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67000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恢复多样性，持续回放 anchor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41DA0-880D-45C0-BE41-6144C8C5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953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0E7C7B"/>
            </a:solidFill>
            <a:prstDash val="solid"/>
          </a:ln>
        </p:spPr>
        <p:txBody>
          <a:bodyPr xmlns:a="http://schemas.openxmlformats.org/drawingml/2006/main" anchor="ctr">
            <a:normAutofit fontScale="89934"/>
          </a:bodyPr>
          <a:lstStyle xmlns:a="http://schemas.openxmlformats.org/drawingml/2006/main">
            <a:defPPr algn="ctr">
              <a:defRPr sz="187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final score = SC prior + λ × learned residual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9FF2A-14AC-488E-96F6-41B2EFCE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05250"/>
            <a:ext cx="4048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9525">
            <a:solidFill>
              <a:srgbClr val="C447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singleton winner 需要更高阈值 + 两项独立证据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2BA784-512F-45BB-9B0B-EE2DC18F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914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hard training questions：9 → 至少 100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按数据库隔离 train / validation / test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Jev schema confidence 与 cluster support 都作为软特征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coverage miss 单独优化，不混入 selector 成功率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1344A9-EA1E-4A99-80E1-D74E6107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0091D-A819-42FD-A2FE-87A8E5BB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183900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750BF-3DCD-4E4C-8DC3-181FC19B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实验假设与消融：怎样证明新方案真的有效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D84D4-5DA6-4CB9-BF9E-815BA3B9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评估设计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4345C-5B41-47AC-BDBE-FFB5369C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21843-04D5-4219-ABE9-48262E00B774}"/>
              </a:ext>
            </a:extLst>
          </p:cNvPr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857750"/>
                <a:gridCol w="4591050"/>
              </a:tblGrid>
              <a:tr h="650875">
                <a:tc>
                  <a:txBody>
                    <a:bodyPr/>
                    <a:lstStyle/>
                    <a:p>
                      <a:r>
                        <a:t>假设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核心问题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关键对照 / 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T w="9525">
                      <a:solidFill>
                        <a:srgbClr val="D8DFE5"/>
                      </a:solidFill>
                      <a:prstDash val="solid"/>
                    </a:lnT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H1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监督式 ORM 能否正向关闭 selector gap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Overall EX、selector acc、GapClosure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H2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difficulty + utility 是否优于只看难度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随机 / difficulty-only / DUCL-style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H3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window + anchor replay 能否减少回归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fix、regression、hard-subset EX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H4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SC residual 与 singleton gate 是否更安全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改选覆盖率、ECE、Brier、阈值曲线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t>H5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FE5"/>
                      </a:solidFill>
                      <a:prstDash val="solid"/>
                    </a:lnL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Jev schema signal 帮助哪些错误类型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表列错误 vs DISTINCT / 投影 / 分母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FE5"/>
                      </a:solidFill>
                      <a:prstDash val="solid"/>
                    </a:lnR>
                    <a:lnB w="9525">
                      <a:solidFill>
                        <a:srgbClr val="D8DF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47803-6B69-440C-8EDA-6ED80F30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809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最低成功标准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C8E12-5760-41F1-AFD4-F058F792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19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892"/>
          </a:bodyPr>
          <a:lstStyle xmlns:a="http://schemas.openxmlformats.org/drawingml/2006/main">
            <a:def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Overall EX 不低于 SC；hard-case 明显提高；fix ≥ regression；paired bootstrap / McNemar 支持结论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B3419-AA9A-4B23-B0FA-506F80A8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90997-E892-448A-827F-1E6A834C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010284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EA96C-EE80-4B21-A63E-E2C2CD24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5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当前结论：保留高召回信号，训练一个会克制的 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CE941-6BC6-43BB-BCCE-B8FEBE48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720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>
            <a:def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B2E68-338C-4962-A244-74409BE8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A25F5-C5D7-4AB8-A9AF-A687B256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2F1EF"/>
          </a:solidFill>
          <a:ln xmlns:a="http://schemas.openxmlformats.org/drawingml/2006/main" w="11430">
            <a:solidFill>
              <a:srgbClr val="0E7C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32F4A-70C4-487F-89AC-AA21D40F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E7C7B"/>
                </a:solidFill>
                <a:latin typeface="Microsoft YaHei"/>
                <a:ea typeface="Microsoft YaHei"/>
                <a:cs typeface="Microsoft YaHei"/>
              </a:rPr>
              <a:t>Jev linker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DFF8A-1BA2-4F83-A053-9D6D5F9B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430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高召回值得保留；不做硬过滤，也不因单项指标高就整体替换。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6134B-50A4-4DAE-B228-957E4073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11430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DCC4F-5DEC-41AC-914C-AB9037D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72"/>
          </a:bodyPr>
          <a:lstStyle xmlns:a="http://schemas.openxmlformats.org/drawingml/2006/main">
            <a:def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E07A3F"/>
                </a:solidFill>
                <a:latin typeface="Microsoft YaHei"/>
                <a:ea typeface="Microsoft YaHei"/>
                <a:cs typeface="Microsoft YaHei"/>
              </a:rPr>
              <a:t>Constrained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ED989-B4DE-4B76-875C-30CC5CD6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范围内可用，范围外受 QueryPlan / compiler 能力限制。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8E232-2D15-4B97-936C-9535E7BA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3E0"/>
          </a:solidFill>
          <a:ln xmlns:a="http://schemas.openxmlformats.org/drawingml/2006/main" w="11430">
            <a:solidFill>
              <a:srgbClr val="C447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D57DA-ABC9-4B99-AA61-D6715347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C4473A"/>
                </a:solidFill>
                <a:latin typeface="Microsoft YaHei"/>
                <a:ea typeface="Microsoft YaHei"/>
                <a:cs typeface="Microsoft YaHei"/>
              </a:rPr>
              <a:t>无监督 reranker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170C6-BE2E-4B6C-A27E-EE3FF550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287题下降 3.14pp；不能直接替换 self-consistency。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9562D-605B-40ED-AE5A-D207DD12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4ECF6"/>
          </a:solidFill>
          <a:ln xmlns:a="http://schemas.openxmlformats.org/drawingml/2006/main" w="11430">
            <a:solidFill>
              <a:srgbClr val="3B6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F3D9F-9CFC-46D3-9FC2-653F6D5F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3B6EA8"/>
                </a:solidFill>
                <a:latin typeface="Microsoft YaHei"/>
                <a:ea typeface="Microsoft YaHei"/>
                <a:cs typeface="Microsoft YaHei"/>
              </a:rPr>
              <a:t>监督式 reranker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97FD4-558E-492D-A489-6E728381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方向成立，但 9 个 hard train cases 不足以控制普通题回归。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5322E-263E-43C6-8754-97C6D57B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05500"/>
            <a:ext cx="8877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下一步优先级：扩大 hard pool → 课程式 ORM → residual gate → 冻结集复验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D7EE7-ED2E-4E91-AA09-82677FAE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Jev + Schema-aware SQL 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55D2B-DF13-40AB-B534-5242C108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1738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8608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2026-10-13T03:47:58.4040000Z</dcterms:created>
  <dcterms:modified xsi:type="dcterms:W3CDTF">2026-10-13T03:47:58.4040000Z</dcterms:modified>
</coreProperties>
</file>