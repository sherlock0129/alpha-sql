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9c8e18d74042af" /><Relationship Type="http://schemas.openxmlformats.org/officeDocument/2006/relationships/extended-properties" Target="/docProps/app.xml" Id="Rd0a51e44c3a34672" /><Relationship Type="http://schemas.openxmlformats.org/officeDocument/2006/relationships/officeDocument" Target="/ppt/presentation.xml" Id="Re7084b97955645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422a438e8f4594"/>
  </p:sldMasterIdLst>
  <p:notesMasterIdLst>
    <p:notesMasterId xmlns:r="http://schemas.openxmlformats.org/officeDocument/2006/relationships" r:id="Rae2c3c430c9d4812"/>
  </p:notesMasterIdLst>
  <p:sldIdLst>
    <p:sldId xmlns:r="http://schemas.openxmlformats.org/officeDocument/2006/relationships" id="256" r:id="Raa6aae3659e64402"/>
    <p:sldId xmlns:r="http://schemas.openxmlformats.org/officeDocument/2006/relationships" id="257" r:id="R6c1c10216bb64ecd"/>
    <p:sldId xmlns:r="http://schemas.openxmlformats.org/officeDocument/2006/relationships" id="258" r:id="R880f7a28494c4a72"/>
    <p:sldId xmlns:r="http://schemas.openxmlformats.org/officeDocument/2006/relationships" id="259" r:id="R16273ab677d745ec"/>
    <p:sldId xmlns:r="http://schemas.openxmlformats.org/officeDocument/2006/relationships" id="260" r:id="Rb78ddea932ad4323"/>
    <p:sldId xmlns:r="http://schemas.openxmlformats.org/officeDocument/2006/relationships" id="261" r:id="Rff142654cdd24f8c"/>
    <p:sldId xmlns:r="http://schemas.openxmlformats.org/officeDocument/2006/relationships" id="262" r:id="Re026f12982ba4189"/>
    <p:sldId xmlns:r="http://schemas.openxmlformats.org/officeDocument/2006/relationships" id="263" r:id="Rd88a170259d94fdb"/>
    <p:sldId xmlns:r="http://schemas.openxmlformats.org/officeDocument/2006/relationships" id="264" r:id="R921aa56b87964377"/>
    <p:sldId xmlns:r="http://schemas.openxmlformats.org/officeDocument/2006/relationships" id="265" r:id="Rd75b7cfe8a494544"/>
    <p:sldId xmlns:r="http://schemas.openxmlformats.org/officeDocument/2006/relationships" id="266" r:id="Rd221313bc2e343f3"/>
    <p:sldId xmlns:r="http://schemas.openxmlformats.org/officeDocument/2006/relationships" id="267" r:id="Rc09f9a92a71b4f46"/>
    <p:sldId xmlns:r="http://schemas.openxmlformats.org/officeDocument/2006/relationships" id="268" r:id="R34a0123c137a4b09"/>
    <p:sldId xmlns:r="http://schemas.openxmlformats.org/officeDocument/2006/relationships" id="269" r:id="R00753eb1f91644a2"/>
    <p:sldId xmlns:r="http://schemas.openxmlformats.org/officeDocument/2006/relationships" id="270" r:id="Rf3107275b0e2479a"/>
    <p:sldId xmlns:r="http://schemas.openxmlformats.org/officeDocument/2006/relationships" id="271" r:id="R99ef5c5c52444357"/>
    <p:sldId xmlns:r="http://schemas.openxmlformats.org/officeDocument/2006/relationships" id="272" r:id="R3ba275b203c14818"/>
    <p:sldId xmlns:r="http://schemas.openxmlformats.org/officeDocument/2006/relationships" id="273" r:id="Rf7236d70095048cb"/>
    <p:sldId xmlns:r="http://schemas.openxmlformats.org/officeDocument/2006/relationships" id="274" r:id="Rbdb81064ec0442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372a6d6ec46e2" /><Relationship Type="http://schemas.openxmlformats.org/officeDocument/2006/relationships/slideMaster" Target="/ppt/slideMasters/slideMaster1.xml" Id="R9d422a438e8f4594" /><Relationship Type="http://schemas.openxmlformats.org/officeDocument/2006/relationships/notesMaster" Target="/ppt/notesMasters/notesMaster1.xml" Id="Rae2c3c430c9d4812" /><Relationship Type="http://schemas.openxmlformats.org/officeDocument/2006/relationships/presProps" Target="/ppt/presProps.xml" Id="Rff8d4509b09d4249" /><Relationship Type="http://schemas.openxmlformats.org/officeDocument/2006/relationships/tableStyles" Target="/ppt/tableStyles.xml" Id="Rb2d4d82fe48e4f3e" /><Relationship Type="http://schemas.openxmlformats.org/officeDocument/2006/relationships/slide" Target="/ppt/slides/slide1.xml" Id="Raa6aae3659e64402" /><Relationship Type="http://schemas.openxmlformats.org/officeDocument/2006/relationships/slide" Target="/ppt/slides/slide2.xml" Id="R6c1c10216bb64ecd" /><Relationship Type="http://schemas.openxmlformats.org/officeDocument/2006/relationships/slide" Target="/ppt/slides/slide3.xml" Id="R880f7a28494c4a72" /><Relationship Type="http://schemas.openxmlformats.org/officeDocument/2006/relationships/slide" Target="/ppt/slides/slide4.xml" Id="R16273ab677d745ec" /><Relationship Type="http://schemas.openxmlformats.org/officeDocument/2006/relationships/slide" Target="/ppt/slides/slide5.xml" Id="Rb78ddea932ad4323" /><Relationship Type="http://schemas.openxmlformats.org/officeDocument/2006/relationships/slide" Target="/ppt/slides/slide6.xml" Id="Rff142654cdd24f8c" /><Relationship Type="http://schemas.openxmlformats.org/officeDocument/2006/relationships/slide" Target="/ppt/slides/slide7.xml" Id="Re026f12982ba4189" /><Relationship Type="http://schemas.openxmlformats.org/officeDocument/2006/relationships/slide" Target="/ppt/slides/slide8.xml" Id="Rd88a170259d94fdb" /><Relationship Type="http://schemas.openxmlformats.org/officeDocument/2006/relationships/slide" Target="/ppt/slides/slide9.xml" Id="R921aa56b87964377" /><Relationship Type="http://schemas.openxmlformats.org/officeDocument/2006/relationships/slide" Target="/ppt/slides/slide10.xml" Id="Rd75b7cfe8a494544" /><Relationship Type="http://schemas.openxmlformats.org/officeDocument/2006/relationships/slide" Target="/ppt/slides/slide11.xml" Id="Rd221313bc2e343f3" /><Relationship Type="http://schemas.openxmlformats.org/officeDocument/2006/relationships/slide" Target="/ppt/slides/slide12.xml" Id="Rc09f9a92a71b4f46" /><Relationship Type="http://schemas.openxmlformats.org/officeDocument/2006/relationships/slide" Target="/ppt/slides/slide13.xml" Id="R34a0123c137a4b09" /><Relationship Type="http://schemas.openxmlformats.org/officeDocument/2006/relationships/slide" Target="/ppt/slides/slide14.xml" Id="R00753eb1f91644a2" /><Relationship Type="http://schemas.openxmlformats.org/officeDocument/2006/relationships/slide" Target="/ppt/slides/slide15.xml" Id="Rf3107275b0e2479a" /><Relationship Type="http://schemas.openxmlformats.org/officeDocument/2006/relationships/slide" Target="/ppt/slides/slide16.xml" Id="R99ef5c5c52444357" /><Relationship Type="http://schemas.openxmlformats.org/officeDocument/2006/relationships/slide" Target="/ppt/slides/slide17.xml" Id="R3ba275b203c14818" /><Relationship Type="http://schemas.openxmlformats.org/officeDocument/2006/relationships/slide" Target="/ppt/slides/slide18.xml" Id="Rf7236d70095048cb" /><Relationship Type="http://schemas.openxmlformats.org/officeDocument/2006/relationships/slide" Target="/ppt/slides/slide19.xml" Id="Rbdb81064ec0442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ad39fc736d46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5d35dee8b04e01" /><Relationship Type="http://schemas.openxmlformats.org/officeDocument/2006/relationships/notesMaster" Target="/ppt/notesMasters/notesMaster1.xml" Id="R4274a453312a4f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231099d764e42" /><Relationship Type="http://schemas.openxmlformats.org/officeDocument/2006/relationships/notesMaster" Target="/ppt/notesMasters/notesMaster1.xml" Id="R02f00056655349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cc8b8990a1417f" /><Relationship Type="http://schemas.openxmlformats.org/officeDocument/2006/relationships/notesMaster" Target="/ppt/notesMasters/notesMaster1.xml" Id="R78952ddb75cf4d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20e9001be54fb1" /><Relationship Type="http://schemas.openxmlformats.org/officeDocument/2006/relationships/notesMaster" Target="/ppt/notesMasters/notesMaster1.xml" Id="R553b98d0c13e43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d42303a5b74a93" /><Relationship Type="http://schemas.openxmlformats.org/officeDocument/2006/relationships/notesMaster" Target="/ppt/notesMasters/notesMaster1.xml" Id="Rae93584d05b14f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0cff6a806d4a55" /><Relationship Type="http://schemas.openxmlformats.org/officeDocument/2006/relationships/notesMaster" Target="/ppt/notesMasters/notesMaster1.xml" Id="R4c5b3087ad0b4c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740524687c4b6d" /><Relationship Type="http://schemas.openxmlformats.org/officeDocument/2006/relationships/notesMaster" Target="/ppt/notesMasters/notesMaster1.xml" Id="Rbc44ddf899294b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4eccfb44ac426e" /><Relationship Type="http://schemas.openxmlformats.org/officeDocument/2006/relationships/notesMaster" Target="/ppt/notesMasters/notesMaster1.xml" Id="Ra5f3c9c236d842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c2134e195b42a6" /><Relationship Type="http://schemas.openxmlformats.org/officeDocument/2006/relationships/notesMaster" Target="/ppt/notesMasters/notesMaster1.xml" Id="Rd441b3ca8c784e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82c06e18744e45" /><Relationship Type="http://schemas.openxmlformats.org/officeDocument/2006/relationships/notesMaster" Target="/ppt/notesMasters/notesMaster1.xml" Id="Rc6523e75015f49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139387225549e4" /><Relationship Type="http://schemas.openxmlformats.org/officeDocument/2006/relationships/notesMaster" Target="/ppt/notesMasters/notesMaster1.xml" Id="R00fb7f0a4d7f43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d1d456d6214b2f" /><Relationship Type="http://schemas.openxmlformats.org/officeDocument/2006/relationships/notesMaster" Target="/ppt/notesMasters/notesMaster1.xml" Id="Rc61a2968b8784a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00ce8c40d545ad" /><Relationship Type="http://schemas.openxmlformats.org/officeDocument/2006/relationships/notesMaster" Target="/ppt/notesMasters/notesMaster1.xml" Id="R1d4ba34f2a7d46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486c3c1f7d4d10" /><Relationship Type="http://schemas.openxmlformats.org/officeDocument/2006/relationships/notesMaster" Target="/ppt/notesMasters/notesMaster1.xml" Id="Rb3d9f459441e45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f16b0c5fda491e" /><Relationship Type="http://schemas.openxmlformats.org/officeDocument/2006/relationships/notesMaster" Target="/ppt/notesMasters/notesMaster1.xml" Id="Rc977868424a34d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b559ab08e54430" /><Relationship Type="http://schemas.openxmlformats.org/officeDocument/2006/relationships/notesMaster" Target="/ppt/notesMasters/notesMaster1.xml" Id="R4164e798f9a94a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aa6eb0e86a48dd" /><Relationship Type="http://schemas.openxmlformats.org/officeDocument/2006/relationships/notesMaster" Target="/ppt/notesMasters/notesMaster1.xml" Id="R768f6bc60f9049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a9b5dffc3184fd7" /><Relationship Type="http://schemas.openxmlformats.org/officeDocument/2006/relationships/notesMaster" Target="/ppt/notesMasters/notesMaster1.xml" Id="R29bfc36ec71344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22f5d2f0724e46" /><Relationship Type="http://schemas.openxmlformats.org/officeDocument/2006/relationships/notesMaster" Target="/ppt/notesMasters/notesMaster1.xml" Id="Rec3120e608b240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本次汇报以当前仓库中的三组实验和五篇论文为依据。</a:t>
            </a:r>
          </a:p>
          <a:p xmlns:a="http://schemas.openxmlformats.org/drawingml/2006/main">
            <a:r>
              <a:t>重点不是展示一个完成的系统，而是明确下一步应该训练什么、为什么。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MCTS budget: 2 rollouts, max depth 5. The 12 questions were chosen within the constrained compiler slice.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The 13 missing MCTS questions are due to provider arrearage and five earlier output truncations. Strict 300-way comparison remains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Percent values are reported as percentage points. McNemar/exact binomial p=0.049 on the 17 disagreements.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MCTS schema evidence is not a pure linker baseline because some stored paths skip the schema-selection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The slice definition follows the original 12-question experiment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GapClosure uses the 12-question oracle-to-SC selector gap as denominator: -9/12 = -75%.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The split is frozen by question ID but is not database-disjoint.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Primary model delta vs SC is -1 point; paired bootstrap 95% CI [-7, +5]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E:\Text2SQL\Curriculum Learning.pdf</a:t>
            </a:r>
          </a:p>
          <a:p xmlns:a="http://schemas.openxmlformats.org/drawingml/2006/main">
            <a:r>
              <a:t>E:\Text2SQL\Beyond Random Sampling.pdf</a:t>
            </a:r>
          </a:p>
          <a:p xmlns:a="http://schemas.openxmlformats.org/drawingml/2006/main">
            <a:r>
              <a:t>E:\Text2SQL\Difficulty Is Not Enough.pdf</a:t>
            </a:r>
          </a:p>
          <a:p xmlns:a="http://schemas.openxmlformats.org/drawingml/2006/main">
            <a:r>
              <a:t>E:\Text2SQL\Enhancing Alignment using Curriculum Learning.pdf</a:t>
            </a:r>
          </a:p>
          <a:p xmlns:a="http://schemas.openxmlformats.org/drawingml/2006/main">
            <a:r>
              <a:t>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E:\Text2SQL\Curriculum Learning.pdf</a:t>
            </a:r>
          </a:p>
          <a:p xmlns:a="http://schemas.openxmlformats.org/drawingml/2006/main">
            <a:r>
              <a:t>Source: E:\Text2SQL\Beyond Random Sampling.pdf</a:t>
            </a:r>
          </a:p>
          <a:p xmlns:a="http://schemas.openxmlformats.org/drawingml/2006/main">
            <a:r>
              <a:t>Source: E:\Text2SQL\Difficulty Is Not Enough.pdf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E:\Text2SQL\Enhancing Alignment using Curriculum Learning.pdf</a:t>
            </a:r>
          </a:p>
          <a:p xmlns:a="http://schemas.openxmlformats.org/drawingml/2006/main">
            <a:r>
              <a:t>Source: E:\Text2SQL\GradeSQL.pdf</a:t>
            </a:r>
          </a:p>
          <a:p xmlns:a="http://schemas.openxmlformats.org/drawingml/2006/main">
            <a:r>
              <a:t>GradeSQL reports BIRD dev ORM-BoN 68.90, Majority Voting 66.95, ex-BoN 66.04, Pass@32 80.57.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D:\University\Alpha-SQL\HARD_CASE_PAIRWISE_100_REPORT.md; E:\Text2SQL\Difficulty Is Not Enough.pdf; E:\Text2SQL\Enhancing Alignment using Curriculum Learning.pdf;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D:\University\Alpha-SQL\HARD_CASE_PAIRWISE_100_REPORT.md; E:\Text2SQL\Difficulty Is Not Enough.pdf;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D:\University\Alpha-SQL\LLM_JEV_300_INTERIM_REPORT.md; D:\University\Alpha-SQL\HARD_CASE_PAIRWISE_100_REPORT.md;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20db1fb1a44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749b580b446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32c465ae344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4fa43ce864f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746bb28d445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82003f64247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C9FD55-F275-4DE3-A3A7-1DF8A61E93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8A987D-6E60-4E83-B6CB-B837BE5F92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F75485-A2BD-4EDF-83E6-6543AC03D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FD3DF2-3595-425C-A430-4A1BF43482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EDC6B0-8E81-44AB-B3C1-1795D4FF7C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5BB752-9FA1-40C3-A90D-DCF5AA7CF1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D0C688-056C-4A4F-8A4F-016C17E9CE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B98F6B-6FA6-4329-98FD-3E9E010851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A384A2-0125-4B8B-97EF-901101AF07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3D78DE-EB97-4D7A-A406-4D0CA775B2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483036fb714bcf" /><Relationship Type="http://schemas.openxmlformats.org/officeDocument/2006/relationships/slideLayout" Target="/ppt/slideLayouts/slideLayout1.xml" Id="Ra335bdc56f2a4401" /><Relationship Type="http://schemas.openxmlformats.org/officeDocument/2006/relationships/slideLayout" Target="/ppt/slideLayouts/slideLayout2.xml" Id="R04d4d906cd144b4a" /><Relationship Type="http://schemas.openxmlformats.org/officeDocument/2006/relationships/slideLayout" Target="/ppt/slideLayouts/slideLayout3.xml" Id="Rb9578503bc3c4db7" /><Relationship Type="http://schemas.openxmlformats.org/officeDocument/2006/relationships/slideLayout" Target="/ppt/slideLayouts/slideLayout4.xml" Id="R5528ea3f048b489f" /><Relationship Type="http://schemas.openxmlformats.org/officeDocument/2006/relationships/slideLayout" Target="/ppt/slideLayouts/slideLayout5.xml" Id="Rcdd4be6f65fc4dfe" /><Relationship Type="http://schemas.openxmlformats.org/officeDocument/2006/relationships/slideLayout" Target="/ppt/slideLayouts/slideLayout6.xml" Id="Rf31f54b62d5944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35bdc56f2a4401"/>
    <p:sldLayoutId xmlns:r="http://schemas.openxmlformats.org/officeDocument/2006/relationships" id="2147483650" r:id="R04d4d906cd144b4a"/>
    <p:sldLayoutId xmlns:r="http://schemas.openxmlformats.org/officeDocument/2006/relationships" id="2147483651" r:id="Rb9578503bc3c4db7"/>
    <p:sldLayoutId xmlns:r="http://schemas.openxmlformats.org/officeDocument/2006/relationships" id="2147483652" r:id="R5528ea3f048b489f"/>
    <p:sldLayoutId xmlns:r="http://schemas.openxmlformats.org/officeDocument/2006/relationships" id="2147483653" r:id="Rcdd4be6f65fc4dfe"/>
    <p:sldLayoutId xmlns:r="http://schemas.openxmlformats.org/officeDocument/2006/relationships" id="2147483654" r:id="Rf31f54b62d5944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8485dab89d4567" /><Relationship Type="http://schemas.openxmlformats.org/officeDocument/2006/relationships/notesSlide" Target="/ppt/notesSlides/notesSlide1.xml" Id="Raa239eaa2fde4e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64fe7d3124901" /><Relationship Type="http://schemas.openxmlformats.org/officeDocument/2006/relationships/notesSlide" Target="/ppt/notesSlides/notesSlide2.xml" Id="R49f7fe8df09146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de5d0f75d452a" /><Relationship Type="http://schemas.openxmlformats.org/officeDocument/2006/relationships/notesSlide" Target="/ppt/notesSlides/notesSlide3.xml" Id="R09ed126524be47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d9d8f3e6148ab" /><Relationship Type="http://schemas.openxmlformats.org/officeDocument/2006/relationships/notesSlide" Target="/ppt/notesSlides/notesSlide4.xml" Id="Ree83da7dc1b440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2c63fb6cb415b" /><Relationship Type="http://schemas.openxmlformats.org/officeDocument/2006/relationships/notesSlide" Target="/ppt/notesSlides/notesSlide5.xml" Id="R4d7d93cf1aae48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5b125b6ca40e0" /><Relationship Type="http://schemas.openxmlformats.org/officeDocument/2006/relationships/notesSlide" Target="/ppt/notesSlides/notesSlide6.xml" Id="R5018e955f99344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6bafa72da495b" /><Relationship Type="http://schemas.openxmlformats.org/officeDocument/2006/relationships/chart" Target="/ppt/slides/charts/chart1.xml" Id="Ra1d3d6b03c2a4868" /><Relationship Type="http://schemas.openxmlformats.org/officeDocument/2006/relationships/notesSlide" Target="/ppt/notesSlides/notesSlide7.xml" Id="R5c6b6b31082342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8ccaf15aed4103" /><Relationship Type="http://schemas.openxmlformats.org/officeDocument/2006/relationships/chart" Target="/ppt/slides/charts/chart2.xml" Id="Rcf6eb3e6101246a5" /><Relationship Type="http://schemas.openxmlformats.org/officeDocument/2006/relationships/notesSlide" Target="/ppt/notesSlides/notesSlide8.xml" Id="R145f91f14e044b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4335e0bd1463c" /><Relationship Type="http://schemas.openxmlformats.org/officeDocument/2006/relationships/chart" Target="/ppt/slides/charts/chart3.xml" Id="R21d92df4a1e44df7" /><Relationship Type="http://schemas.openxmlformats.org/officeDocument/2006/relationships/notesSlide" Target="/ppt/notesSlides/notesSlide9.xml" Id="R98c1c0f591de4c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6232a90e49473e" /><Relationship Type="http://schemas.openxmlformats.org/officeDocument/2006/relationships/chart" Target="/ppt/slides/charts/chart4.xml" Id="Rdb1442ee89584620" /><Relationship Type="http://schemas.openxmlformats.org/officeDocument/2006/relationships/notesSlide" Target="/ppt/notesSlides/notesSlide10.xml" Id="Ree5af6e36fdc47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06121420b4f29" /><Relationship Type="http://schemas.openxmlformats.org/officeDocument/2006/relationships/notesSlide" Target="/ppt/notesSlides/notesSlide11.xml" Id="R66fb5e8efb3845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a434bc36a4ee4" /><Relationship Type="http://schemas.openxmlformats.org/officeDocument/2006/relationships/notesSlide" Target="/ppt/notesSlides/notesSlide12.xml" Id="Rbb05be2728fe4f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c9d5a65e24bdc" /><Relationship Type="http://schemas.openxmlformats.org/officeDocument/2006/relationships/chart" Target="/ppt/slides/charts/chart5.xml" Id="R07f46a6dacc54e5e" /><Relationship Type="http://schemas.openxmlformats.org/officeDocument/2006/relationships/notesSlide" Target="/ppt/notesSlides/notesSlide13.xml" Id="R58f8d4dae6c641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8686847294092" /><Relationship Type="http://schemas.openxmlformats.org/officeDocument/2006/relationships/image" Target="/ppt/media/image.png" Id="R1c9ed13de96f4650" /><Relationship Type="http://schemas.openxmlformats.org/officeDocument/2006/relationships/image" Target="/ppt/media/image2.png" Id="Rcda7ee1a85364395" /><Relationship Type="http://schemas.openxmlformats.org/officeDocument/2006/relationships/image" Target="/ppt/media/image3.png" Id="Ra5b4ee2dc38243e3" /><Relationship Type="http://schemas.openxmlformats.org/officeDocument/2006/relationships/image" Target="/ppt/media/image4.png" Id="Rcbbeb3c388df415b" /><Relationship Type="http://schemas.openxmlformats.org/officeDocument/2006/relationships/image" Target="/ppt/media/image5.png" Id="R6f18714548ed4ddc" /><Relationship Type="http://schemas.openxmlformats.org/officeDocument/2006/relationships/notesSlide" Target="/ppt/notesSlides/notesSlide14.xml" Id="Rc937f982702648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8426fd25ef4095" /><Relationship Type="http://schemas.openxmlformats.org/officeDocument/2006/relationships/notesSlide" Target="/ppt/notesSlides/notesSlide15.xml" Id="Rff76a8b368c24a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958a45b614ae7" /><Relationship Type="http://schemas.openxmlformats.org/officeDocument/2006/relationships/notesSlide" Target="/ppt/notesSlides/notesSlide16.xml" Id="R74e0b2bc0bb346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df286112fd476c" /><Relationship Type="http://schemas.openxmlformats.org/officeDocument/2006/relationships/notesSlide" Target="/ppt/notesSlides/notesSlide17.xml" Id="R40f531805fdb4d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869c583144ddb" /><Relationship Type="http://schemas.openxmlformats.org/officeDocument/2006/relationships/notesSlide" Target="/ppt/notesSlides/notesSlide18.xml" Id="Raf6a6dcbbdbd4d7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cab50089dc44b6" /><Relationship Type="http://schemas.openxmlformats.org/officeDocument/2006/relationships/notesSlide" Target="/ppt/notesSlides/notesSlide19.xml" Id="R8e4d6937b8bd4cd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Candidate Coverage</c:v>
          </c:tx>
          <c:spPr>
            <a:solidFill xmlns:a="http://schemas.openxmlformats.org/drawingml/2006/main">
              <a:srgbClr val="3B6EA8"/>
            </a:solidFill>
          </c:spPr>
          <c:invertIfNegative val="0"/>
          <c:cat>
            <c:strLit>
              <c:ptCount val="3"/>
              <c:pt idx="0">
                <c:v>MCTS + SC</c:v>
              </c:pt>
              <c:pt idx="1">
                <c:v>Jev constrained</c:v>
              </c:pt>
              <c:pt idx="2">
                <c:v>MCTS pool + Jev</c:v>
              </c:pt>
            </c:strLit>
          </c:cat>
          <c:val>
            <c:numLit>
              <c:formatCode>0%</c:formatCode>
              <c:ptCount val="3"/>
              <c:pt idx="0">
                <c:v>79.79</c:v>
              </c:pt>
              <c:pt idx="1">
                <c:v>29.27</c:v>
              </c:pt>
              <c:pt idx="2">
                <c:v>79.79</c:v>
              </c:pt>
            </c:numLit>
          </c:val>
        </c:ser>
        <c:ser>
          <c:idx val="1"/>
          <c:order val="1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3"/>
              <c:pt idx="0">
                <c:v>MCTS + SC</c:v>
              </c:pt>
              <c:pt idx="1">
                <c:v>Jev constrained</c:v>
              </c:pt>
              <c:pt idx="2">
                <c:v>MCTS pool + Jev</c:v>
              </c:pt>
            </c:strLit>
          </c:cat>
          <c:val>
            <c:numLit>
              <c:formatCode>0%</c:formatCode>
              <c:ptCount val="3"/>
              <c:pt idx="0">
                <c:v>75.61</c:v>
              </c:pt>
              <c:pt idx="1">
                <c:v>25.44</c:v>
              </c:pt>
              <c:pt idx="2">
                <c:v>72.47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MCTS path evidence</c:v>
          </c:tx>
          <c:spPr>
            <a:solidFill xmlns:a="http://schemas.openxmlformats.org/drawingml/2006/main">
              <a:srgbClr val="AAB5BF"/>
            </a:solidFill>
          </c:spPr>
          <c:invertIfNegative val="0"/>
          <c:cat>
            <c:strLit>
              <c:ptCount val="4"/>
              <c:pt idx="0">
                <c:v>Table Precision</c:v>
              </c:pt>
              <c:pt idx="1">
                <c:v>Table Recall</c:v>
              </c:pt>
              <c:pt idx="2">
                <c:v>Column Precision</c:v>
              </c:pt>
              <c:pt idx="3">
                <c:v>Column Recall</c:v>
              </c:pt>
            </c:strLit>
          </c:cat>
          <c:val>
            <c:numLit>
              <c:formatCode>General</c:formatCode>
              <c:ptCount val="4"/>
              <c:pt idx="0">
                <c:v>54.24</c:v>
              </c:pt>
              <c:pt idx="1">
                <c:v>53.98</c:v>
              </c:pt>
              <c:pt idx="2">
                <c:v>47.54</c:v>
              </c:pt>
              <c:pt idx="3">
                <c:v>52.86</c:v>
              </c:pt>
            </c:numLit>
          </c:val>
        </c:ser>
        <c:ser>
          <c:idx val="1"/>
          <c:order val="1"/>
          <c:tx>
            <c:v>Jev linker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4"/>
              <c:pt idx="0">
                <c:v>Table Precision</c:v>
              </c:pt>
              <c:pt idx="1">
                <c:v>Table Recall</c:v>
              </c:pt>
              <c:pt idx="2">
                <c:v>Column Precision</c:v>
              </c:pt>
              <c:pt idx="3">
                <c:v>Column Recall</c:v>
              </c:pt>
            </c:strLit>
          </c:cat>
          <c:val>
            <c:numLit>
              <c:formatCode>General</c:formatCode>
              <c:ptCount val="4"/>
              <c:pt idx="0">
                <c:v>63.35</c:v>
              </c:pt>
              <c:pt idx="1">
                <c:v>99.3</c:v>
              </c:pt>
              <c:pt idx="2">
                <c:v>60.16</c:v>
              </c:pt>
              <c:pt idx="3">
                <c:v>97.35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Coverage</c:v>
          </c:tx>
          <c:spPr>
            <a:solidFill xmlns:a="http://schemas.openxmlformats.org/drawingml/2006/main">
              <a:srgbClr val="3B6EA8"/>
            </a:solidFill>
          </c:spPr>
          <c:invertIfNegative val="0"/>
          <c:cat>
            <c:strLit>
              <c:ptCount val="2"/>
              <c:pt idx="0">
                <c:v>compiler 范围内（83）</c:v>
              </c:pt>
              <c:pt idx="1">
                <c:v>范围外（217）</c:v>
              </c:pt>
            </c:strLit>
          </c:cat>
          <c:val>
            <c:numLit>
              <c:formatCode>General</c:formatCode>
              <c:ptCount val="2"/>
              <c:pt idx="0">
                <c:v>77.11</c:v>
              </c:pt>
              <c:pt idx="1">
                <c:v>11.98</c:v>
              </c:pt>
            </c:numLit>
          </c:val>
        </c:ser>
        <c:ser>
          <c:idx val="1"/>
          <c:order val="1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2"/>
              <c:pt idx="0">
                <c:v>compiler 范围内（83）</c:v>
              </c:pt>
              <c:pt idx="1">
                <c:v>范围外（217）</c:v>
              </c:pt>
            </c:strLit>
          </c:cat>
          <c:val>
            <c:numLit>
              <c:formatCode>General</c:formatCode>
              <c:ptCount val="2"/>
              <c:pt idx="0">
                <c:v>74.7</c:v>
              </c:pt>
              <c:pt idx="1">
                <c:v>7.37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2"/>
              <c:pt idx="0">
                <c:v>Self-consistency</c:v>
              </c:pt>
              <c:pt idx="1">
                <c:v>Jev-on-MCTS</c:v>
              </c:pt>
            </c:strLit>
          </c:cat>
          <c:val>
            <c:numLit>
              <c:formatCode>General</c:formatCode>
              <c:ptCount val="2"/>
              <c:pt idx="0">
                <c:v>75.61</c:v>
              </c:pt>
              <c:pt idx="1">
                <c:v>72.47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3"/>
              <c:pt idx="0">
                <c:v>Self-consistency</c:v>
              </c:pt>
              <c:pt idx="1">
                <c:v>Pairwise + SC</c:v>
              </c:pt>
              <c:pt idx="2">
                <c:v>Oracle</c:v>
              </c:pt>
            </c:strLit>
          </c:cat>
          <c:val>
            <c:numLit>
              <c:formatCode>General</c:formatCode>
              <c:ptCount val="3"/>
              <c:pt idx="0">
                <c:v>76</c:v>
              </c:pt>
              <c:pt idx="1">
                <c:v>75</c:v>
              </c:pt>
              <c:pt idx="2">
                <c:v>81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4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0FA85-7ADD-42BF-8B8F-E6395CC0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96D94-A343-405F-936E-4AC6E437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6C371-946B-412D-8E9C-0AA6FD5B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+ Schema-aware</a:t>
            </a:r>
          </a:p>
          <a:p xmlns:a="http://schemas.openxmlformats.org/drawingml/2006/main">
            <a: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SQL 选择实验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4920D-7D72-4F08-83E3-C4109266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7657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从高召回 Schema Linking，到可验证的候选重排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7FD98-6CF9-4DF0-9E5F-CAF1A88C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9906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CB78C-F37B-490A-8B45-F7C6C3D3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12题探路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5FFAD-34DC-4054-AE98-B7AF34A2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67025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300题扩展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D5749-4F89-4187-A666-F6B88543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100题监督重排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A3B39-F774-493C-A69C-87758F9B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Dongx Xia · 50062682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E7970-A76C-45A5-B139-F9B183C0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>
            <a:defPPr algn="l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2026-10-13</a:t>
            </a:r>
          </a:p>
        </p:txBody>
      </p:sp>
    </p:spTree>
    <p:extLst>
      <p:ext uri="{BB962C8B-B14F-4D97-AF65-F5344CB8AC3E}">
        <p14:creationId xmlns:p14="http://schemas.microsoft.com/office/powerpoint/2010/main" val="966970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09266-6AF8-4296-AB75-31C108CB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这次汇报先回答三个问题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AD6CC-F0FD-463D-B526-7E893F24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25DF6-C47E-4174-8744-53BB45A1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60DE0-135D-4C42-AC31-37416A05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F1319-384F-4D09-A3A6-5536C3AD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F6DD4-C1BD-446F-A9CE-7CFE8F53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能否替换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Schema Linker？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AA104-9F84-47C8-92EB-8704AAAF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高表列召回是否等价于高 SQL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82202-D2BF-415D-A71D-0E43BF24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E07A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0F545-0632-441D-9C95-080DEF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5B231-E3B1-4AD3-A3F3-0B1E30AC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reranker 能否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替换 self-consistency？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03D46-C80C-4904-9596-F406D255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固定同一候选池，比较 selector 本身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405F2-BA00-443F-8916-F3F52E17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367AF-C042-4F9F-8081-F4A15FE5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EC00A-4B46-4106-9FBE-F1DB70A8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监督式 selector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下一步怎样训练？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559C5-7038-4642-95FC-1B149440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从五篇 curriculum / ORM 论文得到方案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9EB9C-F24C-4793-94AF-E6E72698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判断标准：分开看 candidate coverage 与 selector accuracy given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6D787-2AC0-49FC-9AAF-FDEAD53B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8C806-5AE5-413C-A956-AB78011C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1281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A77F6-7E4E-4715-A4FC-3D498681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项目最初想法：把生成能力与选择能力拆开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D2CAD-BD14-4E74-AB8F-1F505C8D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25430-452D-42AF-B095-86D3DBB0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4FF81-ECF1-4E91-8A4F-A7C30011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问题 + 全量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E8C1F-2E0A-45E2-BA0B-C8BED08C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7D62D-7940-4428-8DEE-ED9D826E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18669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typed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schema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23FAB-7203-4406-A993-D2D7677B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5CC1C-E4F2-4EFD-B581-1B0F7FB9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QueryPlan beam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Python 编译 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7C9F2-FA0A-4718-8BB8-D0729700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B6192-C846-40C9-8BD7-7F6D6EB1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AAB5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SQLite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C4EA5-7918-4E41-8D54-E3CAFB72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95525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678CA-AD89-4AF5-874F-721E2A23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00250"/>
            <a:ext cx="914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rerank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1E327-8FD1-4A7C-B0B0-53D777C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独立对照路径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D33D2-72CE-4346-9AC2-7C700E8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857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Qwen / MCTS 生成候选池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96226-B5AB-458A-B176-DB5A223B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274D4-F3B9-46DD-B1ED-CFA8E981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6240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同一候选池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D9A0F-D0AF-424A-AA0B-D6CE5327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52CE1-9675-4C36-9BAC-440AAA3D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81425"/>
            <a:ext cx="19621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execution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self-consistency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F0974-797C-4855-B5E7-AC140555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529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ctr">
              <a:def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320AD-3A79-451A-B9F7-8C7309BB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81425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schema-aware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reranker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FFA361-BAC5-4CE2-B51B-215FCC1F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72125"/>
            <a:ext cx="701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关键：Jev 不是生成模型，也不替换现有 Qwen/OpenAI 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484A2-CB67-4248-8FE2-1E08974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73BC4-C1E7-44B1-9DB7-5969CA4A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1482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81263-CCBE-4AB8-BA50-7368B7D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三步实验路线：先定位问题，再训练 selector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A897D-E092-481E-B07B-C40EA770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实验路线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91EB7-F1B1-41AE-8695-074B7028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BB0D5-C37D-4061-A9DF-45AF1A7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0F13A-3461-4D7B-B4A2-45B6D7F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A4CD0-58D4-40D8-B2D0-A0D4C42C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2BC1A-D369-4E44-8123-B7C9C4F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12题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E0C91-B3C2-420D-92DD-9310CD62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受约束探路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924BC-BEC6-42FD-9CD7-215786F5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验证 pipeline 可跑通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观察 linker / compiler / reranker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53204-69E9-4E4A-9ECD-67157521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5F59C-FEAA-4E0A-83E3-86FAE33E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EBE3A-9294-4758-8B55-905E9185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300题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CF2E5-B53A-498F-B53B-6995DAE3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扩展与分解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1846D-8180-497A-8C7C-6D197C06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区分能力范围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固定候选池比较 selector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180AA-F4DF-4422-91FB-6FFB143B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AEEE7-3B85-4602-BB10-5F0D480D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A5A84-C822-4396-8088-47D4D24B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100题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F78FC-B23A-4298-ABB2-1FFD3B69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监督式 pairwise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A2916-2BEE-4442-A3A1-AB2F7220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筛 hard cases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保留 SC 特征并做 confidence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8348E-6A51-4344-9376-E54E4F9D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结论演进：能跑通 → 找到真正瓶颈 → 证明监督信号存在但安全性不足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DCA02-8617-4178-8676-6E776AB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46176-410D-4750-A0F6-CD8176C3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8436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4354A-80D3-4670-9DD3-0D24F824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12题探路：Jev 有选择信号，但不能直接替换 SC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531DD-FFBF-40A7-B09D-C95F519C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0EC0F-83C2-4065-A107-40F36A73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AE032-416E-430C-BA71-5527149AF845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04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809750"/>
                <a:gridCol w="1809750"/>
              </a:tblGrid>
              <a:tr h="714375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Final EX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MCTS + self-consistency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Jev constrained pipeline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MCTS pool + Jev reranker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54191-B92C-4F85-BAE1-3BACF567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D2591-C583-4764-90C0-E687CE35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430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5 →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3F509-670B-446D-9AEE-C30BB524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自有候选池：top-beam 到 rerank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2E688-7410-4020-9CD8-BB49BD85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085D5-2B66-4853-9AF1-F1ED80B9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12 →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B94D5-C3E0-49B4-8EBA-BA9DE8C5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 MCTS 池：一次改选造成回归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3FB98-F402-4756-80FD-95BEAFF9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15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 个 Jev coverage miss 均已召回正确表列，错误来自 DISTINCT 与 literal / 阈值组合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04C98-90DE-4B86-8728-88B95FE4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小样本能证明 reranker 有信息，不能证明它比强 SC baseline 更可靠。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82AB5-ABE4-4435-B4BB-CD0F89C3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58738-A922-4E37-8652-58C5AE98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3045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ACB977-AAFD-46E4-8F66-E3A8A1F1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300题扩展：先把可比边界说清楚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78CAD-6875-4412-B2F5-7F863C0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AE3E5-347B-4915-AE0B-3F386B84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BF98F-E82D-434D-801F-D4866F3A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95604-6EFD-454B-96ED-718F72E9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02384-554B-4E57-995F-1D06BE00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冻结、gold 可本地执行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7D490-7B1B-4D3E-829A-7D462535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E7167-C4AF-42A4-A533-07887F55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403D3-7974-4876-A8C8-1A90E3F7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300/300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421BD-4E5A-4F30-B00C-98B90B3C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native 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2C28F-25F0-4FE9-8C3D-450170F8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68851-26EF-4699-83BF-3182DA7C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1FCFB-76BC-4C69-AD08-1332AC2A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287/300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5FD31-333B-4353-A00C-3564780E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MCTS 完成，共同集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8ED0C-DAE6-42EE-891D-1D920695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462E7-9AB6-434B-A1C2-2222DFDB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428750"/>
            <a:ext cx="114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7ACA9-2525-4E2A-8E0D-7640E6BB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430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93EED-A3EE-4512-A0BF-1DC3FCC0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19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333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欠费/截断待补跑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17F1E-DE7C-433A-B043-F30D7547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83 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1EC29-EC92-43A0-B032-CBDE87B5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 compiler 范围内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EDA37-CA10-4D2F-A95D-106C7FD1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217 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79F475-1C45-49C2-BE32-6049D672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包含尚未建模的 SQL 结构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5BC9A-CB31-431F-AA82-F4CD600E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287 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9460E-D383-4AD0-A8FE-3D81D2F6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三路方法严格可比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2A30E-7FFC-447C-8FEC-1CFA3E04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67350"/>
            <a:ext cx="9258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报告口径：Jev 用完整 300；方法对比用共同 287；不把缺失 13 题伪装成最终结果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17860-DD07-4D4F-861F-475BDE6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69970-C7D7-4457-9BDC-3137A842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58976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F25B-4B34-42AB-8243-CB48A748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共同287题：MCTS coverage 是优势，Jev 直接重排会下降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D0522-ABF9-4C9F-A7CA-01EF6562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核心结果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7E50E-E2C2-42EB-BFDB-67AD2B24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DAB25FD-8393-4C92-AED8-085C90299ABE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d3d6b03c2a486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494B2-4C09-4184-A5B2-BADB8F5B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8133F-72E3-4CB6-BF89-9022FE80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-3.14 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73208-A923-43FD-A77D-37DC7366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Jev-on-MCTS 相对 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7772A-B4A7-41DB-A399-94749967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3143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41D0F-91A9-40B2-950F-B88497C0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[-5.92, -0.35]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6FB0B-1D78-4346-9211-C11B0859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paired bootstrap 95% CI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AEBDD-2D13-4CEA-A671-295AB37A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342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当前证据支持：无监督 Jev reranker 不应直接替换 execution self-consistency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21A4F-D695-4B71-A3F3-11609DCF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E59C0-247E-495D-B570-8EF4ED26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1458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3C66F-DD94-41E1-9A32-88E68394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Schema Linking 很强，但这不等于 SQL 已经正确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30CF3-7F86-431C-AABE-C8F70A22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瓶颈诊断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0BC55-3708-45C8-9F2F-3264EC0D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C08D588-AEFC-40B1-89E9-006FDD279446}"/>
              </a:ext>
            </a:extLst>
          </p:cNvPr>
          <p:cNvGraphicFramePr/>
          <p:nvPr/>
        </p:nvGraphicFramePr>
        <p:xfrm>
          <a:off xmlns:a="http://schemas.openxmlformats.org/drawingml/2006/main" x="609600" y="144780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6eb3e6101246a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B8902-80F1-4D66-A0F6-55D5681D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453F8-A0AC-4E77-A945-46A3DCE0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85925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181 / 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6787E-D8FB-479F-8D26-2308A598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621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coverage miss 仍完整召回 gold 表列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A315C-E31B-47FE-A959-5392B1D2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CE09E-9142-4E14-9C7C-B5727088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22 / 203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691E4-2E2D-409F-85A9-AE4617F9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真正 schema recall 不完整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D8F60-2B23-45C8-AB36-8CBC8413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629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资源优先级：QueryPlan / compiler / literal / operator  &gt;  再训练表列二分类器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B8B8B-7C4C-470A-8522-4C99F101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CB3C3-C96A-4ED6-ACE8-4D4A5C6D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91438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D1B2B-490B-428F-A388-EE688ECA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constrained 的主瓶颈是能力范围，不是语义召回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95E72-4DDA-4DC9-AFAE-403B4D66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能力范围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054D2-CB84-4AB1-8DCF-A20CBB23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C9F5F17-AF7A-47C3-8066-020E154AB5DA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6667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d92df4a1e44df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4F6C9-6FB4-43A5-AECC-02C7D88E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66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>
            <a:def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当前尚未完整建模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46F79-E624-49F6-83AB-168482F2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429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多投影、多过滤与复杂布尔条件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子查询与集合操作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GROUP BY / HAVING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ORDER BY / LIMIT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CASE、日期与字符串表达式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literal、类型转换与聚合层级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CFBA6-D924-4C58-B78F-7AB38055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43500"/>
            <a:ext cx="3905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范围内 EX 74.7%：说明 12 题结果不是偶然，但系统还不是通用生成器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59D2F-9982-4474-BEFE-8FA0AF36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1D213-1F42-4411-B46B-B84E5D5D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69176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A5889-76EC-420A-950A-1AB97A33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Selector 的真实差距：修复 4 题，但回归 13 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85627-61D3-4E68-B6B5-A6D445C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选择器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7DA88-0B49-4A5A-9740-647389E6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D7D1E83-D7AF-4F72-84E3-16A16A44C4F5}"/>
              </a:ext>
            </a:extLst>
          </p:cNvPr>
          <p:cNvGraphicFramePr/>
          <p:nvPr/>
        </p:nvGraphicFramePr>
        <p:xfrm>
          <a:off xmlns:a="http://schemas.openxmlformats.org/drawingml/2006/main" x="609600" y="1447800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1442ee8958462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5C60C-2017-4CE5-9936-8113BCB0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890E7-BBAC-43BB-BACE-FCEFE06E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38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F9FE7-D1C5-44C9-95C1-A1924C0D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14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3AA5D-625F-4BFD-A4E3-2131D6FF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9B739-27FB-4EF7-90F9-5EED1798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38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F5072-F817-4CD5-8805-C3C0007A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14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10628-43F5-425E-874F-33432EE8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75638-9ED7-40D9-921D-AC87833B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1942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94.76%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C2116-C29D-4368-B1D1-B250542B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956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17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SC 在 coverage 内选对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FEC91-933B-40E2-95CB-90D4168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05125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F21B3-010E-4B65-B365-E509EDBB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1942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90.83%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9CE78-5ABE-4BC4-8F9E-23870C59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956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83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在 coverage 内选对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6318E-A405-48A6-B54F-FF35A883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3143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GapClosure = -75%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AAACB-C97E-48B6-A0F0-C19F3FDE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530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46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不是缺少改选能力，而是缺少“何时不要改选”的监督。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4B0BD-714B-40FA-95EF-5A525C0F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39420-3E76-4450-B6B4-AB3EA203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44835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C1789-01D8-4B46-AFA5-0177A11B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错误不是随机的：通用语义与 benchmark 约定发生冲突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B89A5-AC52-427B-9D30-6EBBC219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逐题分析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AB221-0DA3-4670-A8FD-ED62F2B7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79AC5-F660-4B27-88D7-46D65E41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1625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456B7-8400-430D-9E4D-DE1E9902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287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>
            <a:defPPr algn="l">
              <a:def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修复的 4 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A9323-5AFB-4BF3-B4C1-CF32B46D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514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210：COUNT(*) → SUM(qty)，修复计量对象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3099：&gt;= → &gt;，匹配严格比较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8963：US$ 字符串先转数值再求最大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2481：修复年份上界的执行约定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4A311-43E8-480A-A3E0-941FB674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共同点：类型、比较符、聚合对象等可验证语义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00FE6-210C-49B9-BD9E-C9B2FE39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90650"/>
            <a:ext cx="51625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8A60B-F012-4208-AB05-35D36EEB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287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>
            <a:defPPr algn="l">
              <a:def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回归的 13 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56812-BBFB-484F-B4A4-37B37447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28850"/>
            <a:ext cx="4514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 题添加了 gold 不需要的 DISTINCT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投影从 ID 改成更自然的姓名 / 拼接字段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增加额外语义条件或换用相近字段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改变 GROUP BY、计数对象或百分比分母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从另一张语义相近表读取结果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FD68E-430A-468A-B925-9D91F320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2920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14"/>
          </a:bodyPr>
          <a:lstStyle xmlns:a="http://schemas.openxmlformats.org/drawingml/2006/main">
            <a:defPPr algn="ctr">
              <a:def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共同点：SQL 看起来更自然，但 execution gold 不等价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68338-2CA8-40FC-8C57-24B86D7F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69F0E-C344-47CA-B9EE-BFD468F4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881776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D94917-7ED4-41E4-8882-4D237983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100题监督式 pairwise：证明信号存在，数据仍远远不够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96DF4-0C0A-4FB7-AA4A-8B5E152E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E1D97-851C-4B02-92DB-E9331DC8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D2DB4-8800-4416-83A8-347F3ED9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9A6B1-8170-4237-A810-14DA2160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269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E3FE3-7610-438D-B3FC-4858DF09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可评估问题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3FD08-472C-4093-BF70-DFB71BB2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4D50E-7241-4CCA-A3CC-D7774217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903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46601-0663-4B0A-979C-CDD181E0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候选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9E544-088A-4A48-9F4D-24913914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6EA9E-16BD-44C2-9829-D234409F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66F97-4876-45EC-B687-993EDA61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全部 hard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5AA3D-4A8A-48CF-9313-3405E5E5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D787C-C82B-4DFF-9E24-A6914059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12789-CA87-4C78-AF66-A1C316C9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训练 hard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E739F-2CB7-4819-9D0C-EC3C17B8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E8ECD-A2DD-4926-9D9A-F7D4A2E1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668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129/40/100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2B505-2859-4BCA-8006-D5C66812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train / val /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B5867-54C7-43E3-9677-DAF0617B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48维特征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含 7 个 SC 特征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E1B65-E7A8-4EA5-8847-2174B8C1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95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F5862-2C59-457F-880F-13911A3A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76625"/>
            <a:ext cx="2428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MLP ensemble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RankNet + pointwise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11A61-44B6-41FB-882D-F4D45056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195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BA361-54E7-44E1-B80B-64CF70C1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76625"/>
            <a:ext cx="2428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validation 选阈值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score margin ≥ 0.20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D9A50-B739-4DAD-8883-A5BE1E5B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195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68386-AD6A-4D74-A79A-B51072EC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76625"/>
            <a:ext cx="914400" cy="9525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否则回退 SC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4F7E8-3FBC-47C0-97CA-C320E26A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48275"/>
            <a:ext cx="8686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训练目标很窄：只解决候选中“正确 SQL 存在但多数簇选错”的问题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9B6FE-D1B9-40E2-84AD-C80CBCC5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174301-9F04-4E24-8ED7-C16430CF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19946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BE2D5-611A-4A3B-8792-D397D5DC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监督实验：hard 子集修复 4/5，但被普通题回归抵消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73EA2-B342-4451-8C26-6CF97BD1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100题结果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0AD69-AD35-48D1-BB5B-213B2D69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34AFA2B-B28A-4732-9A0C-37E7EFE68131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6191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f46a6dacc54e5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05D14-62EE-4D05-9A5F-7C2962E2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049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2AFEF-A9C6-4D71-AF98-7C6C712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619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3DE3C-6312-4385-8E9F-E38748D5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0955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C5D34-7C08-4A02-B653-3282A4E3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049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C9D21-B53E-433F-B46C-B23D77E2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619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5F796-19B9-423E-AD31-53C27B47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955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0547A-6D35-401C-A96F-6277F63C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194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CDA8A-2098-4DA1-9141-2B83B812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337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60A5B-909D-4ECB-B11D-BE677971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099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coverage miss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E7585-5A89-4130-A1C8-4EF054FE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9218D-D1C5-42A3-B70C-1698251E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337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5EA46-EDC7-4991-80A6-6320A3C9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099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未修复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19E86-309E-4078-8271-F207B0F2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400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98888"/>
          </a:bodyPr>
          <a:lstStyle xmlns:a="http://schemas.openxmlformats.org/drawingml/2006/main">
            <a:def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5 个回归全部从较大结果簇跳到 singleton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C2366-2B3E-4496-BA6F-C69E0C8A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24475"/>
            <a:ext cx="9048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结论：模型学到了“反多数簇”信号，但还没学会安全边界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9FE0C-1081-44D1-A13C-ADB621D3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8511B-4613-4DD7-8E92-1ED151E3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218559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6BFD55-2C57-419E-B1EF-3742512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五篇论文：从“样本顺序”走向“SQL outcome verifier”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EAD17-AD23-4F2C-8F6D-01816E9C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文献学习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682FE-4AD4-4797-A5F9-79E2812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66002-2C60-4505-A369-DE7AB362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B1398-FB89-41A7-BE5B-4F823F9165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ed13de96f4650"/>
          <a:stretch xmlns:a="http://schemas.openxmlformats.org/drawingml/2006/main"/>
        </p:blipFill>
        <p:spPr>
          <a:xfrm xmlns:a="http://schemas.openxmlformats.org/drawingml/2006/main">
            <a:off x="6953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83804-0B3E-4E91-9203-C7D487E5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Bengio et al.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76007-C907-4A73-AA90-78600BD9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顺序改变优化路径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F68EB-3A2E-4B03-A83F-183D5998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F46A5-852A-4669-AE7D-A01F5DDA17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7ee1a85364395"/>
          <a:stretch xmlns:a="http://schemas.openxmlformats.org/drawingml/2006/main"/>
        </p:blipFill>
        <p:spPr>
          <a:xfrm xmlns:a="http://schemas.openxmlformats.org/drawingml/2006/main">
            <a:off x="3004384" y="1428750"/>
            <a:ext cx="1630281" cy="2305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9FDA7-CE53-46A8-AAF9-A6EAAF1C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Beyond Random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Sampling,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71A8D-084F-4E7D-991C-3CEC648F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warmup 最稳健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764B5-B100-4D6B-8581-74529353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9C2FD-900C-44A7-9F28-E385D2B3E3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4ee2dc38243e3"/>
          <a:stretch xmlns:a="http://schemas.openxmlformats.org/drawingml/2006/main"/>
        </p:blipFill>
        <p:spPr>
          <a:xfrm xmlns:a="http://schemas.openxmlformats.org/drawingml/2006/main">
            <a:off x="51911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99007-587A-46EF-9F42-198DA43D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DUCL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82933-5ABE-4ED4-A526-53EC3574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难度 + 效用 + 多样性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DA8F8-DAC5-4D2D-BD77-764E9680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44838-40AF-4111-A311-812EC94EF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eb3c388df415b"/>
          <a:stretch xmlns:a="http://schemas.openxmlformats.org/drawingml/2006/main"/>
        </p:blipFill>
        <p:spPr>
          <a:xfrm xmlns:a="http://schemas.openxmlformats.org/drawingml/2006/main">
            <a:off x="7500184" y="1428750"/>
            <a:ext cx="1630281" cy="2305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B797D-5504-4503-8C1A-0271E7CE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Curri-DPO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173D9-A041-4C7D-BA91-ADEB65B6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多 pair 从易到难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54964-B70E-4A88-AB2D-3876571D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B9973-F8AB-414F-A033-C5A71943C2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8714548ed4ddc"/>
          <a:stretch xmlns:a="http://schemas.openxmlformats.org/drawingml/2006/main"/>
        </p:blipFill>
        <p:spPr>
          <a:xfrm xmlns:a="http://schemas.openxmlformats.org/drawingml/2006/main">
            <a:off x="96869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3C6F1-CC31-42B5-A257-A0FD19F9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GradeSQL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9576E-5CA7-472B-AF7C-C646A2CC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执行标签训练 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282E2-ABA7-403D-9D26-98532D01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8115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共同主线：先定义什么值得学，再决定以什么顺序、什么强度学习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7CBFE-EE1F-40A4-A130-6355DE0A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9628AB-AA1C-4679-8ACC-2BBF9A78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709174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7A7E33-33A9-4150-8E54-79E9EC9D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课程学习的关键不是简单地把 hard cases 放到最后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4472B-68F1-4A86-882F-908B6FCC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论文启发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CBB7C-8772-474D-BF86-536BA45C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C3895-4F81-4BD5-947F-6C29139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Bengio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64C3-8E08-43EC-8D99-B98EAADC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从容易目标逐步过渡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像 continuation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1848B-B503-40CD-A081-0A6435EE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132BE-DD48-45CA-9CCD-F2C32C31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Beyond Random Sampling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FC2D5-0A84-4916-8EFE-1916F74D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670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难度指标 × pacing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课程 warmup 更稳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09DDF-B67F-4667-AAFA-332FCBA0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0BF08-C7E6-4703-9EF5-D981F0CA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DUCL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DEB12-189E-4F4B-A2D5-99F3E5E6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difficulty 不够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还要估计 utility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6585E-8480-4ECE-B982-CE0AB68A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989BD-8691-4674-851C-134F5550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Window Ordering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8762E-74A3-4F6A-AEF2-1D92447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逐步扩大窗口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保留 batch diversity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43C66-941F-4DDD-BE7C-4D687ACA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28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95E46-A619-4432-B26F-D311D31C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>
            <a:defPPr algn="l">
              <a:def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映射到 SQL selector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434F8-0EAC-4C83-8DA8-D14E54AF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38625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难度：正确 SQL 与负 SQL 有多相似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效用：学会该 pair 能否关闭实际 selector gap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多样性：每个 batch 保留 SC 正确的 anchor cases，避免只学会反多数簇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2C248-80AC-450A-A247-6CD1B6DB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5C0FE-6FB7-4E62-938F-11A4FB0F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926025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8E75F7-1878-42B6-BA1A-037BDC10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Curri-DPO 与 GradeSQL：最接近当前 selector 的两条路线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87B1E-5FA5-47E2-A231-216354FE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论文启发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E16C0-A923-4F4E-8B10-4DFB41C6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6A568-B4A5-481E-A243-A2480D66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DA85D-642A-4315-8290-219D35AB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Curri-DPO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831AE-FB9E-46E8-A44D-7C29890A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同一 prompt 的多个响应形成多个 preference pairs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E4826-38B5-4CC0-8BF8-B97B5FF5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3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大评分差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容易 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A10B8-C23C-41C3-BC76-8CAD161A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9562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F357C-2DD4-4380-8B23-4540C858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114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中等差异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D455F-3722-4A8A-912E-8CF7EB20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9562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67A95-CEA3-455A-9F4A-BEB65857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95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小评分差</a:t>
            </a:r>
          </a:p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困难 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AD7AB-E7AC-438C-86C7-B0895EBF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启发：不需要穷举所有 pair；迭代次序与 reference 更新很重要。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D970E-4A37-4F71-A905-D80DD9C5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3CF9D-D744-4349-B131-4204109A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GradeSQL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D55A9-A3C0-4DDE-9E33-22C0A6C4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候选 SQL 用执行等价打标签，训练 ORM 输出 P(Yes)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DFC36-BC93-41BE-B8DF-8B7F78E9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N 个候选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1D319-0A01-4F14-A407-61A0B074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6DE13-86AD-4766-9E0F-15DD08D2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执行标签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4326C-E6B3-4398-9460-9005EADE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95625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77EB1-261D-4AFE-9C32-19600D22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ORM 排序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A4334-164D-4302-B9D4-C48BEC79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BIRD dev：68.90%，高于 Majority Voting 66.95%；SQL-only prompt 最好。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2C84B-4532-472F-9516-6E3FED15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743575"/>
            <a:ext cx="84391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我们的方向：执行监督的 SQL ORM + 课程式多 pair + SC 安全先验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01AF8-9129-426C-BAB6-9FBA22CF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7AD78-5379-493D-997A-09E4F3F4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004970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DE81E5-B53A-467A-8F1A-06CA635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下一阶段：Utility-aware Curriculum Reranker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2B065-30FC-483B-B44A-65E35C06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CF207-8520-4E3A-A5CC-0E375BD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D9E63-3D42-4EEC-88D0-EDA1BBF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23924-1289-4C3D-BE7A-4787DB88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阶段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7DCC9-65B7-4ADA-855B-A3DF0168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结构热身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D2FCF-03C9-4177-B037-4647003C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明显的表 / 投影 / 聚合 / 过滤错误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78AE3-7B09-468C-A25D-D7C9CB4E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ECE21-E7CE-4D27-BAE7-1748CF66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F4058-FED6-4A8C-998E-92BE3E5D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F25F6-0107-4808-A2CD-7BD20FA9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单点语义差异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F6E32-DC48-4013-9963-33263838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DISTINCT、比较符、LIMIT、类型转换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AB171-27B8-4F80-87AC-67F9E685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F25AC-4D49-4986-88FC-8C4506AC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66566-A89D-44AB-ADDF-4BE839FA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阶段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D3AF8-C619-44E0-95A5-5FF8607A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98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高效用 hard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FE061-C9A2-40C2-9496-00D3CA3B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SC 错但 oracle 对；投影与分母敏感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44599-BE1C-413E-B94F-7F9C8C1F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62E39-765A-4C08-9DED-81043E0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C8D4F-6F77-400A-81C8-5C27235A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阶段 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86C17-B5E9-4CCC-9BF4-348E61AE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随机混合巩固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987F6-EB81-40EA-B0DC-D68BD6B6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恢复多样性，持续回放 anchor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9F458-9F0A-493B-82A5-B40D897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4953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89934"/>
          </a:bodyPr>
          <a:lstStyle xmlns:a="http://schemas.openxmlformats.org/drawingml/2006/main">
            <a:defPPr algn="ctr">
              <a:defRPr sz="187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final score = SC prior + λ × learned residual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8B79F-151B-4844-8091-398D78C4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05250"/>
            <a:ext cx="4048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singleton winner 需要更高阈值 + 两项独立证据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6A6BE-A075-499C-B863-8748944D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914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hard training questions：9 → 至少 100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按数据库隔离 train / validation / test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schema confidence 与 cluster support 都作为软特征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coverage miss 单独优化，不混入 selector 成功率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2DFA6A-2DCF-4CDC-9ED2-32C805D4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8B9B5-CD22-446A-9F7A-252DAA28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478878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3F946-A7E2-46B6-A141-6209E29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实验假设与消融：怎样证明新方案真的有效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04D4C-D872-44A9-AEC0-0E494B96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评估设计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47832-AD54-406C-A115-09514399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FE0B1-797B-4ACC-948C-783CFD3CF1F0}"/>
              </a:ext>
            </a:extLst>
          </p:cNvPr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857750"/>
                <a:gridCol w="4591050"/>
              </a:tblGrid>
              <a:tr h="650875">
                <a:tc>
                  <a:txBody>
                    <a:bodyPr/>
                    <a:lstStyle/>
                    <a:p>
                      <a:r>
                        <a:t>假设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核心问题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关键对照 / 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H1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监督式 ORM 能否正向关闭 selector gap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Overall EX、selector acc、GapClosure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H2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difficulty + utility 是否优于只看难度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随机 / difficulty-only / DUCL-style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H3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window + anchor replay 能否减少回归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fix、regression、hard-subset EX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H4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SC residual 与 singleton gate 是否更安全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改选覆盖率、ECE、Brier、阈值曲线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H5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Jev schema signal 帮助哪些错误类型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表列错误 vs DISTINCT / 投影 / 分母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389D4-0CDD-46F6-8678-DB07E0EE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809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最低成功标准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16335-BCF4-4C4C-A232-1448D611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19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892"/>
          </a:bodyPr>
          <a:lstStyle xmlns:a="http://schemas.openxmlformats.org/drawingml/2006/main">
            <a:def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Overall EX 不低于 SC；hard-case 明显提高；fix ≥ regression；paired bootstrap / McNemar 支持结论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AEE46-7523-4AAB-9153-FD571378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E69D3-92F2-4475-8E6B-79CE4EE5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896539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F0519-5A93-43A0-B64A-21186367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当前结论：保留高召回信号，训练一个会克制的 selector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E117F-92E8-4D71-8D42-21328BE9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5F63F-CFC2-451A-A4BD-75308389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68CF0-E9A1-4C5B-9263-FA9FF9B4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61D36-CFE4-459D-BB1D-1DA9C134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Jev linker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703E1-784E-43A2-9D8F-1C6F8530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4305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高召回值得保留；不做硬过滤，也不因单项指标高就整体替换。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619CB-3E37-447F-96B4-EF49AC6E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68DD0-182B-4FE6-BA30-8873FFF7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72"/>
          </a:bodyPr>
          <a:lstStyle xmlns:a="http://schemas.openxmlformats.org/drawingml/2006/main">
            <a:def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Constrained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03DBD-6E3A-406F-97A6-0D71F832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范围内可用，范围外受 QueryPlan / compiler 能力限制。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C3F1F-0491-4558-8540-50EA48B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8FCF5-AA9A-406C-A858-52169607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无监督 reranker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153E3-0894-4B73-8F80-1AF99E81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287题下降 3.14pp；不能直接替换 self-consistency。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6F03B-452E-493C-AE85-613F7BB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519BA-CED2-4AE2-A25C-7F14D04F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监督式 reranker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31D72-199B-4A75-8B08-59436F41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方向成立，但 9 个 hard train cases 不足以控制普通题回归。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9EC5D-FBEA-406B-9E3D-9D6AFE08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05500"/>
            <a:ext cx="8877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下一步优先级：扩大 hard pool → 课程式 ORM → residual gate → 冻结集复验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148B1-FFEF-46A5-8F3A-CAE14A61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586EB-3F1B-4114-8DEA-91B9DC89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07209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2026-10-13T03:45:42.0110000Z</dcterms:created>
  <dcterms:modified xsi:type="dcterms:W3CDTF">2026-10-13T03:45:42.0110000Z</dcterms:modified>
</coreProperties>
</file>