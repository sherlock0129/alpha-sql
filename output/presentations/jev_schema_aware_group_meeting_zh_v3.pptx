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60099b665a46e9" /><Relationship Type="http://schemas.openxmlformats.org/officeDocument/2006/relationships/extended-properties" Target="/docProps/app.xml" Id="R38aec688f8b547b0" /><Relationship Type="http://schemas.openxmlformats.org/officeDocument/2006/relationships/officeDocument" Target="/ppt/presentation.xml" Id="Rd71b743a52304f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ab18e96f524cee"/>
  </p:sldMasterIdLst>
  <p:notesMasterIdLst>
    <p:notesMasterId xmlns:r="http://schemas.openxmlformats.org/officeDocument/2006/relationships" r:id="R23b4f31060fb4923"/>
  </p:notesMasterIdLst>
  <p:sldIdLst>
    <p:sldId xmlns:r="http://schemas.openxmlformats.org/officeDocument/2006/relationships" id="256" r:id="R56a545cbabb249b6"/>
    <p:sldId xmlns:r="http://schemas.openxmlformats.org/officeDocument/2006/relationships" id="257" r:id="Rbdfb2f0effc04aab"/>
    <p:sldId xmlns:r="http://schemas.openxmlformats.org/officeDocument/2006/relationships" id="258" r:id="Rad4e1b252d784a17"/>
    <p:sldId xmlns:r="http://schemas.openxmlformats.org/officeDocument/2006/relationships" id="259" r:id="R3fa7582b82bd4e9b"/>
    <p:sldId xmlns:r="http://schemas.openxmlformats.org/officeDocument/2006/relationships" id="260" r:id="R95075cc3981948e5"/>
    <p:sldId xmlns:r="http://schemas.openxmlformats.org/officeDocument/2006/relationships" id="261" r:id="R41cfa33f4a9a457a"/>
    <p:sldId xmlns:r="http://schemas.openxmlformats.org/officeDocument/2006/relationships" id="262" r:id="R19781d45835a460d"/>
    <p:sldId xmlns:r="http://schemas.openxmlformats.org/officeDocument/2006/relationships" id="263" r:id="R5841e78d712a41c8"/>
    <p:sldId xmlns:r="http://schemas.openxmlformats.org/officeDocument/2006/relationships" id="264" r:id="R734604b10b6f4f3f"/>
    <p:sldId xmlns:r="http://schemas.openxmlformats.org/officeDocument/2006/relationships" id="265" r:id="R75337e034fa9459e"/>
    <p:sldId xmlns:r="http://schemas.openxmlformats.org/officeDocument/2006/relationships" id="266" r:id="R854ae5f3f5c9491b"/>
    <p:sldId xmlns:r="http://schemas.openxmlformats.org/officeDocument/2006/relationships" id="267" r:id="R3fbf56f2bb4f43da"/>
    <p:sldId xmlns:r="http://schemas.openxmlformats.org/officeDocument/2006/relationships" id="268" r:id="Rb938bba21a02456b"/>
    <p:sldId xmlns:r="http://schemas.openxmlformats.org/officeDocument/2006/relationships" id="269" r:id="Rf28dae7871e44f05"/>
    <p:sldId xmlns:r="http://schemas.openxmlformats.org/officeDocument/2006/relationships" id="270" r:id="Reb7d0a66f414424b"/>
    <p:sldId xmlns:r="http://schemas.openxmlformats.org/officeDocument/2006/relationships" id="271" r:id="Rd3912cf7d45c4e33"/>
    <p:sldId xmlns:r="http://schemas.openxmlformats.org/officeDocument/2006/relationships" id="272" r:id="Ra66d262e24684074"/>
    <p:sldId xmlns:r="http://schemas.openxmlformats.org/officeDocument/2006/relationships" id="273" r:id="R24251362f6624e33"/>
    <p:sldId xmlns:r="http://schemas.openxmlformats.org/officeDocument/2006/relationships" id="274" r:id="R836ff6e36f714c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8ef0123a8f41b6" /><Relationship Type="http://schemas.openxmlformats.org/officeDocument/2006/relationships/slideMaster" Target="/ppt/slideMasters/slideMaster1.xml" Id="R6aab18e96f524cee" /><Relationship Type="http://schemas.openxmlformats.org/officeDocument/2006/relationships/notesMaster" Target="/ppt/notesMasters/notesMaster1.xml" Id="R23b4f31060fb4923" /><Relationship Type="http://schemas.openxmlformats.org/officeDocument/2006/relationships/presProps" Target="/ppt/presProps.xml" Id="Rf2dfe52672424391" /><Relationship Type="http://schemas.openxmlformats.org/officeDocument/2006/relationships/tableStyles" Target="/ppt/tableStyles.xml" Id="Rbed071b947a6424c" /><Relationship Type="http://schemas.openxmlformats.org/officeDocument/2006/relationships/slide" Target="/ppt/slides/slide1.xml" Id="R56a545cbabb249b6" /><Relationship Type="http://schemas.openxmlformats.org/officeDocument/2006/relationships/slide" Target="/ppt/slides/slide2.xml" Id="Rbdfb2f0effc04aab" /><Relationship Type="http://schemas.openxmlformats.org/officeDocument/2006/relationships/slide" Target="/ppt/slides/slide3.xml" Id="Rad4e1b252d784a17" /><Relationship Type="http://schemas.openxmlformats.org/officeDocument/2006/relationships/slide" Target="/ppt/slides/slide4.xml" Id="R3fa7582b82bd4e9b" /><Relationship Type="http://schemas.openxmlformats.org/officeDocument/2006/relationships/slide" Target="/ppt/slides/slide5.xml" Id="R95075cc3981948e5" /><Relationship Type="http://schemas.openxmlformats.org/officeDocument/2006/relationships/slide" Target="/ppt/slides/slide6.xml" Id="R41cfa33f4a9a457a" /><Relationship Type="http://schemas.openxmlformats.org/officeDocument/2006/relationships/slide" Target="/ppt/slides/slide7.xml" Id="R19781d45835a460d" /><Relationship Type="http://schemas.openxmlformats.org/officeDocument/2006/relationships/slide" Target="/ppt/slides/slide8.xml" Id="R5841e78d712a41c8" /><Relationship Type="http://schemas.openxmlformats.org/officeDocument/2006/relationships/slide" Target="/ppt/slides/slide9.xml" Id="R734604b10b6f4f3f" /><Relationship Type="http://schemas.openxmlformats.org/officeDocument/2006/relationships/slide" Target="/ppt/slides/slide10.xml" Id="R75337e034fa9459e" /><Relationship Type="http://schemas.openxmlformats.org/officeDocument/2006/relationships/slide" Target="/ppt/slides/slide11.xml" Id="R854ae5f3f5c9491b" /><Relationship Type="http://schemas.openxmlformats.org/officeDocument/2006/relationships/slide" Target="/ppt/slides/slide12.xml" Id="R3fbf56f2bb4f43da" /><Relationship Type="http://schemas.openxmlformats.org/officeDocument/2006/relationships/slide" Target="/ppt/slides/slide13.xml" Id="Rb938bba21a02456b" /><Relationship Type="http://schemas.openxmlformats.org/officeDocument/2006/relationships/slide" Target="/ppt/slides/slide14.xml" Id="Rf28dae7871e44f05" /><Relationship Type="http://schemas.openxmlformats.org/officeDocument/2006/relationships/slide" Target="/ppt/slides/slide15.xml" Id="Reb7d0a66f414424b" /><Relationship Type="http://schemas.openxmlformats.org/officeDocument/2006/relationships/slide" Target="/ppt/slides/slide16.xml" Id="Rd3912cf7d45c4e33" /><Relationship Type="http://schemas.openxmlformats.org/officeDocument/2006/relationships/slide" Target="/ppt/slides/slide17.xml" Id="Ra66d262e24684074" /><Relationship Type="http://schemas.openxmlformats.org/officeDocument/2006/relationships/slide" Target="/ppt/slides/slide18.xml" Id="R24251362f6624e33" /><Relationship Type="http://schemas.openxmlformats.org/officeDocument/2006/relationships/slide" Target="/ppt/slides/slide19.xml" Id="R836ff6e36f714c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43826eedc49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f71100a25c4819" /><Relationship Type="http://schemas.openxmlformats.org/officeDocument/2006/relationships/notesMaster" Target="/ppt/notesMasters/notesMaster1.xml" Id="Rd39fc7789d6e43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1c7320e0db4554" /><Relationship Type="http://schemas.openxmlformats.org/officeDocument/2006/relationships/notesMaster" Target="/ppt/notesMasters/notesMaster1.xml" Id="Rf76571a38a414b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7a7acda8f048cd" /><Relationship Type="http://schemas.openxmlformats.org/officeDocument/2006/relationships/notesMaster" Target="/ppt/notesMasters/notesMaster1.xml" Id="Rd96157d5bfe142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05ba29813b44a1" /><Relationship Type="http://schemas.openxmlformats.org/officeDocument/2006/relationships/notesMaster" Target="/ppt/notesMasters/notesMaster1.xml" Id="R8255b842afa94c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93d20acd0a40fe" /><Relationship Type="http://schemas.openxmlformats.org/officeDocument/2006/relationships/notesMaster" Target="/ppt/notesMasters/notesMaster1.xml" Id="R4598a964c97745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a03936c8b94e14" /><Relationship Type="http://schemas.openxmlformats.org/officeDocument/2006/relationships/notesMaster" Target="/ppt/notesMasters/notesMaster1.xml" Id="R8eb9d198971549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97e73d35014fd7" /><Relationship Type="http://schemas.openxmlformats.org/officeDocument/2006/relationships/notesMaster" Target="/ppt/notesMasters/notesMaster1.xml" Id="R71371ed6d9b44c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7edefe7a344676" /><Relationship Type="http://schemas.openxmlformats.org/officeDocument/2006/relationships/notesMaster" Target="/ppt/notesMasters/notesMaster1.xml" Id="R82fa29bbf50845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f8219c780b4441" /><Relationship Type="http://schemas.openxmlformats.org/officeDocument/2006/relationships/notesMaster" Target="/ppt/notesMasters/notesMaster1.xml" Id="Rae592dc14af743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3bdf45179a4600" /><Relationship Type="http://schemas.openxmlformats.org/officeDocument/2006/relationships/notesMaster" Target="/ppt/notesMasters/notesMaster1.xml" Id="Reaf1a7a5a95f4b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32a1a6187e4264" /><Relationship Type="http://schemas.openxmlformats.org/officeDocument/2006/relationships/notesMaster" Target="/ppt/notesMasters/notesMaster1.xml" Id="R023c063196c441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504e7f24554cd2" /><Relationship Type="http://schemas.openxmlformats.org/officeDocument/2006/relationships/notesMaster" Target="/ppt/notesMasters/notesMaster1.xml" Id="R32ca6a93056440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55bef4076d4e08" /><Relationship Type="http://schemas.openxmlformats.org/officeDocument/2006/relationships/notesMaster" Target="/ppt/notesMasters/notesMaster1.xml" Id="R7bdb36d352084c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631046c5f24317" /><Relationship Type="http://schemas.openxmlformats.org/officeDocument/2006/relationships/notesMaster" Target="/ppt/notesMasters/notesMaster1.xml" Id="R44d79c6428cb4a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f59a60d17b4e60" /><Relationship Type="http://schemas.openxmlformats.org/officeDocument/2006/relationships/notesMaster" Target="/ppt/notesMasters/notesMaster1.xml" Id="Rab39f35bb8e54b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91c61f32ee4124" /><Relationship Type="http://schemas.openxmlformats.org/officeDocument/2006/relationships/notesMaster" Target="/ppt/notesMasters/notesMaster1.xml" Id="Rf164476c67ad4c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bff53ad68a4d35" /><Relationship Type="http://schemas.openxmlformats.org/officeDocument/2006/relationships/notesMaster" Target="/ppt/notesMasters/notesMaster1.xml" Id="R80e8273076574d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b8d64c887a4d2d" /><Relationship Type="http://schemas.openxmlformats.org/officeDocument/2006/relationships/notesMaster" Target="/ppt/notesMasters/notesMaster1.xml" Id="R63c35a5caebc46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a8a7318d76475f" /><Relationship Type="http://schemas.openxmlformats.org/officeDocument/2006/relationships/notesMaster" Target="/ppt/notesMasters/notesMaster1.xml" Id="Rd4fb0b0a4c9146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本次汇报以当前仓库中的三组实验和五篇论文为依据。</a:t>
            </a:r>
          </a:p>
          <a:p xmlns:a="http://schemas.openxmlformats.org/drawingml/2006/main">
            <a:r>
              <a:t>重点不是展示一个完成的系统，而是明确下一步应该训练什么、为什么。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MCTS budget: 2 rollouts, max depth 5. The 12 questions were chosen within the constrained compiler slice.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The 13 missing MCTS questions are due to provider arrearage and five earlier output truncations. Strict 300-way comparison remains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Percent values are reported as percentage points. McNemar/exact binomial p=0.049 on the 17 disagreements.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MCTS schema evidence is not a pure linker baseline because some stored paths skip the schema-selection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The slice definition follows the original 12-question experiment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GapClosure uses the 12-question oracle-to-SC selector gap as denominator: -9/12 = -75%.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The split is frozen by question ID but is not database-disjoint.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Primary model delta vs SC is -1 point; paired bootstrap 95% CI [-7, +5]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E:\Text2SQL\Curriculum Learning.pdf</a:t>
            </a:r>
          </a:p>
          <a:p xmlns:a="http://schemas.openxmlformats.org/drawingml/2006/main">
            <a:r>
              <a:t>E:\Text2SQL\Beyond Random Sampling.pdf</a:t>
            </a:r>
          </a:p>
          <a:p xmlns:a="http://schemas.openxmlformats.org/drawingml/2006/main">
            <a:r>
              <a:t>E:\Text2SQL\Difficulty Is Not Enough.pdf</a:t>
            </a:r>
          </a:p>
          <a:p xmlns:a="http://schemas.openxmlformats.org/drawingml/2006/main">
            <a:r>
              <a:t>E:\Text2SQL\Enhancing Alignment using Curriculum Learning.pdf</a:t>
            </a:r>
          </a:p>
          <a:p xmlns:a="http://schemas.openxmlformats.org/drawingml/2006/main">
            <a:r>
              <a:t>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E:\Text2SQL\Curriculum Learning.pdf</a:t>
            </a:r>
          </a:p>
          <a:p xmlns:a="http://schemas.openxmlformats.org/drawingml/2006/main">
            <a:r>
              <a:t>Source: E:\Text2SQL\Beyond Random Sampling.pdf</a:t>
            </a:r>
          </a:p>
          <a:p xmlns:a="http://schemas.openxmlformats.org/drawingml/2006/main">
            <a:r>
              <a:t>Source: E:\Text2SQL\Difficulty Is Not Enough.pdf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E:\Text2SQL\Enhancing Alignment using Curriculum Learning.pdf</a:t>
            </a:r>
          </a:p>
          <a:p xmlns:a="http://schemas.openxmlformats.org/drawingml/2006/main">
            <a:r>
              <a:t>Source: E:\Text2SQL\GradeSQL.pdf</a:t>
            </a:r>
          </a:p>
          <a:p xmlns:a="http://schemas.openxmlformats.org/drawingml/2006/main">
            <a:r>
              <a:t>GradeSQL reports BIRD dev ORM-BoN 68.90, Majority Voting 66.95, ex-BoN 66.04, Pass@32 80.57.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D:\University\Alpha-SQL\HARD_CASE_PAIRWISE_100_REPORT.md; E:\Text2SQL\Difficulty Is Not Enough.pdf; E:\Text2SQL\Enhancing Alignment using Curriculum Learning.pdf;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D:\University\Alpha-SQL\HARD_CASE_PAIRWISE_100_REPORT.md; E:\Text2SQL\Difficulty Is Not Enough.pdf;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D:\University\Alpha-SQL\LLM_JEV_300_INTERIM_REPORT.md; D:\University\Alpha-SQL\HARD_CASE_PAIRWISE_100_REPORT.md;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96773572146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1a6f610bf4a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b43b8fba942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d3574aae848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2c0d6f12047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521a535344c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AB6797-229E-47D0-A955-FAD6BCF7AC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970754-5DFE-4CFF-AB5E-94D1776494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487A96-46BF-4376-BD35-30426DA674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C535A0-CF94-4A90-992E-C33EA6D0B2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63A156-7E0D-4BDD-A29F-C19CEE486D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02C48-A61F-412E-8A8D-421CABBEA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299193-48CC-4A50-86DF-CE6031D51E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C96278-09E2-480C-983E-B2D56A1AE0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F2E73B-6D0B-4FB3-A987-DFFF90EC0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DA6D0C-4EEE-47AB-88B3-FCFB91EE85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4e95c29bfe4e18" /><Relationship Type="http://schemas.openxmlformats.org/officeDocument/2006/relationships/slideLayout" Target="/ppt/slideLayouts/slideLayout1.xml" Id="R1e4a518a98ae4fa8" /><Relationship Type="http://schemas.openxmlformats.org/officeDocument/2006/relationships/slideLayout" Target="/ppt/slideLayouts/slideLayout2.xml" Id="R05f6cfba737a487a" /><Relationship Type="http://schemas.openxmlformats.org/officeDocument/2006/relationships/slideLayout" Target="/ppt/slideLayouts/slideLayout3.xml" Id="Re2d5794742a24b4c" /><Relationship Type="http://schemas.openxmlformats.org/officeDocument/2006/relationships/slideLayout" Target="/ppt/slideLayouts/slideLayout4.xml" Id="R54b4032ca8aa4056" /><Relationship Type="http://schemas.openxmlformats.org/officeDocument/2006/relationships/slideLayout" Target="/ppt/slideLayouts/slideLayout5.xml" Id="R7690a5358f034320" /><Relationship Type="http://schemas.openxmlformats.org/officeDocument/2006/relationships/slideLayout" Target="/ppt/slideLayouts/slideLayout6.xml" Id="Raa985d450b3e4b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4a518a98ae4fa8"/>
    <p:sldLayoutId xmlns:r="http://schemas.openxmlformats.org/officeDocument/2006/relationships" id="2147483650" r:id="R05f6cfba737a487a"/>
    <p:sldLayoutId xmlns:r="http://schemas.openxmlformats.org/officeDocument/2006/relationships" id="2147483651" r:id="Re2d5794742a24b4c"/>
    <p:sldLayoutId xmlns:r="http://schemas.openxmlformats.org/officeDocument/2006/relationships" id="2147483652" r:id="R54b4032ca8aa4056"/>
    <p:sldLayoutId xmlns:r="http://schemas.openxmlformats.org/officeDocument/2006/relationships" id="2147483653" r:id="R7690a5358f034320"/>
    <p:sldLayoutId xmlns:r="http://schemas.openxmlformats.org/officeDocument/2006/relationships" id="2147483654" r:id="Raa985d450b3e4b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8682773824d57" /><Relationship Type="http://schemas.openxmlformats.org/officeDocument/2006/relationships/notesSlide" Target="/ppt/notesSlides/notesSlide1.xml" Id="Rc6a63fe2f0be44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0f09e1a8444b7" /><Relationship Type="http://schemas.openxmlformats.org/officeDocument/2006/relationships/notesSlide" Target="/ppt/notesSlides/notesSlide2.xml" Id="R656f02f99f3a4a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6b8d1b742c4ce7" /><Relationship Type="http://schemas.openxmlformats.org/officeDocument/2006/relationships/notesSlide" Target="/ppt/notesSlides/notesSlide3.xml" Id="R5f8ea593e3324a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b994b24894a56" /><Relationship Type="http://schemas.openxmlformats.org/officeDocument/2006/relationships/notesSlide" Target="/ppt/notesSlides/notesSlide4.xml" Id="R91b43cd998dd4a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9f669e3ab4719" /><Relationship Type="http://schemas.openxmlformats.org/officeDocument/2006/relationships/notesSlide" Target="/ppt/notesSlides/notesSlide5.xml" Id="Raca9130cd3244b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fd5c4a6594e3c" /><Relationship Type="http://schemas.openxmlformats.org/officeDocument/2006/relationships/notesSlide" Target="/ppt/notesSlides/notesSlide6.xml" Id="Ra165889f4b4d42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5c9bc5e2b47ce" /><Relationship Type="http://schemas.openxmlformats.org/officeDocument/2006/relationships/chart" Target="/ppt/slides/charts/chart1.xml" Id="Raa4cabc8d95e406e" /><Relationship Type="http://schemas.openxmlformats.org/officeDocument/2006/relationships/notesSlide" Target="/ppt/notesSlides/notesSlide7.xml" Id="R16a8ffabc65b44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40f8da2de4adc" /><Relationship Type="http://schemas.openxmlformats.org/officeDocument/2006/relationships/chart" Target="/ppt/slides/charts/chart2.xml" Id="R9facb160e22c49bc" /><Relationship Type="http://schemas.openxmlformats.org/officeDocument/2006/relationships/notesSlide" Target="/ppt/notesSlides/notesSlide8.xml" Id="R9afde3dde0e64f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eddf44fce4ac4" /><Relationship Type="http://schemas.openxmlformats.org/officeDocument/2006/relationships/chart" Target="/ppt/slides/charts/chart3.xml" Id="Rf9f2e3b1363a45a4" /><Relationship Type="http://schemas.openxmlformats.org/officeDocument/2006/relationships/notesSlide" Target="/ppt/notesSlides/notesSlide9.xml" Id="Rf7db644404b74b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3b101c72141c0" /><Relationship Type="http://schemas.openxmlformats.org/officeDocument/2006/relationships/chart" Target="/ppt/slides/charts/chart4.xml" Id="Rb63c8dc17be049f8" /><Relationship Type="http://schemas.openxmlformats.org/officeDocument/2006/relationships/notesSlide" Target="/ppt/notesSlides/notesSlide10.xml" Id="R8234fbe0b7e940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5003b71824fe5" /><Relationship Type="http://schemas.openxmlformats.org/officeDocument/2006/relationships/notesSlide" Target="/ppt/notesSlides/notesSlide11.xml" Id="Rf03e43718bd841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61be3e9f04a55" /><Relationship Type="http://schemas.openxmlformats.org/officeDocument/2006/relationships/notesSlide" Target="/ppt/notesSlides/notesSlide12.xml" Id="R28da22c1a82546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e82ef5e7494346" /><Relationship Type="http://schemas.openxmlformats.org/officeDocument/2006/relationships/chart" Target="/ppt/slides/charts/chart5.xml" Id="R85496b4b829f497a" /><Relationship Type="http://schemas.openxmlformats.org/officeDocument/2006/relationships/notesSlide" Target="/ppt/notesSlides/notesSlide13.xml" Id="Rb7da02971bcf4b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0fa0b56d2416a" /><Relationship Type="http://schemas.openxmlformats.org/officeDocument/2006/relationships/image" Target="/ppt/media/image.png" Id="R35d7e0ac96d84fe2" /><Relationship Type="http://schemas.openxmlformats.org/officeDocument/2006/relationships/image" Target="/ppt/media/image2.png" Id="R2ac0b5a0a9af4e0e" /><Relationship Type="http://schemas.openxmlformats.org/officeDocument/2006/relationships/image" Target="/ppt/media/image3.png" Id="Ra25a44dc0c5b4db3" /><Relationship Type="http://schemas.openxmlformats.org/officeDocument/2006/relationships/image" Target="/ppt/media/image4.png" Id="Rda894b395b0a410a" /><Relationship Type="http://schemas.openxmlformats.org/officeDocument/2006/relationships/image" Target="/ppt/media/image5.png" Id="Rf253f9e1c7c549cf" /><Relationship Type="http://schemas.openxmlformats.org/officeDocument/2006/relationships/notesSlide" Target="/ppt/notesSlides/notesSlide14.xml" Id="R3dc588aaa07c45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a677da5ff417c" /><Relationship Type="http://schemas.openxmlformats.org/officeDocument/2006/relationships/notesSlide" Target="/ppt/notesSlides/notesSlide15.xml" Id="R871037333c7448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7f63e7e584cfd" /><Relationship Type="http://schemas.openxmlformats.org/officeDocument/2006/relationships/notesSlide" Target="/ppt/notesSlides/notesSlide16.xml" Id="R4b623922abdb4d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860ef62ed4cc3" /><Relationship Type="http://schemas.openxmlformats.org/officeDocument/2006/relationships/notesSlide" Target="/ppt/notesSlides/notesSlide17.xml" Id="Rf32c09afa76d46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0628044644e90" /><Relationship Type="http://schemas.openxmlformats.org/officeDocument/2006/relationships/notesSlide" Target="/ppt/notesSlides/notesSlide18.xml" Id="R6d1d694404be45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0306c60bc42c4" /><Relationship Type="http://schemas.openxmlformats.org/officeDocument/2006/relationships/notesSlide" Target="/ppt/notesSlides/notesSlide19.xml" Id="R4a331afa4b5b4b3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Candidate Coverage</c:v>
          </c:tx>
          <c:spPr>
            <a:solidFill xmlns:a="http://schemas.openxmlformats.org/drawingml/2006/main">
              <a:srgbClr val="3B6EA8"/>
            </a:solidFill>
          </c:spPr>
          <c:invertIfNegative val="0"/>
          <c:cat>
            <c:strLit>
              <c:ptCount val="3"/>
              <c:pt idx="0">
                <c:v>MCTS + SC</c:v>
              </c:pt>
              <c:pt idx="1">
                <c:v>Jev constrained</c:v>
              </c:pt>
              <c:pt idx="2">
                <c:v>MCTS pool + Jev</c:v>
              </c:pt>
            </c:strLit>
          </c:cat>
          <c:val>
            <c:numLit>
              <c:formatCode>0</c:formatCode>
              <c:ptCount val="3"/>
              <c:pt idx="0">
                <c:v>79.79</c:v>
              </c:pt>
              <c:pt idx="1">
                <c:v>29.27</c:v>
              </c:pt>
              <c:pt idx="2">
                <c:v>79.79</c:v>
              </c:pt>
            </c:numLit>
          </c:val>
        </c:ser>
        <c:ser>
          <c:idx val="1"/>
          <c:order val="1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3"/>
              <c:pt idx="0">
                <c:v>MCTS + SC</c:v>
              </c:pt>
              <c:pt idx="1">
                <c:v>Jev constrained</c:v>
              </c:pt>
              <c:pt idx="2">
                <c:v>MCTS pool + Jev</c:v>
              </c:pt>
            </c:strLit>
          </c:cat>
          <c:val>
            <c:numLit>
              <c:formatCode>0</c:formatCode>
              <c:ptCount val="3"/>
              <c:pt idx="0">
                <c:v>75.61</c:v>
              </c:pt>
              <c:pt idx="1">
                <c:v>25.44</c:v>
              </c:pt>
              <c:pt idx="2">
                <c:v>72.47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MCTS path evidence</c:v>
          </c:tx>
          <c:spPr>
            <a:solidFill xmlns:a="http://schemas.openxmlformats.org/drawingml/2006/main">
              <a:srgbClr val="AAB5BF"/>
            </a:solidFill>
          </c:spPr>
          <c:invertIfNegative val="0"/>
          <c:cat>
            <c:strLit>
              <c:ptCount val="4"/>
              <c:pt idx="0">
                <c:v>Table Precision</c:v>
              </c:pt>
              <c:pt idx="1">
                <c:v>Table Recall</c:v>
              </c:pt>
              <c:pt idx="2">
                <c:v>Column Precision</c:v>
              </c:pt>
              <c:pt idx="3">
                <c:v>Column Recall</c:v>
              </c:pt>
            </c:strLit>
          </c:cat>
          <c:val>
            <c:numLit>
              <c:formatCode>General</c:formatCode>
              <c:ptCount val="4"/>
              <c:pt idx="0">
                <c:v>54.24</c:v>
              </c:pt>
              <c:pt idx="1">
                <c:v>53.98</c:v>
              </c:pt>
              <c:pt idx="2">
                <c:v>47.54</c:v>
              </c:pt>
              <c:pt idx="3">
                <c:v>52.86</c:v>
              </c:pt>
            </c:numLit>
          </c:val>
        </c:ser>
        <c:ser>
          <c:idx val="1"/>
          <c:order val="1"/>
          <c:tx>
            <c:v>Jev linker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4"/>
              <c:pt idx="0">
                <c:v>Table Precision</c:v>
              </c:pt>
              <c:pt idx="1">
                <c:v>Table Recall</c:v>
              </c:pt>
              <c:pt idx="2">
                <c:v>Column Precision</c:v>
              </c:pt>
              <c:pt idx="3">
                <c:v>Column Recall</c:v>
              </c:pt>
            </c:strLit>
          </c:cat>
          <c:val>
            <c:numLit>
              <c:formatCode>General</c:formatCode>
              <c:ptCount val="4"/>
              <c:pt idx="0">
                <c:v>63.35</c:v>
              </c:pt>
              <c:pt idx="1">
                <c:v>99.3</c:v>
              </c:pt>
              <c:pt idx="2">
                <c:v>60.16</c:v>
              </c:pt>
              <c:pt idx="3">
                <c:v>97.35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Coverage</c:v>
          </c:tx>
          <c:spPr>
            <a:solidFill xmlns:a="http://schemas.openxmlformats.org/drawingml/2006/main">
              <a:srgbClr val="3B6EA8"/>
            </a:solidFill>
          </c:spPr>
          <c:invertIfNegative val="0"/>
          <c:cat>
            <c:strLit>
              <c:ptCount val="2"/>
              <c:pt idx="0">
                <c:v>compiler 范围内（83）</c:v>
              </c:pt>
              <c:pt idx="1">
                <c:v>范围外（217）</c:v>
              </c:pt>
            </c:strLit>
          </c:cat>
          <c:val>
            <c:numLit>
              <c:formatCode>General</c:formatCode>
              <c:ptCount val="2"/>
              <c:pt idx="0">
                <c:v>77.11</c:v>
              </c:pt>
              <c:pt idx="1">
                <c:v>11.98</c:v>
              </c:pt>
            </c:numLit>
          </c:val>
        </c:ser>
        <c:ser>
          <c:idx val="1"/>
          <c:order val="1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2"/>
              <c:pt idx="0">
                <c:v>compiler 范围内（83）</c:v>
              </c:pt>
              <c:pt idx="1">
                <c:v>范围外（217）</c:v>
              </c:pt>
            </c:strLit>
          </c:cat>
          <c:val>
            <c:numLit>
              <c:formatCode>General</c:formatCode>
              <c:ptCount val="2"/>
              <c:pt idx="0">
                <c:v>74.7</c:v>
              </c:pt>
              <c:pt idx="1">
                <c:v>7.37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2"/>
              <c:pt idx="0">
                <c:v>Self-consistency</c:v>
              </c:pt>
              <c:pt idx="1">
                <c:v>Jev-on-MCTS</c:v>
              </c:pt>
            </c:strLit>
          </c:cat>
          <c:val>
            <c:numLit>
              <c:formatCode>General</c:formatCode>
              <c:ptCount val="2"/>
              <c:pt idx="0">
                <c:v>75.61</c:v>
              </c:pt>
              <c:pt idx="1">
                <c:v>72.47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3"/>
              <c:pt idx="0">
                <c:v>Self-consistency</c:v>
              </c:pt>
              <c:pt idx="1">
                <c:v>Pairwise + SC</c:v>
              </c:pt>
              <c:pt idx="2">
                <c:v>Oracle</c:v>
              </c:pt>
            </c:strLit>
          </c:cat>
          <c:val>
            <c:numLit>
              <c:formatCode>General</c:formatCode>
              <c:ptCount val="3"/>
              <c:pt idx="0">
                <c:v>76</c:v>
              </c:pt>
              <c:pt idx="1">
                <c:v>75</c:v>
              </c:pt>
              <c:pt idx="2">
                <c:v>81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4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F7950-E517-412E-AAC5-E385913A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80AE8-2F8D-4F2B-89B6-19591302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133E1-4FB8-4871-9B56-B3F1F45E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+ Schema-aware</a:t>
            </a:r>
          </a:p>
          <a:p xmlns:a="http://schemas.openxmlformats.org/drawingml/2006/main">
            <a: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SQL 选择实验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DA9D9-C8A4-4006-8C25-9BA84F5D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7657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从高召回 Schema Linking，到可验证的候选重排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5F39A-A3BE-485B-9DA2-78C4172A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9906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89098-A7F2-483F-9613-24789042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12题探路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87742-DC42-4531-B1A7-4B565334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67025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300题扩展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C3D3E-5AED-4B53-928A-249BA331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100题监督重排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2672A-6BB6-44C5-A7AE-05CFC5E6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Dongx Xia · 50062682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5ACE8-2324-4068-8BA2-F0081FB2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>
            <a:defPPr algn="l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2026-10-13</a:t>
            </a:r>
          </a:p>
        </p:txBody>
      </p:sp>
    </p:spTree>
    <p:extLst>
      <p:ext uri="{BB962C8B-B14F-4D97-AF65-F5344CB8AC3E}">
        <p14:creationId xmlns:p14="http://schemas.microsoft.com/office/powerpoint/2010/main" val="1375010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63E12-037B-4FC1-936E-54D90C08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这次汇报先回答三个问题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839ED-8330-4A0B-9C19-6C73AE3B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CAE6A-3A6F-4733-9768-AA11CEDD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61BBC-2F67-407F-8598-D5B4FFDC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F5260-5AD4-46BC-8E7C-2B383103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9C433-82A8-41C4-9ADF-4BCE1441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能否替换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Schema Linker？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97616-2668-4454-9552-E2E9455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高表列召回是否等价于高 SQL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6BD71-579B-445C-B538-2093C588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E07A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500A3-A112-4836-9514-12FF28C7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CF272-207F-4AF4-B36D-55A2D008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reranker 能否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替换 self-consistency？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8539F-3034-489D-B418-3D0C0B32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固定同一候选池，比较 selector 本身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C6A13-B67D-4C9C-8ABD-D3B52748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05B1E-8996-4CA8-BE9A-D2561812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5124C-092A-4AA9-AD87-618CF00C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监督式 selector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下一步怎样训练？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ED9C4-E118-4A0B-B10B-C4BF5286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从五篇 curriculum / ORM 论文得到方案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EB9DC-6CC1-4475-A522-44C9526A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判断标准：分开看 candidate coverage 与 selector accuracy given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92EBC-E269-442A-9374-C81F616C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BA54E-11D6-4F55-8038-D3EE686C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0022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A5AAB-C1A1-43CE-8923-1CF500BB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项目最初想法：把生成能力与选择能力拆开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52A96-7EBD-44DE-860A-00D81CC6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22A28-24B3-489E-A22B-820C00A7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250C2-0735-423D-968D-9F9E8200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问题 + 全量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2518F-B6D6-44DD-8538-9ADE1CAB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97C43-503E-4DA0-A2DF-006FCAF1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18669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typed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schema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5BAAF-2846-4388-A01A-86C702A7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8E407-C14D-4A76-9707-F29626D7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QueryPlan beam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Python 编译 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1B7A7-E82C-4C41-A7AE-4A9FA08E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3901F-54C2-4CD8-8193-4A50EC75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AAB5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SQLite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D7F04-3FCE-42D5-99BD-3FC1D11E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95525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DDDDC-8B71-484B-BDB4-66709619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00250"/>
            <a:ext cx="914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rerank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701AC-5651-4CD7-97CC-4FB729C3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独立对照路径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A4521-580E-44F0-8BDF-4A4489F0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857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Qwen / MCTS 生成候选池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A5F2E-D24E-420F-A496-7150F5D6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AC864-803D-4C0D-BD41-3CEB6CA6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6240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同一候选池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AD178-DC0D-43C8-A6EE-DCE154A3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898C4-2ACA-4396-9D25-26C8802D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81425"/>
            <a:ext cx="19621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execution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self-consistency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59E44-149C-4C56-ABA8-36E18093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529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ctr">
              <a:def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F541F-2B8C-40A1-A290-AE3173D8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81425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schema-aware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reranker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EE47F-7699-4A22-BA0A-EC75D166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72125"/>
            <a:ext cx="701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关键：Jev 不是生成模型，也不替换现有 Qwen/OpenAI 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489A3-5224-4FF6-8987-DEF6D003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6BAB6-9FFF-4F76-8042-AF3EBD98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9193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1C05D-F1C9-47B7-9AFD-47F4474C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三步实验路线：先定位问题，再训练 selector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4CE70-F54C-49AD-A3DF-5DE9B1DB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实验路线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A5093-D40E-4DC7-976C-9872459F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A9C86-FE87-4C56-965E-680B9F50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6BCEC-3F7A-42A9-9F8A-60EFC574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9C406-17F3-47C9-9AB5-2834BFE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107EC-4A3B-4E2E-96FA-1CDFBBA0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12题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16A16-391B-4C44-9D80-A26C1409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受约束探路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6DA60-9E40-41FD-AE85-34154CBB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验证 pipeline 可跑通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观察 linker / compiler / reranker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7E21A-CD53-4DF0-B91A-3846CEA8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2BA6C-A250-4970-B237-1F9BE769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5C0B7-0964-4E72-B65B-B37A0D3F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300题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EDF94-BDC8-4DED-B5F5-30A089DA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扩展与分解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6054C-58E4-485E-A2EE-85605160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区分能力范围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固定候选池比较 selector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BB12F-A9A7-4591-AFBA-2E339A2F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4A52C-76A8-438F-AD0B-E7D9669E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517B7-4EFA-4029-BFE3-9DBD11AF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100题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78003-DFF1-4D4B-B750-414CB9E1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监督式 pairwise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90D7C-08BD-446E-9545-7F3C072C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筛 hard cases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保留 SC 特征并做 confidence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26FB90-8E22-401D-8F10-1EFB3AC4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结论演进：能跑通 → 找到真正瓶颈 → 证明监督信号存在但安全性不足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FCF1F-42F3-4009-ABF9-8C38FD5D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3FB2E-7443-47DA-88CB-1737A98A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4526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9D239-3979-40C8-B6B5-14FE2C25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12题探路：Jev 有选择信号，但不能直接替换 SC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ADFA2-78EC-420D-A273-E4211F53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3A4F6-99CA-4D03-B619-6877D63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C5E6E-FA6E-450D-A4DC-B69FB42B2B1A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04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809750"/>
                <a:gridCol w="1809750"/>
              </a:tblGrid>
              <a:tr h="714375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Final EX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MCTS + self-consistency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Jev constrained pipeline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MCTS pool + Jev reranker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1250F-F373-429D-8FBB-B1B95BDF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54D83-FD8C-48BF-AF20-CD38C8B0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430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5 →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B17DB-3BF3-4945-9209-9A483DB2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自有候选池：top-beam 到 rerank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99055-3BEC-4A4B-A375-786D6F53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B8975-9F12-42D2-AB31-BC5FD858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12 →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02233-1D05-4657-A192-72F245DF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 MCTS 池：一次改选造成回归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A43E1-EEEE-4C01-9531-C019DF5C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15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 个 Jev coverage miss 均已召回正确表列，错误来自 DISTINCT 与 literal / 阈值组合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6569E-4D18-4921-A9BF-4AB1C83F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小样本能证明 reranker 有信息，不能证明它比强 SC baseline 更可靠。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D9795-A892-4B9E-820D-4A9408C0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37066-2547-4AE6-A7CB-F0E0732B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5911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979F64-FC80-43EB-82E9-FD60E23A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300题扩展：先把可比边界说清楚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154B2-6558-4D61-9983-486969EB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66D4C-1799-44F6-85CE-21D74014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F71DB-80DF-44B0-B408-ED2B0D77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2F156-6179-4481-8F26-1E8E829C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FD741-DD57-46B2-ACDE-6E28732A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冻结、gold 可本地执行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78B13-303D-46B9-9364-E233442D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E4384-2A19-47C7-AC95-87906A80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9B571-2BD6-43A8-ABF9-1095F6EA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300/300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2D935-999C-47CB-9742-6CED4AE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native 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74D4F-3297-493F-A950-742476A2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81F14-EA48-4927-B02C-E67E3AFB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037B6-F394-4041-ADB3-CDAE9947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287/300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9F465-EF4D-4931-AE28-AFD7AB64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MCTS 完成，共同集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843C8-9A26-436E-91AB-9F62D973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C7986-1EA0-4189-AE31-3485BB76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428750"/>
            <a:ext cx="114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FD249-94A0-4F73-B2AC-8E27635E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430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B2790-AAF1-49F8-9C40-D63AC4BC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19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333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欠费/截断待补跑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89F81-3F5D-4A9A-B422-6145865D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83 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6C766-1BC1-4182-8ACE-9D582400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 compiler 范围内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62128-524A-4AEA-897F-E810163B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217 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3FED0B-B3D0-4C97-B96C-0EF860ED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包含尚未建模的 SQL 结构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55A9C-423D-42B5-BA25-136F483D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287 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0C8AD9-E39C-45FC-9E7F-C6713305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三路方法严格可比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F9656A-A975-4494-B310-CB84623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67350"/>
            <a:ext cx="9258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报告口径：Jev 用完整 300；方法对比用共同 287；不把缺失 13 题伪装成最终结果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434387-0689-4162-AE69-7E35C453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33835E-2A95-433A-ACFA-9E20DDC3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7116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0EFE9-FF78-4DDB-BEE5-026D70B4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共同287题：MCTS coverage 是优势，Jev 直接重排会下降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369CF-A973-4FAD-BC8E-6EA0EE32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核心结果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7ECB5-5225-4FA3-A16F-6F71D684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0044356-B64B-4348-AA85-4257F87EB3FE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4cabc8d95e406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33D44-77D3-4316-838A-D54A9F11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A3FFA-7452-44C9-BCA6-81C766B9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-3.14 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C9785-9B7C-443A-95F5-A575268A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Jev-on-MCTS 相对 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75F6A-AA0A-43CE-B017-E1504A9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3143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D776D-740F-4C40-8B98-4848C437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[-5.92, -0.35]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055D6-2D74-4C42-8BC3-1D5BC816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paired bootstrap 95% CI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B07C1-EC61-4379-9AF1-2E69111E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342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当前证据支持：无监督 Jev reranker 不应直接替换 execution self-consistency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9DA8B-ACE4-4759-A12A-92E83294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2158C-1E76-4898-9F79-47B72DB1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44346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D1A33-0E3F-4627-AE6D-831FFB9B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Schema Linking 很强，但这不等于 SQL 已经正确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AC73E-B883-495E-B5FA-D850667B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瓶颈诊断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798A7-87C7-45F9-AB3A-E194E8AF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895B5C1-DFC5-4BD4-957B-B2B6E515980B}"/>
              </a:ext>
            </a:extLst>
          </p:cNvPr>
          <p:cNvGraphicFramePr/>
          <p:nvPr/>
        </p:nvGraphicFramePr>
        <p:xfrm>
          <a:off xmlns:a="http://schemas.openxmlformats.org/drawingml/2006/main" x="609600" y="144780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acb160e22c49b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3D003-26DC-4C85-AA55-D95D98D7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4E4E9-1AE9-4989-9762-7ADBCC94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85925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181 / 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E1A2D-7671-454D-AF98-45084DFA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621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coverage miss 仍完整召回 gold 表列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52216-496C-4F7E-8E4E-AC4F94F0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9A1DE-BB05-4793-B044-9A66D113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22 / 203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DFBD7-FA8F-4844-8995-0C168A18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真正 schema recall 不完整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D4B4A-044B-432F-986E-2E2C446B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629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资源优先级：QueryPlan / compiler / literal / operator  &gt;  再训练表列二分类器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1BADC-E9FF-481E-A2E6-E734BC03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7BB98-4198-4A1B-9F7A-233B72A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004473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F5547-AEFB-47A5-A1C5-95C14C56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constrained 的主瓶颈是能力范围，不是语义召回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A23B8-5838-471C-9E21-5F845C3F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能力范围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68ED4-AAA6-4D14-BC76-203DCD94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44A58D9-354D-4070-9F5F-AF43AC0FDF82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6667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f2e3b1363a45a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C4EB5-AA4C-40DC-AD83-704BDDD1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66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>
            <a:def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当前尚未完整建模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EA0C8-59EC-4175-A8E8-DA33B2BF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429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多投影、多过滤与复杂布尔条件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子查询与集合操作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GROUP BY / HAVING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ORDER BY / LIMIT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CASE、日期与字符串表达式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literal、类型转换与聚合层级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53B4E-9B07-4CB4-B720-3DE573A9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43500"/>
            <a:ext cx="3905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范围内 EX 74.7%：说明 12 题结果不是偶然，但系统还不是通用生成器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2FF3E-3B6D-44D9-916B-D84F5987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17A70-B950-44D6-AF45-24174B10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6484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FD351-8AE7-4A4F-A87D-D03B01C8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Selector 的真实差距：修复 4 题，但回归 13 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E6EEA-766A-4385-9E82-7E568FE3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选择器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1CDCA-CB20-4B45-B976-7EC0963F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DE86BB5-2B4F-43A4-B1C6-BB2E2991A656}"/>
              </a:ext>
            </a:extLst>
          </p:cNvPr>
          <p:cNvGraphicFramePr/>
          <p:nvPr/>
        </p:nvGraphicFramePr>
        <p:xfrm>
          <a:off xmlns:a="http://schemas.openxmlformats.org/drawingml/2006/main" x="609600" y="1447800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3c8dc17be049f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70072-F900-43EF-AEDF-428C324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D0A7C-6E82-45EC-9C40-DAA66870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38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700CD-42CD-4A8D-8887-EA5ECE15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14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B87FE-26E2-4260-97C2-330116F6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19873-2AC6-46B7-8987-C3C3479E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38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783DE-F309-4DD6-8164-0C58B0A1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14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B67C4-DE2E-45F3-AD1C-11140339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41E54-F76B-4384-8F86-AE51201D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1942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94.76%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CA136-1643-4388-9265-BD7F6193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956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17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SC 在 coverage 内选对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77FE1-2F4B-495C-8C5E-316FAA46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05125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E8E6D-D5D9-4AEE-8388-2F7BF82D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1942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90.83%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3748C-2711-41EB-8A1F-9D0F304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956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83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在 coverage 内选对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222EE-2D7B-40C6-BCB2-5BB52DFC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3143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GapClosure = -75%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317F4-910A-4ECA-92E3-1965296F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53025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不是缺少改选能力，而是缺少“何时不要改选”的监督。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328BE-BD10-4163-B131-B5B090C7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0D43B-5251-4A51-BB5F-E93D26D2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26308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12374-D975-4E5F-9D98-ADBB644B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错误不是随机的：通用语义与 benchmark 约定发生冲突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A61EC-CA0A-4EE8-A2CD-6A9CC53B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逐题分析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1A114-6A2B-4EF7-8C1E-E675DE42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3B2E9-711E-4E76-A1DB-593DF136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1625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1FF25-1777-4754-8A0A-E5E80D97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287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>
            <a:defPPr algn="l">
              <a:def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修复的 4 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8BEE2-7D6A-4D4B-A758-BDB6796B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514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210：COUNT(*) → SUM(qty)，修复计量对象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3099：&gt;= → &gt;，匹配严格比较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8963：US$ 字符串先转数值再求最大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2481：修复年份上界的执行约定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3D883-E083-4765-B706-92832D3D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共同点：类型、比较符、聚合对象等可验证语义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35577-8B2D-4FB7-A37B-8D354466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90650"/>
            <a:ext cx="51625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94481-FE44-4B67-89FA-DC69780C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287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>
            <a:defPPr algn="l">
              <a:def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回归的 13 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BE5C0-6B78-4256-B8DA-38970635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28850"/>
            <a:ext cx="4514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 题添加了 gold 不需要的 DISTINCT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投影从 ID 改成更自然的姓名 / 拼接字段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增加额外语义条件或换用相近字段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改变 GROUP BY、计数对象或百分比分母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从另一张语义相近表读取结果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E6335-D1EB-4401-8DF3-48152129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2920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14"/>
          </a:bodyPr>
          <a:lstStyle xmlns:a="http://schemas.openxmlformats.org/drawingml/2006/main">
            <a:defPPr algn="ctr">
              <a:def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共同点：SQL 看起来更自然，但 execution gold 不等价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43ED9-6D92-491E-A703-5327D482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67852-69C6-4F10-9798-A02AD3D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92046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47868D-322C-441D-8D22-12D4A7E7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100题监督式 pairwise：证明信号存在，数据仍远远不够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25DFF-813A-40C8-B0F0-383AAD07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2C4AE-EADC-4D74-8FCA-36D84D4D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ADFDB-9D62-4E79-AB14-8F39CABD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9E955-4A44-4081-A0AD-1C6104E1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269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AB86D-8AD7-4C98-9BA3-17F38153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可评估问题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68B0A-0782-4AE1-85C7-3238BA5F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63FDF-0B45-42C3-80C6-2542F50E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903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D2007-AC1F-41C5-B0AE-D95AF318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候选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ADF46-432B-441C-8D9D-5C54EA82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CA839-5BA5-4B30-A676-04835FEB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656E0-0191-4BDF-AF5B-233850B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全部 hard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B2BA2-2E69-45A3-A5D0-BD270856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3A983-3F12-4C20-BE0A-114C041B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F7F9C-57EC-4FB0-BBCE-9807BCFD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训练 hard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46B4E-B6EF-4B48-807F-89D7AC81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FCC81-193E-4D7E-99C7-EDEAEA68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668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129/40/100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91697-1F75-450A-BB50-FFC17BA0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train / val /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A1750-6447-4D0E-9453-EA2F78C8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48维特征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含 7 个 SC 特征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798C6-9F8E-4C32-B47F-4618528E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95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0620C-A41C-49F7-9161-98665D4A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76625"/>
            <a:ext cx="2428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MLP ensemble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RankNet + pointwise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4C362-1AC3-4A4F-9256-F442DC4A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195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FF408-0B84-41F2-B527-205BBCA2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76625"/>
            <a:ext cx="2428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validation 选阈值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score margin ≥ 0.20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2F672-D21A-4E09-B1DF-AE949D7E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195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C5575-70DC-4D10-BA03-11FE9457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76625"/>
            <a:ext cx="914400" cy="9525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否则回退 SC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9C0E0-39D9-471F-922E-AD98665A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48275"/>
            <a:ext cx="8686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训练目标很窄：只解决候选中“正确 SQL 存在但多数簇选错”的问题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C12B2-9F9C-4200-B30A-CC56776C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A56401-FAF5-4E93-A117-A2E2D02F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795336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42993-EF5E-486D-9B3C-35F476EB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监督实验：hard 子集修复 4/5，但被普通题回归抵消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E0DC6-5BA4-4369-9AAB-E34CDA78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100题结果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4FDBB-A776-4DFA-811C-A913F913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61B275B-D0A9-4F6D-99C8-B9FADD734537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6191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496b4b829f497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3E342-E831-4507-8744-28A110E3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049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12CB7-1908-4494-84ED-98D8B511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619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E4B27-08D3-4E9A-9257-25DC8701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0955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39828-0BD3-45F6-9F07-2AEA9BA3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049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3BC50-79C1-4781-9F26-68E925C5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619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0C7F9-E7A3-4CF0-BC9E-3797D412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955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4F17A-89A7-4295-9AB0-57EC3B46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194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4553C-CA1A-4DC6-8E9A-416E05DD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337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24195-5C48-45DF-810C-5CF7B6D7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099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coverage miss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A4A6C-BC09-49B2-A62C-EB29F8AA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640B5-8162-4890-824D-F3E0BD66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337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D8F03-31CB-4369-9393-7F0DADA2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099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未修复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B6EF9-07B7-47EC-90DB-4E069005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400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98888"/>
          </a:bodyPr>
          <a:lstStyle xmlns:a="http://schemas.openxmlformats.org/drawingml/2006/main">
            <a:def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5 个回归全部从较大结果簇跳到 singleton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C757D-65E5-493F-BC3C-B9976C12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24475"/>
            <a:ext cx="9048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结论：模型学到了“反多数簇”信号，但还没学会安全边界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AE001-365C-4784-BD92-F9F15806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A1743-77FC-4CFB-83EB-556FCF0C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63058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9A0570-3AE9-43E8-AD33-7A7DAB65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五篇论文：从“样本顺序”走向“SQL outcome verifier”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F816A-E0AC-4D5C-B65C-3A16EC66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文献学习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B5856-76C9-48E6-86FA-1C39EDF6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F69A6-34B2-42DF-95C2-1A7F0121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75DA4-F8CF-404C-8B15-E675E3C755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7e0ac96d84fe2"/>
          <a:stretch xmlns:a="http://schemas.openxmlformats.org/drawingml/2006/main"/>
        </p:blipFill>
        <p:spPr>
          <a:xfrm xmlns:a="http://schemas.openxmlformats.org/drawingml/2006/main">
            <a:off x="6953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38A79-5E82-41B8-8541-F8F009CD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Bengio et al.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0F2F6-1C7E-4453-8DF3-D65F8A87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顺序改变优化路径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22582-01DC-4454-AB19-2DCBFFF4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4F2A2-159D-4860-B73D-37AE798A3D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0b5a0a9af4e0e"/>
          <a:stretch xmlns:a="http://schemas.openxmlformats.org/drawingml/2006/main"/>
        </p:blipFill>
        <p:spPr>
          <a:xfrm xmlns:a="http://schemas.openxmlformats.org/drawingml/2006/main">
            <a:off x="3004384" y="1428750"/>
            <a:ext cx="1630281" cy="2305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56F2C-C5E7-4AD0-99CD-0B13F3C6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Beyond Random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Sampling,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0BFE7-A7CF-4F96-8F18-7CBB1EF1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warmup 最稳健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AF406-2AB0-4609-ADB2-5ED63DCA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2C898-7670-47A3-B503-0CA8B3BD1C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a44dc0c5b4db3"/>
          <a:stretch xmlns:a="http://schemas.openxmlformats.org/drawingml/2006/main"/>
        </p:blipFill>
        <p:spPr>
          <a:xfrm xmlns:a="http://schemas.openxmlformats.org/drawingml/2006/main">
            <a:off x="51911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5020D-0737-4361-9E6A-AE258169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DUCL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A1AFF-E1C2-4BBF-8BD1-B812973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难度 + 效用 + 多样性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97DB4-B4B0-428E-A626-F66F505C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4A934-5CD4-4FBD-A4E3-49FC0945E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94b395b0a410a"/>
          <a:stretch xmlns:a="http://schemas.openxmlformats.org/drawingml/2006/main"/>
        </p:blipFill>
        <p:spPr>
          <a:xfrm xmlns:a="http://schemas.openxmlformats.org/drawingml/2006/main">
            <a:off x="7500184" y="1428750"/>
            <a:ext cx="1630281" cy="2305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38BAA-6327-4B52-8C12-A674C961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Curri-DPO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09951-7E78-47D9-BB29-638ECA17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多 pair 从易到难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C41B4-7A02-467F-921A-86DE435D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ACB4ED-2532-4DC4-9D80-72901B76ED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3f9e1c7c549cf"/>
          <a:stretch xmlns:a="http://schemas.openxmlformats.org/drawingml/2006/main"/>
        </p:blipFill>
        <p:spPr>
          <a:xfrm xmlns:a="http://schemas.openxmlformats.org/drawingml/2006/main">
            <a:off x="96869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49744-029A-4844-851D-D353D2EF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GradeSQL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DA5E9-B137-4251-A3AB-5448A790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执行标签训练 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CD2413-0F40-4CB5-A02E-EA9D2E85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8115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共同主线：先定义什么值得学，再决定以什么顺序、什么强度学习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3F33F-2036-4ADC-8B5C-39379A0F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3FB20-1F1A-459E-8B15-946DD8FA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225081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594F7-8B32-45D4-AF62-59A0C35B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固定数据下，课程学习改变的是优化路径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FFF1E-79E4-453E-BCE1-A4EFA205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论文启发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01FAB-0F36-42C2-8507-6CB0FA7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EF4E9-7102-4D93-922D-4F25CE98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Bengio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8929F-451F-4F17-ABF3-F668C597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从容易目标逐步过渡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像 continuation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2822B-9C8B-4265-8D85-8911033D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4501A-CC8E-480E-8EAA-DB3182F8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Beyond Random Sampling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72BA3-205C-4022-8A30-B28D84A9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670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难度指标 × pacing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课程 warmup 更稳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2665C-820E-4388-9C68-0FFFBE5E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C7104-39AA-4F9B-96B5-7A82C120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DUCL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2BF9A-644D-4CC1-B7A2-36540B28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difficulty 不够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还要估计 utility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F98AC-07E6-4955-B3C3-173DD77F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29D2F-C286-461D-89D5-41D480FC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Window Ordering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03E3C-338F-4580-B245-6C7FD3D4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逐步扩大窗口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保留 batch diversity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BF7A4-9242-4266-9821-803A08A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28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5874F-2C4F-465B-B13C-8548A2E1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>
            <a:defPPr algn="l">
              <a:def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映射到 SQL selector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8BC6A-F5E9-439E-B0FB-D5023E85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38625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难度 D：当前模型有多难区分这对 SQL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效用 U：现在学习它能否减少尚未解决的错误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噪声 N：持续高损失但无学习进展的样本应降权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0312F-116E-4C5E-9ACE-B82E445E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7545E-F237-4AC0-A90A-03C135E4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204842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921526-CCD4-4B49-A189-F7A1BB6A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Curri-DPO 与 GradeSQL：最接近当前 selector 的两条路线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0F805-97CC-4E8E-B3D1-92C444C6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论文启发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044DB-37B1-4536-98DC-235E524A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901E2-0155-416E-BE26-F18C15D7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E5041-B4BB-4703-BC2D-18573DF9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Curri-DPO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FAB30-5D42-43E6-B24F-542FDF52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同一 prompt 的多个响应形成多个 preference pairs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2B2CC-C789-40B0-873C-2508A542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3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大评分差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容易 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A9B47-5351-49A3-AC0D-D9CE4D48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9562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11DAB-B2A4-4410-BF79-C336F25C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114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中等差异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A6342-C42D-4D9C-BD81-A0EFEC39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9562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62392-5789-4D4C-9C4D-AB154D7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95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小评分差</a:t>
            </a:r>
          </a:p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困难 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4E08F-1166-4173-910D-34C284A8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启发：不需要穷举所有 pair；迭代次序与 reference 更新很重要。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5A8B3-B4C5-4865-89EF-83E7C656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3CE64-B6D6-4618-9C71-8EE9343A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GradeSQL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1E3DD-9650-4E10-9B75-0C51F583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候选 SQL 用执行等价打标签，训练 ORM 输出 P(Yes)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46BBD-0828-4B2F-9299-52B54D78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N 个候选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6F33E-5A20-49E0-A9C4-5EBF0D34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BF19B-1705-47ED-92EB-49985715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执行标签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FDB198-67C8-49E7-977F-3B787AA3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95625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B3C03-18E5-4AA5-9C85-B7B8BED6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ORM 排序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6888F-9F3A-433C-B397-7F734C74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BIRD dev：68.90%，高于 Majority Voting 66.95%；SQL-only prompt 最好。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966DD-2EAC-4EE7-80E3-FFB8E56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743575"/>
            <a:ext cx="84391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本阶段不增加样本：GradeSQL 给执行标签，Curri-DPO 给 pair 顺序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372D5-21C2-4EAC-88B6-80833E2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73692-7256-4BB1-A004-239C1FA4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035666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37E981-C3C4-4034-9814-63248C28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下一阶段：固定 training set 的错误感知课程学习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80C5A-B5CC-4D37-B837-61FD037A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93E80-CE0A-4DEE-96D7-263731BF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7AE1E-1E73-4E47-B225-3210D716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9CC14-9D0D-421B-ACB8-C4EE0CE7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阶段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E82DD-D67F-4BFA-A18B-DD89D2A0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冻结实验条件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52B61-D204-476E-9249-A40995F4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同一数据、模型、初始化、预算与种子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C4114-8E0C-4829-9496-00629EA3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C84BA-7880-4B62-B98B-DD627845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623A6-433D-431C-A7F2-A0BAC409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50687-5008-486A-AF0F-59E9BE90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 warmup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B61D1-B3EA-4858-932C-071E0AAD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34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记录 loss、margin、错误类型与学习进展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35456-9D3B-4C2E-892E-24A5D1CD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A39C3-0CE8-40E6-BAED-AE2A6B5C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9AD7D-D3F8-45FD-9B39-268D973D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阶段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3645F-B425-46AE-9C49-E89E4A7C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动态错误课程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B1F99-5ABD-4C44-8DA6-5C4116F0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扩大难度窗口；优先尚未解决且可学习的错误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B1B9B-0DC8-458B-94ED-B446DE2A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83F7B-1B55-4597-ACDB-A5D650C0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4D688-95EA-4DAC-85B6-C68BB8CF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阶段 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E1B0B-DD4B-42F6-A2CB-BF5C2795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随机混合巩固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C3702-904D-4090-8B2A-ED10A932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最后 10%–20% 恢复近似均匀采样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561C0-84D6-449F-AA04-E15FECCC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619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priorityᵢ(t) = windowₜ(Dᵢ) · exp(βUᵢ(t) − γNᵢ(t))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4E7C2-622C-4C74-8D1D-31C7B9D9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90950"/>
            <a:ext cx="3238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唯一主变量</a:t>
            </a:r>
          </a:p>
          <a:p xmlns:a="http://schemas.openxmlformats.org/drawingml/2006/main">
            <a:pPr algn="ctr">
              <a:defRPr sz="142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样本顺序与采样概率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9C55A-981E-417F-A3B3-9ED8237B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0125"/>
            <a:ext cx="9753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错误标签：projection / filter / join / aggregation / DISTINCT / ORDER-LIMIT / literal-type-date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动态量：当前 loss 与 margin、近期学习进展、validation 未解决错误频率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约束：相同 optimizer steps、tokens、样本曝光次数；test 标签不参与 utility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2EBF4-C25D-48F0-9B47-926630C2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B19B93-F801-41CD-903C-3FBB58EE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2156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0F90F-9476-40FC-B593-B128F77E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实验矩阵：同一数据、同一预算，只比较训练策略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9ACA8-BD3F-43D7-9D43-21C174E7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评估设计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F5AC1-E20F-4DEF-8B2E-6887B904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1C263-7684-4BEB-82D3-A8D3775FF330}"/>
              </a:ext>
            </a:extLst>
          </p:cNvPr>
          <p:cNvGraphicFramePr/>
          <p:nvPr/>
        </p:nvGraphicFramePr>
        <p:xfrm>
          <a:off xmlns:a="http://schemas.openxmlformats.org/drawingml/2006/main" x="495300" y="1257300"/>
          <a:ext xmlns:a="http://schemas.openxmlformats.org/drawingml/2006/main" cx="112014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524250"/>
                <a:gridCol w="1476375"/>
                <a:gridCol w="4200525"/>
              </a:tblGrid>
              <a:tr h="631825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调度方式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动态更新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检验的问题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Random Shuffle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全程均匀随机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标准训练基线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Difficulty-only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按 loss / margin / AST 距离由易到难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可选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只看难度是否足够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Static Error-aware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错误类型 + 初始效用固定排序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错误标签本身是否有效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DUCL-style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difficulty + utility + expanding window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效用与窗口带来多少收益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t>Dynamic Error-aware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周期重评分 + interleaving + anchor replay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本文完整方案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93AA5-3EE1-495B-AC46-EB7BBE45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训练效率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E38D1-8B5C-463C-9807-027F34F5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97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394"/>
          </a:bodyPr>
          <a:lstStyle xmlns:a="http://schemas.openxmlformats.org/drawingml/2006/main">
            <a:defPPr algn="l">
              <a:defRPr sz="1313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13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steps / GPU-hours 到目标分数 · learning-curve AUC · 每千步增益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377F4-957E-4EC8-9C06-5610CA48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115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9E06E-2485-492C-9A7B-D98EE3BF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19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394"/>
          </a:bodyPr>
          <a:lstStyle xmlns:a="http://schemas.openxmlformats.org/drawingml/2006/main">
            <a:defPPr algn="l">
              <a:defRPr sz="1313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13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少 ≥20% 步数达到基线，或同预算最终 EX 稳定提高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B1570-928A-4273-848A-5656D02E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1BB1E-68D2-4ED2-886C-D3EC09E3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485019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5BA4F-2A34-4E17-8459-82D4EF8C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研究问题与预期贡献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2EBEF-5451-452F-B901-7C8912D4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下一阶段结论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BCC09-2AAA-4A9F-ACFC-3CEC663A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9A555-24AE-4D6C-9CD1-106197BE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70F01-61E2-46BC-81C6-02721108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RQ1 · 更快吗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75696-7FF3-4F76-B6FE-CF81E198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4305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相同数据下，错误感知课程能否更早达到随机训练的最终分数？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57CFC-45E5-4C0B-B786-60C35118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D3F32-DABB-485A-859B-4FCBFD10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RQ2 · 为何有效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14376-E0B6-4C64-A828-93752C13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utility 是否比 difficulty 更能区分可学习 hard case 与噪声？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2A19F-4926-4F2E-892A-3BA340D1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4ED25-6D42-4BE3-BD1F-050EF6B9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RQ3 · 更稳吗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102A2-E17D-4E12-8063-66E1C18B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动态重评分、窗口与 anchor replay 能否减少回归和遗忘？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177A1-F27F-4463-BD89-74795882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37720-420D-4D51-8BC6-0A8D5D3D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贡献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EB8A6-A4AB-4A38-9C27-354AEA25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错误类型体系 + 动态调度器 + 固定数据/预算的可复现实验协议。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48EBC-FD3A-4ADD-A654-32079F4A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71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执行顺序：冻结 split 与预算 → 跑基线曲线 → 标注错误类型 → 比较课程与消融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5BAA2-4D74-4002-824E-A80FFF48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1B35C-4AA5-4C43-BE86-7ECF5152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51963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2026-10-13T05:02:40.0510000Z</dcterms:created>
  <dcterms:modified xsi:type="dcterms:W3CDTF">2026-10-13T05:02:40.0510000Z</dcterms:modified>
</coreProperties>
</file>