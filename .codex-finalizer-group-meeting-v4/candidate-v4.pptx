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067d34a770453f" /><Relationship Type="http://schemas.openxmlformats.org/officeDocument/2006/relationships/extended-properties" Target="/docProps/app.xml" Id="Rb7e29ea66c7d4a7e" /><Relationship Type="http://schemas.openxmlformats.org/officeDocument/2006/relationships/officeDocument" Target="/ppt/presentation.xml" Id="R44bce25bd9e248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264ab3fa1d418c"/>
  </p:sldMasterIdLst>
  <p:notesMasterIdLst>
    <p:notesMasterId xmlns:r="http://schemas.openxmlformats.org/officeDocument/2006/relationships" r:id="R801128400d884da9"/>
  </p:notesMasterIdLst>
  <p:sldIdLst>
    <p:sldId xmlns:r="http://schemas.openxmlformats.org/officeDocument/2006/relationships" id="256" r:id="R453113b6bcdd4ae5"/>
    <p:sldId xmlns:r="http://schemas.openxmlformats.org/officeDocument/2006/relationships" id="257" r:id="R2ff99069cd194639"/>
    <p:sldId xmlns:r="http://schemas.openxmlformats.org/officeDocument/2006/relationships" id="258" r:id="R65fceb61ad8448ca"/>
    <p:sldId xmlns:r="http://schemas.openxmlformats.org/officeDocument/2006/relationships" id="259" r:id="Rbe70f96cf2de49a3"/>
    <p:sldId xmlns:r="http://schemas.openxmlformats.org/officeDocument/2006/relationships" id="260" r:id="Rd0c9d309ef8f4b63"/>
    <p:sldId xmlns:r="http://schemas.openxmlformats.org/officeDocument/2006/relationships" id="261" r:id="Rb8e53de0ea694119"/>
    <p:sldId xmlns:r="http://schemas.openxmlformats.org/officeDocument/2006/relationships" id="262" r:id="R577daf2a632f4c6b"/>
    <p:sldId xmlns:r="http://schemas.openxmlformats.org/officeDocument/2006/relationships" id="263" r:id="R4be6356e2aa14ee9"/>
    <p:sldId xmlns:r="http://schemas.openxmlformats.org/officeDocument/2006/relationships" id="264" r:id="Rd6892f465b2c4838"/>
    <p:sldId xmlns:r="http://schemas.openxmlformats.org/officeDocument/2006/relationships" id="265" r:id="R035dd3e99a4d43b8"/>
    <p:sldId xmlns:r="http://schemas.openxmlformats.org/officeDocument/2006/relationships" id="266" r:id="R14bde289a83e496b"/>
    <p:sldId xmlns:r="http://schemas.openxmlformats.org/officeDocument/2006/relationships" id="267" r:id="R148cfabefd5b4748"/>
    <p:sldId xmlns:r="http://schemas.openxmlformats.org/officeDocument/2006/relationships" id="268" r:id="R7bbb3100a4ed4b77"/>
    <p:sldId xmlns:r="http://schemas.openxmlformats.org/officeDocument/2006/relationships" id="269" r:id="Rf7f0f7e2e8954db6"/>
    <p:sldId xmlns:r="http://schemas.openxmlformats.org/officeDocument/2006/relationships" id="270" r:id="R3b32630249cd4aec"/>
    <p:sldId xmlns:r="http://schemas.openxmlformats.org/officeDocument/2006/relationships" id="271" r:id="R3cdeeab576cc4d99"/>
    <p:sldId xmlns:r="http://schemas.openxmlformats.org/officeDocument/2006/relationships" id="272" r:id="R54290f893c794146"/>
    <p:sldId xmlns:r="http://schemas.openxmlformats.org/officeDocument/2006/relationships" id="273" r:id="R2e4c697ddb444ccb"/>
    <p:sldId xmlns:r="http://schemas.openxmlformats.org/officeDocument/2006/relationships" id="274" r:id="Ra38f17daa6c743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14bdf518e44022" /><Relationship Type="http://schemas.openxmlformats.org/officeDocument/2006/relationships/slideMaster" Target="/ppt/slideMasters/slideMaster1.xml" Id="Rd5264ab3fa1d418c" /><Relationship Type="http://schemas.openxmlformats.org/officeDocument/2006/relationships/notesMaster" Target="/ppt/notesMasters/notesMaster1.xml" Id="R801128400d884da9" /><Relationship Type="http://schemas.openxmlformats.org/officeDocument/2006/relationships/presProps" Target="/ppt/presProps.xml" Id="R805efb0085b046ff" /><Relationship Type="http://schemas.openxmlformats.org/officeDocument/2006/relationships/tableStyles" Target="/ppt/tableStyles.xml" Id="Rfa1df80a9e3846f4" /><Relationship Type="http://schemas.openxmlformats.org/officeDocument/2006/relationships/slide" Target="/ppt/slides/slide1.xml" Id="R453113b6bcdd4ae5" /><Relationship Type="http://schemas.openxmlformats.org/officeDocument/2006/relationships/slide" Target="/ppt/slides/slide2.xml" Id="R2ff99069cd194639" /><Relationship Type="http://schemas.openxmlformats.org/officeDocument/2006/relationships/slide" Target="/ppt/slides/slide3.xml" Id="R65fceb61ad8448ca" /><Relationship Type="http://schemas.openxmlformats.org/officeDocument/2006/relationships/slide" Target="/ppt/slides/slide4.xml" Id="Rbe70f96cf2de49a3" /><Relationship Type="http://schemas.openxmlformats.org/officeDocument/2006/relationships/slide" Target="/ppt/slides/slide5.xml" Id="Rd0c9d309ef8f4b63" /><Relationship Type="http://schemas.openxmlformats.org/officeDocument/2006/relationships/slide" Target="/ppt/slides/slide6.xml" Id="Rb8e53de0ea694119" /><Relationship Type="http://schemas.openxmlformats.org/officeDocument/2006/relationships/slide" Target="/ppt/slides/slide7.xml" Id="R577daf2a632f4c6b" /><Relationship Type="http://schemas.openxmlformats.org/officeDocument/2006/relationships/slide" Target="/ppt/slides/slide8.xml" Id="R4be6356e2aa14ee9" /><Relationship Type="http://schemas.openxmlformats.org/officeDocument/2006/relationships/slide" Target="/ppt/slides/slide9.xml" Id="Rd6892f465b2c4838" /><Relationship Type="http://schemas.openxmlformats.org/officeDocument/2006/relationships/slide" Target="/ppt/slides/slide10.xml" Id="R035dd3e99a4d43b8" /><Relationship Type="http://schemas.openxmlformats.org/officeDocument/2006/relationships/slide" Target="/ppt/slides/slide11.xml" Id="R14bde289a83e496b" /><Relationship Type="http://schemas.openxmlformats.org/officeDocument/2006/relationships/slide" Target="/ppt/slides/slide12.xml" Id="R148cfabefd5b4748" /><Relationship Type="http://schemas.openxmlformats.org/officeDocument/2006/relationships/slide" Target="/ppt/slides/slide13.xml" Id="R7bbb3100a4ed4b77" /><Relationship Type="http://schemas.openxmlformats.org/officeDocument/2006/relationships/slide" Target="/ppt/slides/slide14.xml" Id="Rf7f0f7e2e8954db6" /><Relationship Type="http://schemas.openxmlformats.org/officeDocument/2006/relationships/slide" Target="/ppt/slides/slide15.xml" Id="R3b32630249cd4aec" /><Relationship Type="http://schemas.openxmlformats.org/officeDocument/2006/relationships/slide" Target="/ppt/slides/slide16.xml" Id="R3cdeeab576cc4d99" /><Relationship Type="http://schemas.openxmlformats.org/officeDocument/2006/relationships/slide" Target="/ppt/slides/slide17.xml" Id="R54290f893c794146" /><Relationship Type="http://schemas.openxmlformats.org/officeDocument/2006/relationships/slide" Target="/ppt/slides/slide18.xml" Id="R2e4c697ddb444ccb" /><Relationship Type="http://schemas.openxmlformats.org/officeDocument/2006/relationships/slide" Target="/ppt/slides/slide19.xml" Id="Ra38f17daa6c743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f2380e991845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bea93d43e3478e" /><Relationship Type="http://schemas.openxmlformats.org/officeDocument/2006/relationships/notesMaster" Target="/ppt/notesMasters/notesMaster1.xml" Id="R0fb7d81ab5514e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28ed1908094bd7" /><Relationship Type="http://schemas.openxmlformats.org/officeDocument/2006/relationships/notesMaster" Target="/ppt/notesMasters/notesMaster1.xml" Id="R5486003a529b43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f29cf933d64b6a" /><Relationship Type="http://schemas.openxmlformats.org/officeDocument/2006/relationships/notesMaster" Target="/ppt/notesMasters/notesMaster1.xml" Id="Re35af47e06d340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b8072c0bbe468b" /><Relationship Type="http://schemas.openxmlformats.org/officeDocument/2006/relationships/notesMaster" Target="/ppt/notesMasters/notesMaster1.xml" Id="R37c292d254d748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7badf5c3024fbb" /><Relationship Type="http://schemas.openxmlformats.org/officeDocument/2006/relationships/notesMaster" Target="/ppt/notesMasters/notesMaster1.xml" Id="R8200fadbe4bc48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f9be0713cc4ac3" /><Relationship Type="http://schemas.openxmlformats.org/officeDocument/2006/relationships/notesMaster" Target="/ppt/notesMasters/notesMaster1.xml" Id="Rac657ffd24ea4c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ee89b6db614328" /><Relationship Type="http://schemas.openxmlformats.org/officeDocument/2006/relationships/notesMaster" Target="/ppt/notesMasters/notesMaster1.xml" Id="R5751fc10ec304b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ac11d649474426" /><Relationship Type="http://schemas.openxmlformats.org/officeDocument/2006/relationships/notesMaster" Target="/ppt/notesMasters/notesMaster1.xml" Id="Rbf15296602964f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3fa2dfee064acc" /><Relationship Type="http://schemas.openxmlformats.org/officeDocument/2006/relationships/notesMaster" Target="/ppt/notesMasters/notesMaster1.xml" Id="Ra9366f2b90f743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b3be836c974266" /><Relationship Type="http://schemas.openxmlformats.org/officeDocument/2006/relationships/notesMaster" Target="/ppt/notesMasters/notesMaster1.xml" Id="R8a6f709814b141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ef571059564823" /><Relationship Type="http://schemas.openxmlformats.org/officeDocument/2006/relationships/notesMaster" Target="/ppt/notesMasters/notesMaster1.xml" Id="R3a7200f0752240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f0865d79b44e70" /><Relationship Type="http://schemas.openxmlformats.org/officeDocument/2006/relationships/notesMaster" Target="/ppt/notesMasters/notesMaster1.xml" Id="Rbff1a4783aa044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1b5b70dd4d4240" /><Relationship Type="http://schemas.openxmlformats.org/officeDocument/2006/relationships/notesMaster" Target="/ppt/notesMasters/notesMaster1.xml" Id="R977f7fd6fc6a45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d5e990f28d4ccd" /><Relationship Type="http://schemas.openxmlformats.org/officeDocument/2006/relationships/notesMaster" Target="/ppt/notesMasters/notesMaster1.xml" Id="Rdf628019416a4b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dc16647b2d4f44" /><Relationship Type="http://schemas.openxmlformats.org/officeDocument/2006/relationships/notesMaster" Target="/ppt/notesMasters/notesMaster1.xml" Id="Rbe20d16e45484e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c3d3ad62824e4a" /><Relationship Type="http://schemas.openxmlformats.org/officeDocument/2006/relationships/notesMaster" Target="/ppt/notesMasters/notesMaster1.xml" Id="Rb73de9a28c5f416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ef38c908394376" /><Relationship Type="http://schemas.openxmlformats.org/officeDocument/2006/relationships/notesMaster" Target="/ppt/notesMasters/notesMaster1.xml" Id="R4b50cac590a04f0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1964e1879f4540" /><Relationship Type="http://schemas.openxmlformats.org/officeDocument/2006/relationships/notesMaster" Target="/ppt/notesMasters/notesMaster1.xml" Id="R149dfe0e7ebf46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4265a87e6d4a37" /><Relationship Type="http://schemas.openxmlformats.org/officeDocument/2006/relationships/notesMaster" Target="/ppt/notesMasters/notesMaster1.xml" Id="Redf24d27464e4a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本次汇报以当前仓库中的三组实验和五篇论文为依据。</a:t>
            </a:r>
          </a:p>
          <a:p xmlns:a="http://schemas.openxmlformats.org/drawingml/2006/main">
            <a:r>
              <a:t>重点不是展示一个完成的系统，而是明确下一步应该训练什么、为什么。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Source: D:\University\Alpha-SQL\HARD_CASE_PAIRWISE_100_REPORT.md</a:t>
            </a:r>
          </a:p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MCTS budget: 2 rollouts, max depth 5. The 12 questions were chosen within the constrained compiler slice.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The 13 missing MCTS questions are due to provider arrearage and five earlier output truncations. Strict 300-way comparison remains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Percent values are reported as percentage points. McNemar/exact binomial p=0.049 on the 17 disagreements.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MCTS schema evidence is not a pure linker baseline because some stored paths skip the schema-selection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The slice definition follows the original 12-question experiment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GapClosure uses the 12-question oracle-to-SC selector gap as denominator: -9/12 = -75%.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D:\University\Alpha-SQL\HARD_CASE_PAIRWISE_100_REPORT.md</a:t>
            </a:r>
          </a:p>
          <a:p xmlns:a="http://schemas.openxmlformats.org/drawingml/2006/main">
            <a:r>
              <a:t>The split is frozen by question ID but is not database-disjoint.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D:\University\Alpha-SQL\HARD_CASE_PAIRWISE_100_REPORT.md</a:t>
            </a:r>
          </a:p>
          <a:p xmlns:a="http://schemas.openxmlformats.org/drawingml/2006/main">
            <a:r>
              <a:t>Primary model delta vs SC is -1 point; paired bootstrap 95% CI [-7, +5]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E:\Text2SQL\Curriculum Learning.pdf</a:t>
            </a:r>
          </a:p>
          <a:p xmlns:a="http://schemas.openxmlformats.org/drawingml/2006/main">
            <a:r>
              <a:t>E:\Text2SQL\Beyond Random Sampling.pdf</a:t>
            </a:r>
          </a:p>
          <a:p xmlns:a="http://schemas.openxmlformats.org/drawingml/2006/main">
            <a:r>
              <a:t>E:\Text2SQL\Difficulty Is Not Enough.pdf</a:t>
            </a:r>
          </a:p>
          <a:p xmlns:a="http://schemas.openxmlformats.org/drawingml/2006/main">
            <a:r>
              <a:t>E:\Text2SQL\Enhancing Alignment using Curriculum Learning.pdf</a:t>
            </a:r>
          </a:p>
          <a:p xmlns:a="http://schemas.openxmlformats.org/drawingml/2006/main">
            <a:r>
              <a:t>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E:\Text2SQL\Curriculum Learning.pdf</a:t>
            </a:r>
          </a:p>
          <a:p xmlns:a="http://schemas.openxmlformats.org/drawingml/2006/main">
            <a:r>
              <a:t>Source: E:\Text2SQL\Beyond Random Sampling.pdf</a:t>
            </a:r>
          </a:p>
          <a:p xmlns:a="http://schemas.openxmlformats.org/drawingml/2006/main">
            <a:r>
              <a:t>Source: E:\Text2SQL\Difficulty Is Not Enough.pdf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E:\Text2SQL\Enhancing Alignment using Curriculum Learning.pdf</a:t>
            </a:r>
          </a:p>
          <a:p xmlns:a="http://schemas.openxmlformats.org/drawingml/2006/main">
            <a:r>
              <a:t>Source: E:\Text2SQL\GradeSQL.pdf</a:t>
            </a:r>
          </a:p>
          <a:p xmlns:a="http://schemas.openxmlformats.org/drawingml/2006/main">
            <a:r>
              <a:t>GradeSQL reports BIRD dev ORM-BoN 68.90, Majority Voting 66.95, ex-BoN 66.04, Pass@32 80.57.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D:\University\Alpha-SQL\HARD_CASE_PAIRWISE_100_REPORT.md; E:\Text2SQL\Difficulty Is Not Enough.pdf; E:\Text2SQL\Enhancing Alignment using Curriculum Learning.pdf; 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D:\University\Alpha-SQL\HARD_CASE_PAIRWISE_100_REPORT.md; E:\Text2SQL\Difficulty Is Not Enough.pdf; 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D:\University\Alpha-SQL\LLM_JEV_300_INTERIM_REPORT.md; D:\University\Alpha-SQL\HARD_CASE_PAIRWISE_100_REPORT.md; 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c630fdc594d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e0b97a37647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a0c1ee3d94d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c01d019f0b48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54b5b0a3942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f10d9a9dc44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DA307A-1655-4309-8CE5-733DD380B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F3327B-57AD-441A-B000-B8ADC276A9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915C61-B482-49E9-868A-55613CC065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AC6D68-AC7A-473F-B308-45E7168DC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EEB776-141E-4115-91FB-E7BA916A98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3EBF22-5EDF-4DA1-A350-4E82EB64CB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A5ACCC-FE8A-41DD-923F-69AB75F695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4BA442-0533-4A66-AE01-EB116D6A59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2660FA-BC32-4E95-9C4A-39A533E842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C2C975-16A9-42C9-AD74-F5463C4BE9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6f2e37d8a34ecb" /><Relationship Type="http://schemas.openxmlformats.org/officeDocument/2006/relationships/slideLayout" Target="/ppt/slideLayouts/slideLayout1.xml" Id="Rb3514d5b389e4f94" /><Relationship Type="http://schemas.openxmlformats.org/officeDocument/2006/relationships/slideLayout" Target="/ppt/slideLayouts/slideLayout2.xml" Id="R35c020d192cb4cfd" /><Relationship Type="http://schemas.openxmlformats.org/officeDocument/2006/relationships/slideLayout" Target="/ppt/slideLayouts/slideLayout3.xml" Id="R27ae4e7f4a774ced" /><Relationship Type="http://schemas.openxmlformats.org/officeDocument/2006/relationships/slideLayout" Target="/ppt/slideLayouts/slideLayout4.xml" Id="R5f77eae9f9ba429b" /><Relationship Type="http://schemas.openxmlformats.org/officeDocument/2006/relationships/slideLayout" Target="/ppt/slideLayouts/slideLayout5.xml" Id="R6913a9495e8f4c22" /><Relationship Type="http://schemas.openxmlformats.org/officeDocument/2006/relationships/slideLayout" Target="/ppt/slideLayouts/slideLayout6.xml" Id="Rf1b78fb78d1b48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14d5b389e4f94"/>
    <p:sldLayoutId xmlns:r="http://schemas.openxmlformats.org/officeDocument/2006/relationships" id="2147483650" r:id="R35c020d192cb4cfd"/>
    <p:sldLayoutId xmlns:r="http://schemas.openxmlformats.org/officeDocument/2006/relationships" id="2147483651" r:id="R27ae4e7f4a774ced"/>
    <p:sldLayoutId xmlns:r="http://schemas.openxmlformats.org/officeDocument/2006/relationships" id="2147483652" r:id="R5f77eae9f9ba429b"/>
    <p:sldLayoutId xmlns:r="http://schemas.openxmlformats.org/officeDocument/2006/relationships" id="2147483653" r:id="R6913a9495e8f4c22"/>
    <p:sldLayoutId xmlns:r="http://schemas.openxmlformats.org/officeDocument/2006/relationships" id="2147483654" r:id="Rf1b78fb78d1b48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e922c2274a40ff" /><Relationship Type="http://schemas.openxmlformats.org/officeDocument/2006/relationships/notesSlide" Target="/ppt/notesSlides/notesSlide1.xml" Id="R4fed8e6187fa45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952501b8db423e" /><Relationship Type="http://schemas.openxmlformats.org/officeDocument/2006/relationships/notesSlide" Target="/ppt/notesSlides/notesSlide2.xml" Id="R17f1bcce4f7b48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870a69ff04300" /><Relationship Type="http://schemas.openxmlformats.org/officeDocument/2006/relationships/notesSlide" Target="/ppt/notesSlides/notesSlide3.xml" Id="R22d11dc375cc45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d938cda14452a" /><Relationship Type="http://schemas.openxmlformats.org/officeDocument/2006/relationships/notesSlide" Target="/ppt/notesSlides/notesSlide4.xml" Id="Rf95057a8cb6241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46b88116a4958" /><Relationship Type="http://schemas.openxmlformats.org/officeDocument/2006/relationships/notesSlide" Target="/ppt/notesSlides/notesSlide5.xml" Id="Re5766d9cacf741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29e547a5c4d64" /><Relationship Type="http://schemas.openxmlformats.org/officeDocument/2006/relationships/notesSlide" Target="/ppt/notesSlides/notesSlide6.xml" Id="R55028f0885304c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539c5b9ac34aee" /><Relationship Type="http://schemas.openxmlformats.org/officeDocument/2006/relationships/chart" Target="/ppt/slides/charts/chart1.xml" Id="R6a79f45b0ecd429a" /><Relationship Type="http://schemas.openxmlformats.org/officeDocument/2006/relationships/notesSlide" Target="/ppt/notesSlides/notesSlide7.xml" Id="Rb8d0d8ed0caf46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2ae05a0924cc8" /><Relationship Type="http://schemas.openxmlformats.org/officeDocument/2006/relationships/chart" Target="/ppt/slides/charts/chart2.xml" Id="R73dc51608392412f" /><Relationship Type="http://schemas.openxmlformats.org/officeDocument/2006/relationships/notesSlide" Target="/ppt/notesSlides/notesSlide8.xml" Id="R93b65123db1a4a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53ffa2ffab4782" /><Relationship Type="http://schemas.openxmlformats.org/officeDocument/2006/relationships/chart" Target="/ppt/slides/charts/chart3.xml" Id="R342b5f502f1a4d13" /><Relationship Type="http://schemas.openxmlformats.org/officeDocument/2006/relationships/notesSlide" Target="/ppt/notesSlides/notesSlide9.xml" Id="R71879efde99f40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27ddf2dc8f452c" /><Relationship Type="http://schemas.openxmlformats.org/officeDocument/2006/relationships/chart" Target="/ppt/slides/charts/chart4.xml" Id="R1525e2528da94c36" /><Relationship Type="http://schemas.openxmlformats.org/officeDocument/2006/relationships/notesSlide" Target="/ppt/notesSlides/notesSlide10.xml" Id="R04484c8785d549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1089988c942f7" /><Relationship Type="http://schemas.openxmlformats.org/officeDocument/2006/relationships/notesSlide" Target="/ppt/notesSlides/notesSlide11.xml" Id="Raba82d25328044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e19ccc6e1495e" /><Relationship Type="http://schemas.openxmlformats.org/officeDocument/2006/relationships/notesSlide" Target="/ppt/notesSlides/notesSlide12.xml" Id="R29f3a6f954af47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330d53319e41c9" /><Relationship Type="http://schemas.openxmlformats.org/officeDocument/2006/relationships/chart" Target="/ppt/slides/charts/chart5.xml" Id="R4c0b0e80051d4a2e" /><Relationship Type="http://schemas.openxmlformats.org/officeDocument/2006/relationships/notesSlide" Target="/ppt/notesSlides/notesSlide13.xml" Id="Rc48efe1186354d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4a75e8f9634c16" /><Relationship Type="http://schemas.openxmlformats.org/officeDocument/2006/relationships/image" Target="/ppt/media/image.png" Id="Ref7a1b27027c41f6" /><Relationship Type="http://schemas.openxmlformats.org/officeDocument/2006/relationships/image" Target="/ppt/media/image2.png" Id="R18afa268f3684b8b" /><Relationship Type="http://schemas.openxmlformats.org/officeDocument/2006/relationships/image" Target="/ppt/media/image3.png" Id="R5e5e8ebc83e64d89" /><Relationship Type="http://schemas.openxmlformats.org/officeDocument/2006/relationships/image" Target="/ppt/media/image4.png" Id="R6e112cb389c343e3" /><Relationship Type="http://schemas.openxmlformats.org/officeDocument/2006/relationships/image" Target="/ppt/media/image5.png" Id="Rd146b4db76364ca4" /><Relationship Type="http://schemas.openxmlformats.org/officeDocument/2006/relationships/notesSlide" Target="/ppt/notesSlides/notesSlide14.xml" Id="R003156ece2b548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a198acf41421e" /><Relationship Type="http://schemas.openxmlformats.org/officeDocument/2006/relationships/notesSlide" Target="/ppt/notesSlides/notesSlide15.xml" Id="R7cc2184ff9844c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8711821314ef9" /><Relationship Type="http://schemas.openxmlformats.org/officeDocument/2006/relationships/notesSlide" Target="/ppt/notesSlides/notesSlide16.xml" Id="R5155a45caf524d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743687ccb14e8f" /><Relationship Type="http://schemas.openxmlformats.org/officeDocument/2006/relationships/notesSlide" Target="/ppt/notesSlides/notesSlide17.xml" Id="Rc8acae247f7449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eb610068b4599" /><Relationship Type="http://schemas.openxmlformats.org/officeDocument/2006/relationships/notesSlide" Target="/ppt/notesSlides/notesSlide18.xml" Id="R1e7821b5a8104ff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12256e5e14775" /><Relationship Type="http://schemas.openxmlformats.org/officeDocument/2006/relationships/notesSlide" Target="/ppt/notesSlides/notesSlide19.xml" Id="R3cee56d4ea9a4a5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Candidate Coverage</c:v>
          </c:tx>
          <c:spPr>
            <a:solidFill xmlns:a="http://schemas.openxmlformats.org/drawingml/2006/main">
              <a:srgbClr val="3B6EA8"/>
            </a:solidFill>
          </c:spPr>
          <c:invertIfNegative val="0"/>
          <c:cat>
            <c:strLit>
              <c:ptCount val="3"/>
              <c:pt idx="0">
                <c:v>MCTS + SC</c:v>
              </c:pt>
              <c:pt idx="1">
                <c:v>Jev constrained</c:v>
              </c:pt>
              <c:pt idx="2">
                <c:v>MCTS pool + Jev</c:v>
              </c:pt>
            </c:strLit>
          </c:cat>
          <c:val>
            <c:numLit>
              <c:formatCode>0</c:formatCode>
              <c:ptCount val="3"/>
              <c:pt idx="0">
                <c:v>79.79</c:v>
              </c:pt>
              <c:pt idx="1">
                <c:v>29.27</c:v>
              </c:pt>
              <c:pt idx="2">
                <c:v>79.79</c:v>
              </c:pt>
            </c:numLit>
          </c:val>
        </c:ser>
        <c:ser>
          <c:idx val="1"/>
          <c:order val="1"/>
          <c:tx>
            <c:v>Final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3"/>
              <c:pt idx="0">
                <c:v>MCTS + SC</c:v>
              </c:pt>
              <c:pt idx="1">
                <c:v>Jev constrained</c:v>
              </c:pt>
              <c:pt idx="2">
                <c:v>MCTS pool + Jev</c:v>
              </c:pt>
            </c:strLit>
          </c:cat>
          <c:val>
            <c:numLit>
              <c:formatCode>0</c:formatCode>
              <c:ptCount val="3"/>
              <c:pt idx="0">
                <c:v>75.61</c:v>
              </c:pt>
              <c:pt idx="1">
                <c:v>25.44</c:v>
              </c:pt>
              <c:pt idx="2">
                <c:v>72.47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MCTS path evidence</c:v>
          </c:tx>
          <c:spPr>
            <a:solidFill xmlns:a="http://schemas.openxmlformats.org/drawingml/2006/main">
              <a:srgbClr val="AAB5BF"/>
            </a:solidFill>
          </c:spPr>
          <c:invertIfNegative val="0"/>
          <c:cat>
            <c:strLit>
              <c:ptCount val="4"/>
              <c:pt idx="0">
                <c:v>Table Precision</c:v>
              </c:pt>
              <c:pt idx="1">
                <c:v>Table Recall</c:v>
              </c:pt>
              <c:pt idx="2">
                <c:v>Column Precision</c:v>
              </c:pt>
              <c:pt idx="3">
                <c:v>Column Recall</c:v>
              </c:pt>
            </c:strLit>
          </c:cat>
          <c:val>
            <c:numLit>
              <c:formatCode>General</c:formatCode>
              <c:ptCount val="4"/>
              <c:pt idx="0">
                <c:v>54.24</c:v>
              </c:pt>
              <c:pt idx="1">
                <c:v>53.98</c:v>
              </c:pt>
              <c:pt idx="2">
                <c:v>47.54</c:v>
              </c:pt>
              <c:pt idx="3">
                <c:v>52.86</c:v>
              </c:pt>
            </c:numLit>
          </c:val>
        </c:ser>
        <c:ser>
          <c:idx val="1"/>
          <c:order val="1"/>
          <c:tx>
            <c:v>Jev linker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4"/>
              <c:pt idx="0">
                <c:v>Table Precision</c:v>
              </c:pt>
              <c:pt idx="1">
                <c:v>Table Recall</c:v>
              </c:pt>
              <c:pt idx="2">
                <c:v>Column Precision</c:v>
              </c:pt>
              <c:pt idx="3">
                <c:v>Column Recall</c:v>
              </c:pt>
            </c:strLit>
          </c:cat>
          <c:val>
            <c:numLit>
              <c:formatCode>General</c:formatCode>
              <c:ptCount val="4"/>
              <c:pt idx="0">
                <c:v>63.35</c:v>
              </c:pt>
              <c:pt idx="1">
                <c:v>99.3</c:v>
              </c:pt>
              <c:pt idx="2">
                <c:v>60.16</c:v>
              </c:pt>
              <c:pt idx="3">
                <c:v>97.35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Coverage</c:v>
          </c:tx>
          <c:spPr>
            <a:solidFill xmlns:a="http://schemas.openxmlformats.org/drawingml/2006/main">
              <a:srgbClr val="3B6EA8"/>
            </a:solidFill>
          </c:spPr>
          <c:invertIfNegative val="0"/>
          <c:cat>
            <c:strLit>
              <c:ptCount val="2"/>
              <c:pt idx="0">
                <c:v>compiler 范围内（83）</c:v>
              </c:pt>
              <c:pt idx="1">
                <c:v>范围外（217）</c:v>
              </c:pt>
            </c:strLit>
          </c:cat>
          <c:val>
            <c:numLit>
              <c:formatCode>General</c:formatCode>
              <c:ptCount val="2"/>
              <c:pt idx="0">
                <c:v>77.11</c:v>
              </c:pt>
              <c:pt idx="1">
                <c:v>11.98</c:v>
              </c:pt>
            </c:numLit>
          </c:val>
        </c:ser>
        <c:ser>
          <c:idx val="1"/>
          <c:order val="1"/>
          <c:tx>
            <c:v>Final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2"/>
              <c:pt idx="0">
                <c:v>compiler 范围内（83）</c:v>
              </c:pt>
              <c:pt idx="1">
                <c:v>范围外（217）</c:v>
              </c:pt>
            </c:strLit>
          </c:cat>
          <c:val>
            <c:numLit>
              <c:formatCode>General</c:formatCode>
              <c:ptCount val="2"/>
              <c:pt idx="0">
                <c:v>74.7</c:v>
              </c:pt>
              <c:pt idx="1">
                <c:v>7.37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Final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2"/>
              <c:pt idx="0">
                <c:v>Self-consistency</c:v>
              </c:pt>
              <c:pt idx="1">
                <c:v>Jev-on-MCTS</c:v>
              </c:pt>
            </c:strLit>
          </c:cat>
          <c:val>
            <c:numLit>
              <c:formatCode>General</c:formatCode>
              <c:ptCount val="2"/>
              <c:pt idx="0">
                <c:v>75.61</c:v>
              </c:pt>
              <c:pt idx="1">
                <c:v>72.47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3"/>
              <c:pt idx="0">
                <c:v>Self-consistency</c:v>
              </c:pt>
              <c:pt idx="1">
                <c:v>Pairwise + SC</c:v>
              </c:pt>
              <c:pt idx="2">
                <c:v>Oracle</c:v>
              </c:pt>
            </c:strLit>
          </c:cat>
          <c:val>
            <c:numLit>
              <c:formatCode>General</c:formatCode>
              <c:ptCount val="3"/>
              <c:pt idx="0">
                <c:v>76</c:v>
              </c:pt>
              <c:pt idx="1">
                <c:v>75</c:v>
              </c:pt>
              <c:pt idx="2">
                <c:v>81</c:v>
              </c:pt>
            </c:numLit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4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A1356-346E-408C-BD4A-534586D1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A2486-D017-40AD-97F3-EDCE98C3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76ED9-4D7A-4396-93FA-A112A99F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+ Schema-aware</a:t>
            </a:r>
          </a:p>
          <a:p xmlns:a="http://schemas.openxmlformats.org/drawingml/2006/main">
            <a:pPr algn="l">
              <a:def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SQL 选择实验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B23FD-3D6B-499A-866C-768CCF19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7657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从高召回 Schema Linking，到可验证的候选重排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35DCF-ADC6-45AC-81A5-4C3D1FA7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9906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组会汇报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6834B-9CF7-475B-BA33-977A8269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12题探路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F84D3-EA79-4F95-9FB7-6985E64F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67025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300题扩展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E8372-2A1B-45E6-94F1-DF0A2DFB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100题监督重排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7F5C0-4A7F-43FF-A651-2694E85F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l">
              <a:def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Dongx Xia · 50062682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BD553-14E6-4074-8635-9B8E68E2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>
            <a:defPPr algn="l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2026-10-13</a:t>
            </a:r>
          </a:p>
        </p:txBody>
      </p:sp>
    </p:spTree>
    <p:extLst>
      <p:ext uri="{BB962C8B-B14F-4D97-AF65-F5344CB8AC3E}">
        <p14:creationId xmlns:p14="http://schemas.microsoft.com/office/powerpoint/2010/main" val="15558428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543D8-BD15-4750-AD64-F83A9FAA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这次汇报先回答三个问题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A5278-5039-43BD-A418-F67A2A00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F3B3E-A6EA-4F5A-9860-29580909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1EAC8-E775-40DB-89B1-9C5812B0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333750" cy="4000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0E7C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4C20B-60BB-4A6D-B635-76B603C6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D7306-57F2-497A-97E8-5F293779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能否替换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Schema Linker？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BC53A-A043-42A7-9E50-3B4516D0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高表列召回是否等价于高 SQL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5653D-A625-4DCA-AD21-040454FA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3333750" cy="4000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E07A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DC516-A6B0-4EC4-A5F7-8D22BD57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76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42872-7E10-4397-A330-216C3B3B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>
            <a:def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reranker 能否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替换 self-consistency？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B87D6-104A-4407-901C-7673FF74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固定同一候选池，比较 selector 本身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4DABD-BE2B-4D8C-BCB0-4C50398D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333750" cy="4000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0E7C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309F0-1B50-44C5-A3D5-7F94C578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50D41-76CD-4098-8EA9-E9372DAB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33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监督式 selector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下一步怎样训练？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EC033-5141-4CAF-93D1-88250498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从五篇 curriculum / ORM 论文得到方案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68C3C-71D7-4983-8C23-D5E048ED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判断标准：分开看 candidate coverage 与 selector accuracy given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8A577-5E22-4D56-B9BF-6D3286E8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DCE6D-6664-4F82-8D07-1FF60592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1486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11AE5-4A90-4C0E-893A-D5090AAE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项目最初想法：把生成能力与选择能力拆开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7F16D-DB3B-45E7-9507-F66362C0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9B265-1A04-43D8-B4B3-2025DB97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D8CE9-2FAB-4A39-A837-AB7CD521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问题 + 全量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82E90-6514-4F23-8BFD-B7E8FFBE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955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E9690-77BF-48DB-B52C-BB7440FD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18669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typed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schema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52F7D-00E8-44D0-B257-0D34F33C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955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35796-FAF9-4522-8FF7-6C99A6C0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QueryPlan beam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Python 编译 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00CBB-D6A0-468B-BC56-E890A430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955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AC3B4-4E12-4328-A07B-FA92F324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AAB5B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SQLite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86FA3-2FCE-4619-8F31-95ECA1CC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95525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9C1E5-EF33-433C-989E-5166F8D9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00250"/>
            <a:ext cx="914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</a:t>
            </a:r>
          </a:p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rerank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5ED64-5E1E-4902-B078-BEE77869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独立对照路径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B50C8-E84F-4DC4-9B0D-7F000A8C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857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Qwen / MCTS 生成候选池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E163B-11B5-46D9-BC53-5D443A70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CCBB4-C5C1-4818-A959-0223C0B4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6240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同一候选池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BAA49-D367-4B27-A4AD-F6944C47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87969E-633F-42FF-B0EC-79A0B933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81425"/>
            <a:ext cx="19621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execution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self-consistency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840B6-7B57-4C23-B972-B562FC7F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529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ctr">
              <a:defRPr sz="15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D0571-2332-4FB2-AC63-B5AA8D90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81425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schema-aware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reranker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6A69C-0173-4D0B-870A-58438BF2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72125"/>
            <a:ext cx="701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关键：Jev 不是生成模型，也不替换现有 Qwen/OpenAI 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80902-AB27-4E54-9EF5-0D662B79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016E8-ABE4-406E-A421-3FE2F425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02973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B3C3D8-96BF-41C1-A4D9-BB0715FF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三步实验路线：先定位问题，再训练 selector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51D6E-E87A-4FA4-8E4D-F5943598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实验路线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C6006-FC49-4A84-B96B-CB542D45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38F71-318B-4DB1-8A41-5E10857F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43225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56F20-ABFE-45F4-8F00-C60CB108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574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3880C-1C40-41F8-929F-071A2C22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3AB89-9A46-406B-8C3A-ECF055B4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12题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16FC3-6CA7-46EC-AE8F-187356A4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受约束探路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889C6-BFC3-4E57-A920-2EE7C5B3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95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验证 pipeline 可跑通</a:t>
            </a:r>
          </a:p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观察 linker / compiler / reranker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EC6A0-41A3-4B94-8D77-B93B46CD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574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C0621-F704-47DA-806B-5D241323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097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5627E-8091-48DA-91A5-2C650517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81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300题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12B95-22D7-46D6-BF4D-32C2DE5C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扩展与分解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E1F22-C235-409D-9960-E3595363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区分能力范围</a:t>
            </a:r>
          </a:p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固定候选池比较 selector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731B-373D-4213-9752-DE3CF653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574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A4763-8822-4970-B78B-E146E9FE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97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A3C79-D9D8-49C7-8F95-975638F0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100题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13956-B10D-4BE3-9546-81E8671C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监督式 pairwise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D11D7-F2E1-4AF4-A4EA-FC5D9B99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195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筛 hard cases</a:t>
            </a:r>
          </a:p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保留 SC 特征并做 confidence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18BBA-B1E2-46E9-9160-C5FF5265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结论演进：能跑通 → 找到真正瓶颈 → 证明监督信号存在但安全性不足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9993B-5D56-4E34-9F7E-7E9A7F58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DA9F1-68D1-48C6-8AD7-8D358FE5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941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96C7A-CA71-49EC-A343-76691DE4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12题探路：Jev 有选择信号，但不能直接替换 SC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67AD9-817B-4160-B398-1108BA91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4C52E-DAD7-4E39-8E06-172B2E7A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88109-D325-4EFF-A4B6-3716B4148EF9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04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809750"/>
                <a:gridCol w="1809750"/>
              </a:tblGrid>
              <a:tr h="714375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Final EX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MCTS + self-consistency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Jev constrained pipeline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MCTS pool + Jev reranker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86487-C555-4E57-B5CA-635B728D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B96D1-E512-4087-B04D-B4A59706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430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5 →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512CE-EEEC-41A3-8661-955E8840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93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自有候选池：top-beam 到 rerank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B797A-5497-4C2B-8BAA-41C1F9DD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2636B-702A-4AF9-89FD-E30BE892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12 →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9DA4A-8977-401D-AB8E-108826B8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固定 MCTS 池：一次改选造成回归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F3F12-DA48-4D10-8F21-DEFFE67F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15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 个 Jev coverage miss 均已召回正确表列，错误来自 DISTINCT 与 literal / 阈值组合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DD8AD-7BC4-424D-A5B4-C8E43CD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小样本能证明 reranker 有信息，不能证明它比强 SC baseline 更可靠。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66375-9F87-4518-B43A-6CD53C83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1C7EC-4605-4486-A569-879A43F4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330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1234A8-F53A-4293-AAD6-61209DBC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300题扩展：先把可比边界说清楚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7AA24-D4FD-4895-B2B9-C5B6A0E7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F9FB2-4DE2-460B-B717-B1F4275A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6072B-2EA0-4103-A194-27250137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D4637-C950-4B99-8B9F-EC8007AE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A1282-67FC-40D0-A7B6-226664A9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冻结、gold 可本地执行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40E84-60AD-4587-AADA-60EBBC39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B7BCF-EDCA-4DB3-90F4-92C69BA3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287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291AF-4FDA-4689-9613-D3160278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43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300/300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04915-8FF5-466F-B579-235EC525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native 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BB237-2757-40F8-9DB4-942FFF9D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CD276-F09D-4664-A184-EE78C2BA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287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85C43-1807-41AB-95F9-48381839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43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287/300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3F1FB-4FDE-4898-A51D-F2280612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MCTS 完成，共同集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F9FE6-7C88-4C9E-A532-A9FE4050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4785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9A912-B6CD-494D-818A-08EDD565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428750"/>
            <a:ext cx="114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8E401-2254-4C19-8D9D-9B4C393F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430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1E90B-264F-4E6E-B89C-6CE7F32A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19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333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欠费/截断待补跑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12BBC-3FF4-44AF-BC6A-82453294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83 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EF2DE-783F-46C9-853A-148EEE60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 compiler 范围内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311B50-FE2C-4D7B-A0E3-A0388C64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217 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EEA45-035E-4791-86A3-9DA048F8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包含尚未建模的 SQL 结构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7E2D8-5B0C-4E50-956F-FCD0F41D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287 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679AB5-B8E7-454C-BA85-456D1186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三路方法严格可比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9F82A-3899-4B8B-8FE5-7B2665D5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67350"/>
            <a:ext cx="9258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报告口径：Jev 用完整 300；方法对比用共同 287；不把缺失 13 题伪装成最终结果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B9DDF-E311-4430-B4B9-316E61F7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D1552-4A42-4936-9FED-EA9F7791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59584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37B06-603E-4B89-869B-580310F7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共同287题：MCTS coverage 是优势，Jev 直接重排会下降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54970-D03D-43EA-A774-10583369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核心结果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C7F98-3532-4817-88B8-B51B3185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ED7F2A2-05FE-4873-A1A8-A54CE28C1BF1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79f45b0ecd429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722AB-C98B-4B32-8B16-BE65F4FA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3F0D0-B9A8-4B20-BFCA-7BEB3CDD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-3.14 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286A7-CFE6-40FA-A73A-8635C23C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Jev-on-MCTS 相对 SC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98F56-9F7F-4224-B16A-826AF3F3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3143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6DBA3-D278-47EB-8ED7-B5C354D0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[-5.92, -0.35]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DC7D7-3EA5-4904-B69C-C770F74B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paired bootstrap 95% CI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9B7DD-7847-411E-928A-48A853A6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342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当前证据支持：无监督 Jev reranker 不应直接替换 execution self-consistency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B7259-9659-4908-81CA-731B3159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40EAF-CC79-45BA-B0CB-781E32E3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52126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E88E5-DFA3-43B6-A009-8644DD7E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Schema Linking 很强，但这不等于 SQL 已经正确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6F12A-0E6A-42E7-8DDD-ACAE1566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瓶颈诊断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55ECF-82D9-467A-8953-63D1B2D1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908E531-D127-499C-9DAB-1DEA058DF588}"/>
              </a:ext>
            </a:extLst>
          </p:cNvPr>
          <p:cNvGraphicFramePr/>
          <p:nvPr/>
        </p:nvGraphicFramePr>
        <p:xfrm>
          <a:off xmlns:a="http://schemas.openxmlformats.org/drawingml/2006/main" x="609600" y="144780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dc51608392412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C847E-4A8F-471C-A794-51BF826B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EBE1B-E41A-4041-998B-99F2022F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85925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181 / 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E49E3-420C-4903-B260-BC184356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621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coverage miss 仍完整召回 gold 表列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E0257-E753-40DB-A4FD-63A240A4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8ABA5-58BC-449A-AA01-A76B3604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22 / 203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7C395-193F-4986-92A8-1664F3A4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真正 schema recall 不完整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1BCFA-28BC-49FB-A46C-CF27DEDB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629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资源优先级：QueryPlan / compiler / literal / operator  &gt;  再训练表列二分类器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D82E5-F626-4983-A728-594FE6FB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99A62-1048-43B9-B74E-475F86DF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35184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DC9A1-0017-4E19-A0D5-6EA372A4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constrained 的主瓶颈是能力范围，不是语义召回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4DB07-7B13-4C54-8DCC-A8C3EDEB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能力范围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6E4C8-BF77-4E30-AB29-3CEA3CF0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B804B6A-B8AF-4E0F-886F-D3E2232153E3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6667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2b5f502f1a4d1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BEF3D-7D90-4CE5-B2D4-82E33F49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66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>
            <a:def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当前尚未完整建模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42FEC-E635-44EB-B394-0C5A1377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429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多投影、多过滤与复杂布尔条件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子查询与集合操作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GROUP BY / HAVING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ORDER BY / LIMIT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CASE、日期与字符串表达式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literal、类型转换与聚合层级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13CB5-D340-48E7-9F91-BE35DF8A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43500"/>
            <a:ext cx="3905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范围内 EX 74.7%：说明 12 题结果不是偶然，但系统还不是通用生成器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3064C-77C2-4F6F-BED6-29DA67EF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1159A-26D5-41AE-85A3-FBFAED4C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436373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54154-BC32-4E11-ACD8-0971697D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Selector 的真实差距：修复 4 题，但回归 13 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6B7C4-C5D0-4573-BEE4-DC4A7315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选择器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42719-9759-401F-B256-644C789D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78F7562-18EF-4E5D-BD04-856018D4468C}"/>
              </a:ext>
            </a:extLst>
          </p:cNvPr>
          <p:cNvGraphicFramePr/>
          <p:nvPr/>
        </p:nvGraphicFramePr>
        <p:xfrm>
          <a:off xmlns:a="http://schemas.openxmlformats.org/drawingml/2006/main" x="609600" y="1447800"/>
          <a:ext xmlns:a="http://schemas.openxmlformats.org/drawingml/2006/main" cx="5905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25e2528da94c3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E2CE0-8F30-4B78-A99E-7644B95E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BEB8B-8DBE-4B6C-835B-5BDF8587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38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DB3A1-016B-4D4C-BC9D-63C6183E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145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9128B-DFB0-4791-A49E-39ADAF71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E98E2-4B74-418A-912E-E44657E7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38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909D4-C7DE-464E-B572-BA18C38F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145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3D2BA-F055-403A-ADC8-D5C6D424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701B8-55CA-4703-A0CC-2B8210FD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1942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94.76%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AD1F0-CADE-42EE-8601-6E1697EB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956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17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SC 在 coverage 内选对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913C9-0724-41E6-B0CD-6573CCC0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05125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D5006-FF03-48BE-868C-B26A1347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1942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90.83%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56697-114D-4B2B-8554-4A7ABC35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956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83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在 coverage 内选对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B5B67-DC73-4E81-ADB4-B8B8B5C9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3143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GapClosure = -75%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94659-8993-4191-B5A8-72E7D0AF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53025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不是缺少改选能力，而是缺少“何时不要改选”的监督。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75305-15A2-4FA0-A68B-BD66EB12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233EB4-765D-4790-AE8E-C018EF88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54303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7F6CF-3522-4382-ACB8-A3F41C9C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错误不是随机的：通用语义与 benchmark 约定发生冲突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ECCD9-34B6-4EE7-BBDF-7358CD18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逐题分析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E17D6-6399-4DF3-BA28-39B05A7B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A4C94-672E-4585-9007-830D6870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1625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95E4A-7F58-4F66-9652-6CEEBC44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287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>
            <a:defPPr algn="l">
              <a:defRPr sz="2025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修复的 4 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2130F-0541-4C4F-A762-4D046B82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514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210：COUNT(*) → SUM(qty)，修复计量对象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3099：&gt;= → &gt;，匹配严格比较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8963：US$ 字符串先转数值再求最大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2481：修复年份上界的执行约定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462DE-2B2F-4D8F-8896-A60D22D7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共同点：类型、比较符、聚合对象等可验证语义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3A33E-A59B-4D5F-A151-2B75A655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90650"/>
            <a:ext cx="51625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7C8BC-5CAA-44E0-9DAC-320CC121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287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>
            <a:defPPr algn="l">
              <a:defRPr sz="20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回归的 13 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7BB01-6022-496D-817C-5E02EA6A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28850"/>
            <a:ext cx="4514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 题添加了 gold 不需要的 DISTINCT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投影从 ID 改成更自然的姓名 / 拼接字段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增加额外语义条件或换用相近字段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改变 GROUP BY、计数对象或百分比分母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从另一张语义相近表读取结果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0DBCA-EE59-43C9-995F-06F166C2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2920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14"/>
          </a:bodyPr>
          <a:lstStyle xmlns:a="http://schemas.openxmlformats.org/drawingml/2006/main">
            <a:defPPr algn="ctr">
              <a:defRPr sz="13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共同点：SQL 看起来更自然，但 execution gold 不等价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64C14-0F3A-44E5-9811-C03C667C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A1CBF-EACC-4666-81D1-022386FE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80053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4F5864-5E58-4450-B90E-ABFEBC9E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100题监督式 pairwise：证明信号存在，数据仍远远不够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4B58D-0E9C-4857-A90C-4AD9015D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D8C10-6F63-46E6-9B58-71277E2F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E6A4A-BF01-4445-AEC1-CD6A687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7EAEE-F093-4A80-B74E-EE929810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269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61577-505E-4715-B0F4-5B923AE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可评估问题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FFE8A-FEF1-474D-8B3E-59052A54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80F3A-404F-442F-B277-29C33E71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903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B8F3F-1B88-4A58-97BB-D1E5905A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候选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4730C-8E5C-4746-9A11-AA8A0A3F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FBC24-DEFC-4D7B-8B1E-9F59E306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9749D-3BF2-488C-A5AB-53243A02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全部 hard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7BF14-C0FD-4615-ABA1-63B92339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0886F-D889-47CD-A558-B4AE6250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3AE19-FC0F-467D-AC93-8E882EAC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训练 hard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0F6D6-1C0C-4A30-9AEA-3FEEF1F2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233E6-150C-4085-9D0C-02250ADB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668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129/40/100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8343F-6912-45DC-8825-A324101D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431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train / val /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42CA8-5E35-43D7-9D39-5755A223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48维特征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含 7 个 SC 特征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8B30A-D50E-45F4-8B2A-A40B024E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9525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A8095-8D83-4928-82F3-CB607D6B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76625"/>
            <a:ext cx="2428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MLP ensemble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RankNet + pointwise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8C487-56EB-4C32-A331-D8E4B4EC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19525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3A3F35-F699-49E0-AF9D-9D87AB54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76625"/>
            <a:ext cx="2428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validation 选阈值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score margin ≥ 0.20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B653A-641C-4CCE-B915-10DC9A14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1952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91C08-B533-4904-96A5-4B893F52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76625"/>
            <a:ext cx="914400" cy="9525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否则回退 SC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2B56B5-88A6-4D19-9C03-EC3A3681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48275"/>
            <a:ext cx="8686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训练目标很窄：只解决候选中“正确 SQL 存在但多数簇选错”的问题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38670-0B81-4227-ADA6-9C9F8E4E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CCFD65-238C-47C7-888E-61C9E218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45380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BA25D-65EA-457B-99D3-294C0417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监督实验：hard 子集修复 4/5，但被普通题回归抵消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4E74F-89CB-430C-A2B8-8913F18D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100题结果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11FE8-9DF8-4811-BC0B-DB40F86E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BDD11E8-15D2-49A1-AF5F-1D30E80BDD21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6191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0b0e80051d4a2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11245-78B3-4A9A-AE08-FBA5CAED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049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3B0BC-9A78-46A1-AB67-55865ED7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619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BC957-D64E-4632-95E0-E324CC6C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0955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2E695-1D06-41E6-B154-A9455EBE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049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9DD14-D58A-42E3-86AC-98F86A79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619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0350B-52FC-47E4-BD0A-0DA164C5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955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7D9F3-85D9-4495-BB4F-D3732ADA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194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4FF77-314B-436F-8144-DB953431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337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6620D-838E-439A-BDAB-1AA02C66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099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coverage miss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E2B36-7948-49B7-B554-3E33DEF9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85309-B6AA-459F-8D61-25B8288A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337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19204-F628-4893-966B-C0F4BDD0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099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未修复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10E5D-D6B2-4571-A1FE-A7A938DA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400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98888"/>
          </a:bodyPr>
          <a:lstStyle xmlns:a="http://schemas.openxmlformats.org/drawingml/2006/main">
            <a:def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5 个回归全部从较大结果簇跳到 singleton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75BAB-F457-47C7-B125-356B4AC8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24475"/>
            <a:ext cx="9048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结论：模型学到了“反多数簇”信号，但还没学会安全边界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DD7C1-664E-4FBD-BC3A-47A63DA5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54E54-EBCB-4232-8A02-3DD12B9B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44041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879D9-C5C3-45C8-B344-F2881D22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五篇论文：从“样本顺序”走向“SQL outcome verifier”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0E91C-7174-4837-813B-4F5FD42A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文献学习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8DB3E-9D97-4259-AB9C-EA6D41B9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00A76-0B3B-4213-8AD5-63CB587F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DDEB0-2D85-4512-BB21-1E98847545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a1b27027c41f6"/>
          <a:stretch xmlns:a="http://schemas.openxmlformats.org/drawingml/2006/main"/>
        </p:blipFill>
        <p:spPr>
          <a:xfrm xmlns:a="http://schemas.openxmlformats.org/drawingml/2006/main">
            <a:off x="695325" y="1447240"/>
            <a:ext cx="1752600" cy="226807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8C74B-9B84-4FD5-B9CE-558E926B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Bengio et al.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FCDFA-EE3A-42E6-B4DB-D3B3E89D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顺序改变优化路径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93179-F044-416F-A6B4-F30F6854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CF791-47A6-42BB-B0BF-DEAD9D1711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fa268f3684b8b"/>
          <a:stretch xmlns:a="http://schemas.openxmlformats.org/drawingml/2006/main"/>
        </p:blipFill>
        <p:spPr>
          <a:xfrm xmlns:a="http://schemas.openxmlformats.org/drawingml/2006/main">
            <a:off x="3004384" y="1428750"/>
            <a:ext cx="1630281" cy="2305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539E4-A890-493E-BA03-5EF18DEE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Beyond Random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Sampling,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B936C-A0EB-4B25-A47A-0E60F2EA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warmup 最稳健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60CB1-AA18-4C6F-9B1C-613367BD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076BE-638D-4C17-A2DE-7065924059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e8ebc83e64d89"/>
          <a:stretch xmlns:a="http://schemas.openxmlformats.org/drawingml/2006/main"/>
        </p:blipFill>
        <p:spPr>
          <a:xfrm xmlns:a="http://schemas.openxmlformats.org/drawingml/2006/main">
            <a:off x="5191125" y="1447240"/>
            <a:ext cx="1752600" cy="2268071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E129E-7B59-45BF-8A0D-83AB2A87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DUCL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28AF7-A6A1-4749-B89A-32383DF3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难度 + 效用 + 多样性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10BEA-044F-4495-8907-F2A20A63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1065E-CDFD-4FB5-BE77-91B40C91E5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12cb389c343e3"/>
          <a:stretch xmlns:a="http://schemas.openxmlformats.org/drawingml/2006/main"/>
        </p:blipFill>
        <p:spPr>
          <a:xfrm xmlns:a="http://schemas.openxmlformats.org/drawingml/2006/main">
            <a:off x="7500184" y="1428750"/>
            <a:ext cx="1630281" cy="23050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62418-9C9A-432D-B3B3-D3B49652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Curri-DPO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AD6BB-2401-426C-8CB2-3AE77772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多 pair 从易到难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9A197-972D-4CD7-BBC4-210D018F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3D48F-D894-4035-9D52-8C65F69EFB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6b4db76364ca4"/>
          <a:stretch xmlns:a="http://schemas.openxmlformats.org/drawingml/2006/main"/>
        </p:blipFill>
        <p:spPr>
          <a:xfrm xmlns:a="http://schemas.openxmlformats.org/drawingml/2006/main">
            <a:off x="9686925" y="1447240"/>
            <a:ext cx="1752600" cy="2268071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AAE0AE-7632-421D-9794-2A98BB7A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GradeSQL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D7D36-E65F-4B5F-92DD-5D4F3084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执行标签训练 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D6ECF-0126-4EE2-ACAD-C8891BBF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8115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共同主线：先定义什么值得学，再决定以什么顺序、什么强度学习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8391A-9FE5-4050-8AFE-762B535A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685D14-E40B-44EE-BE97-81AF0D87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693315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0CA13-DBC8-43D3-9F5C-13C61B69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固定数据下，课程学习改变的是优化路径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4D176-5154-460D-8E71-FA2DF5F4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论文启发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7689A-CA9F-48F2-B2B5-F371BE1A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1F30D-D16B-42CD-A301-647DB0AE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Bengio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F7BA6-D93E-44B2-B01C-C7B3CBAF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从容易目标逐步过渡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像 continuation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872DA-A3EA-44AE-8E3F-7D2DE9AA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240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32CB0-1278-4159-A2CF-A40B006F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Beyond Random Sampling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58B77-67B3-4FA4-9FE0-6E365468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670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难度指标 × pacing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课程 warmup 更稳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499DB-A5C7-46D0-B033-49CDCC88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9240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460CE-5C66-4996-A7FB-F5530DD2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DUCL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71880-D5B6-4FF9-92EE-265E7038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difficulty 不够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还要估计 utility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30937-18E8-418B-953F-41C67A0B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240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F3599-BA24-44B3-AE04-B9FA599F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Window Ordering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31F63-18D2-4F7C-B91B-80B47E92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逐步扩大窗口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保留 batch diversity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AEB45-044E-4D09-827F-CB4716F8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028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DD25A-9272-4673-9C4E-07B5BDA1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338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>
            <a:defPPr algn="l">
              <a:defRPr sz="18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映射到 SQL selector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92FE1-690F-4DFA-978D-8D88D798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38625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难度 D：当前模型有多难区分这对 SQL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效用 U：现在学习它能否减少尚未解决的错误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噪声 N：持续高损失但无学习进展的样本应降权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10183-9A61-421A-8127-4F0A9935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642F5-4284-416E-AE70-5A15029E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47929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93DE6-FF1E-4A90-A77C-9BDD5817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Curri-DPO 与 GradeSQL：最接近当前 selector 的两条路线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06CA5-CD93-47A2-AA96-535C6E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论文启发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6068D-E3C8-44D6-A633-1FE0BC1E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F69CE-D224-4FF1-8BC1-4D3BCA81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4CAD0-3E78-4552-B1E5-9D11C77F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21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Curri-DPO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2EBC2-3557-4C69-9A31-C83092A9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同一 prompt 的多个响应形成多个 preference pairs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AFC3C-2031-4050-A3CB-11D95816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3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大评分差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容易 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BC501-46C5-44C8-B793-A01EDD3E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9562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07913-3A93-49E2-8464-94AFA2A7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114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中等差异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BF805-7F93-4774-B927-1593DDA3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9562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1E820-5108-44F0-97F2-2C929399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95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小评分差</a:t>
            </a:r>
          </a:p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困难 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6678D-2061-40A7-B46B-A51E9BE4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启发：不需要穷举所有 pair；迭代次序与 reference 更新很重要。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F24F7-85CF-465A-92DB-1D741DD4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0DC50-91F4-4836-9FC0-64655B84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21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GradeSQL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D228B-F0B9-4509-9D75-97AECB6D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候选 SQL 用执行等价打标签，训练 ORM 输出 P(Yes)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1B9D8-B15C-4EEB-B2E8-0FFB37F9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N 个候选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50641-EB13-48C5-9EA6-D3206FB4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884C3-9DB6-45B3-88E6-C6904D2D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执行标签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11116F-A21C-47DC-96A8-94B8B2D2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95625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71C74-D34A-4660-B735-0F1FF390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5750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ORM 排序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C1CCE-CD43-4FAA-AE28-B80E9E71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BIRD dev：68.90%，高于 Majority Voting 66.95%；SQL-only prompt 最好。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7D5427-80A0-4CB0-81CF-8F56DA0B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743575"/>
            <a:ext cx="84391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本阶段不增加样本：GradeSQL 给执行标签，Curri-DPO 给 pair 顺序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5F033-BF57-4237-BFD2-2A6514CE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BF7C3-F537-474F-8FF7-B27D60CE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627723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6ECFF-16CE-4D74-BDBA-F43674C4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下一阶段：固定 training set 的错误感知课程学习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459F6-C18E-4F6A-9C6F-B7E6FA65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FBA74-D2B7-4615-9AEB-DC31E305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8EABE-45FF-48EB-9277-0382E825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5B2D5-99A9-41F7-AAF4-3DDFA244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阶段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D5D54-F3BB-4A35-9DEB-A6A32E46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冻结实验条件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11323-02AB-4603-936D-D4BEEE0E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同一数据、模型、初始化、预算与种子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B7DCB-FD99-4167-8889-EE0114D7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2669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07D33-E373-483B-ABDB-DAEA3CC1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9957A-D7F3-4920-A1FF-B7B4AC1E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40833-57CC-4E0F-85C1-34192F3E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 warmup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B6B73-EEAA-4D12-9610-833DEEE5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记录 loss / margin</a:t>
            </a:r>
          </a:p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与错误类型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061E6-A563-4E2B-919F-450AB28B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CADD1-01BA-4092-8964-7CE61B90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DBCBC-F9CA-40FD-9DF7-3895994B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阶段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025ED-79A3-4E4A-AF8A-3D69FE31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动态错误课程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5B39F-08EB-4546-AD06-032B0531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扩大难度窗口；优先尚未解决且可学习的错误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09974-2E38-4E92-B057-888A1E12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059DD-52C9-4898-8A2F-9D2A80E1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5DA28-30B3-4A94-8E97-5E0D80D3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阶段 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DC87A-109A-4A05-B32E-7E8E4DA5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随机混合巩固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CFD48-9F6B-41D5-8CA8-AE9CFE2C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最后 10%–20% 恢复近似均匀采样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D76805-B93F-46C6-B045-61BAA0B7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619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priorityᵢ(t) = windowₜ(Dᵢ) · exp(βUᵢ(t) − γNᵢ(t))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19D52-A252-4EF3-AFCB-B89F026A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90950"/>
            <a:ext cx="3238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唯一主变量</a:t>
            </a:r>
          </a:p>
          <a:p xmlns:a="http://schemas.openxmlformats.org/drawingml/2006/main">
            <a:pPr algn="ctr">
              <a:defRPr sz="142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样本顺序与采样概率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6A62A-EEC6-467A-B33D-B6B810BE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0125"/>
            <a:ext cx="9753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错误标签：projection / filter / join / aggregation / DISTINCT / ORDER-LIMIT / literal-type-date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动态量：当前 loss 与 margin、近期学习进展、validation 未解决错误频率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约束：相同 optimizer steps、tokens、样本曝光次数；test 标签不参与 utility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0A983-3B62-49D3-BEB5-07EBD45B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C46965-49C6-4D23-A985-2985B031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628052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31F9A-01A4-4567-85A0-14656F30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实验矩阵：同一数据、同一预算，只比较训练策略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5C9B9-CAAA-4F8F-BC3E-A1E44A4E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评估设计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F866E-DFFB-4AA9-B9ED-703BA3E1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5850A-6A2E-4261-BA1C-1ED3CD5A400D}"/>
              </a:ext>
            </a:extLst>
          </p:cNvPr>
          <p:cNvGraphicFramePr/>
          <p:nvPr/>
        </p:nvGraphicFramePr>
        <p:xfrm>
          <a:off xmlns:a="http://schemas.openxmlformats.org/drawingml/2006/main" x="495300" y="1257300"/>
          <a:ext xmlns:a="http://schemas.openxmlformats.org/drawingml/2006/main" cx="112014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524250"/>
                <a:gridCol w="1476375"/>
                <a:gridCol w="4200525"/>
              </a:tblGrid>
              <a:tr h="631825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调度方式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动态更新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检验的问题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Random Shuffle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全程均匀随机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标准训练基线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Difficulty-only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按 loss / margin / AST 距离由易到难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可选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只看难度是否足够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Static Error-aware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错误类型 + 初始效用固定排序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错误标签本身是否有效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DUCL-style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difficulty + utility + expanding window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效用与窗口带来多少收益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Dynamic Error-aware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周期重评分 + interleaving + anchor replay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本文完整方案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64763-48D9-49AE-9E30-49F88E42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训练效率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ED552-2D5A-4661-AFD7-4CC5541C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97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394"/>
          </a:bodyPr>
          <a:lstStyle xmlns:a="http://schemas.openxmlformats.org/drawingml/2006/main">
            <a:defPPr algn="l">
              <a:defRPr sz="1313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13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steps / GPU-hours 到目标分数 · learning-curve AUC · 每千步增益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36079-255D-4279-8C4B-71FFDA72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9115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31895-81B8-44E3-ADD6-5977AFBB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197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603"/>
          </a:bodyPr>
          <a:lstStyle xmlns:a="http://schemas.openxmlformats.org/drawingml/2006/main">
            <a:defPPr algn="l">
              <a:defRPr sz="12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少用 ≥20% 步数达到基线；或同预算最终 EX 稳定提高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D89CB-6F75-4CCD-B19D-983DECAB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652D5-A9D8-4434-B654-8FD2C372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439510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29296-449D-4C39-9F09-682EA975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研究问题与预期贡献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FE7C6-BB8B-4FB0-8BE1-690163FB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下一阶段结论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C2590-75B7-4005-8F1B-27D7047D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DE81B-6D85-42AB-BA34-0FA6D9C7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0C500-CD72-43C1-B66C-A2FC73B9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811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RQ1 · 更快吗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3E387-F64F-4F36-A607-7575A1C0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4305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相同数据下，错误感知课程能否更早达到随机训练的最终分数？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DA498-1D04-4D7D-8C01-5B913703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0349F-B149-49DF-9190-A3D3D34A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RQ2 · 为何有效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51B07-0EFB-4256-97C4-B07B2D59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utility 是否比 difficulty 更能区分可学习 hard case 与噪声？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585BB-D9F1-4277-9770-A14B440F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1675B-9588-409D-801B-BCA8F639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RQ3 · 更稳吗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B2786-2D6B-4884-B429-D0A85DE3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动态重评分、窗口与 anchor replay 能否减少回归和遗忘？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2950E-2496-494C-BF2A-AE9804AE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328C9-E034-42A5-BE32-162E61EC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贡献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8E0A8-7195-45C5-A450-63750A95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错误类型体系 + 动态调度器 + 固定数据/预算的可复现实验协议。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2DB47-9BCC-4F02-BED0-3025591B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71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执行顺序：冻结 split 与预算 → 跑基线曲线 → 标注错误类型 → 比较课程与消融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CD002-FBBD-4A36-A28E-1CDA74BC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721EF-C116-44C2-BAA9-F4AC4839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477798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2026-10-13T05:06:05.9900000Z</dcterms:created>
  <dcterms:modified xsi:type="dcterms:W3CDTF">2026-10-13T05:06:05.9900000Z</dcterms:modified>
</coreProperties>
</file>